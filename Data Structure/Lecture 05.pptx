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DC72F-581E-4F4A-9010-D01891AB7FC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8A3EB-13A6-4A6C-B559-6129DD955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3786-4DEC-4B83-B748-92ECD0CC9F44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D732-2237-4470-813A-BAF5B8FCCBA1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CE2-80DA-4A85-A992-62CC1AA7DAB6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D955-EFC5-4F4B-98BA-DDCBAE9F748C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08DC-B991-45C8-BE8E-03F626AC1B8B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F139-91AF-43E9-842C-050822666E1A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7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081F-C614-41E1-A2C0-4BADDE99BE3E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366D91-BCDA-4E5D-840E-36A2AEB3580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8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72-508B-4316-96A0-44422A762A5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2452-F982-435A-B65E-9011E64493A8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4ADF-2AD0-45DC-B864-3957ED39BB00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614BB1-5CBA-4BE0-8711-AACF380417F5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3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05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1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8EBE-269C-7F24-0577-E104B3FD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Recursion and Analysis of Recursive Algorithms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6BEDE-CEF3-D0C2-9F8C-AE1594EA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C5C2D-36A5-6498-456B-77716AD4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D0E8-DA5D-3776-131A-BF05372D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117F-6F10-17F2-F27B-D047AD05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Recursion</a:t>
            </a:r>
            <a:r>
              <a:rPr lang="en-GB" dirty="0"/>
              <a:t> is a powerful programming technique where a function calls itself to solve a problem.</a:t>
            </a:r>
          </a:p>
          <a:p>
            <a:pPr lvl="1"/>
            <a:r>
              <a:rPr lang="en-GB" dirty="0"/>
              <a:t>It's a way of solving a problem by breaking it down into </a:t>
            </a:r>
            <a:r>
              <a:rPr lang="en-GB" b="1" dirty="0"/>
              <a:t>smaller, identical versions of itself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 process continues until it reaches a problem so simple that it can be solved directly.</a:t>
            </a:r>
          </a:p>
          <a:p>
            <a:r>
              <a:rPr lang="en-GB" b="1" dirty="0"/>
              <a:t>Analogy: Russian Nesting Dolls</a:t>
            </a:r>
            <a:endParaRPr lang="en-GB" dirty="0"/>
          </a:p>
          <a:p>
            <a:pPr lvl="1"/>
            <a:r>
              <a:rPr lang="en-GB" dirty="0"/>
              <a:t>Each doll contains a smaller, identical doll inside, until you reach the final, solid doll. The final doll is the </a:t>
            </a:r>
            <a:r>
              <a:rPr lang="en-GB" b="1" dirty="0"/>
              <a:t>base case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B88F3-0EE9-A064-63EC-55A46DE4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3290F-264E-9634-3D6A-61D1481A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2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367A-33E6-2FBA-2964-01A7B449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Two Pillars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39CD-021F-10A5-28AF-B0703119B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 recursive function </a:t>
            </a:r>
            <a:r>
              <a:rPr lang="en-GB" b="1" dirty="0"/>
              <a:t>MUST</a:t>
            </a:r>
            <a:r>
              <a:rPr lang="en-GB" dirty="0"/>
              <a:t> have two parts:</a:t>
            </a:r>
          </a:p>
          <a:p>
            <a:r>
              <a:rPr lang="en-GB" b="1" dirty="0"/>
              <a:t>The Base Case:</a:t>
            </a:r>
            <a:endParaRPr lang="en-GB" dirty="0"/>
          </a:p>
          <a:p>
            <a:pPr lvl="1"/>
            <a:r>
              <a:rPr lang="en-GB" dirty="0"/>
              <a:t>This is the </a:t>
            </a:r>
            <a:r>
              <a:rPr lang="en-GB" b="1" dirty="0"/>
              <a:t>stopping condition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It's a simple version of the problem that the function can solve directly, without making another recursive call.</a:t>
            </a:r>
          </a:p>
          <a:p>
            <a:pPr lvl="1"/>
            <a:r>
              <a:rPr lang="en-GB" b="1" dirty="0"/>
              <a:t>Without a base case, you get infinite recursion (and a stack overflow error!).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C36C0-F3C8-4600-156E-0B905EEB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2E685-ADF2-DDEF-8B6D-E31578D9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4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899C-6E71-D843-BD76-FE33BD5E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83B8-043C-9375-575F-46982E22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Two Pillars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005CC-D829-AE04-8061-D4C2A436F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Every recursive function </a:t>
            </a:r>
            <a:r>
              <a:rPr lang="en-GB" b="1" dirty="0"/>
              <a:t>MUST</a:t>
            </a:r>
            <a:r>
              <a:rPr lang="en-GB" dirty="0"/>
              <a:t> have two parts:</a:t>
            </a:r>
          </a:p>
          <a:p>
            <a:r>
              <a:rPr lang="en-GB" b="1" dirty="0"/>
              <a:t>The Recursive Step (or Recursive Case):</a:t>
            </a:r>
            <a:endParaRPr lang="en-GB" dirty="0"/>
          </a:p>
          <a:p>
            <a:pPr lvl="1"/>
            <a:r>
              <a:rPr lang="en-GB" dirty="0"/>
              <a:t>This is where the function </a:t>
            </a:r>
            <a:r>
              <a:rPr lang="en-GB" b="1" dirty="0"/>
              <a:t>calls itself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It must move the problem state </a:t>
            </a:r>
            <a:r>
              <a:rPr lang="en-GB" b="1" dirty="0"/>
              <a:t>closer</a:t>
            </a:r>
            <a:r>
              <a:rPr lang="en-GB" dirty="0"/>
              <a:t> to the base case with each call.</a:t>
            </a:r>
          </a:p>
          <a:p>
            <a:r>
              <a:rPr lang="en-GB" dirty="0" err="1"/>
              <a:t>recursiveFunction</a:t>
            </a:r>
            <a:r>
              <a:rPr lang="en-GB" dirty="0"/>
              <a:t>(problem) {</a:t>
            </a:r>
          </a:p>
          <a:p>
            <a:r>
              <a:rPr lang="en-GB" dirty="0"/>
              <a:t>    if (problem is simple enough) {  // Base Case</a:t>
            </a:r>
          </a:p>
          <a:p>
            <a:r>
              <a:rPr lang="en-GB" dirty="0"/>
              <a:t>        return solution;</a:t>
            </a:r>
          </a:p>
          <a:p>
            <a:r>
              <a:rPr lang="en-GB" dirty="0"/>
              <a:t>    } else {                         // Recursive Step</a:t>
            </a:r>
          </a:p>
          <a:p>
            <a:r>
              <a:rPr lang="en-GB" dirty="0"/>
              <a:t>        break problem into </a:t>
            </a:r>
            <a:r>
              <a:rPr lang="en-GB" dirty="0" err="1"/>
              <a:t>smaller_problem</a:t>
            </a:r>
            <a:r>
              <a:rPr lang="en-GB" dirty="0"/>
              <a:t>;</a:t>
            </a:r>
          </a:p>
          <a:p>
            <a:r>
              <a:rPr lang="en-GB" dirty="0"/>
              <a:t>        return </a:t>
            </a:r>
            <a:r>
              <a:rPr lang="en-GB" dirty="0" err="1"/>
              <a:t>recursiveFunction</a:t>
            </a:r>
            <a:r>
              <a:rPr lang="en-GB" dirty="0"/>
              <a:t>(</a:t>
            </a:r>
            <a:r>
              <a:rPr lang="en-GB" dirty="0" err="1"/>
              <a:t>smaller_problem</a:t>
            </a:r>
            <a:r>
              <a:rPr lang="en-GB" dirty="0"/>
              <a:t>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45B82-5070-F727-8C95-13788FF0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087DD-4604-07C3-F829-F8DEE4AD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3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7EF2-9704-45FF-5130-9591B7E6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a Computer Keep Track?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81FC-6F39-2204-F48B-4BFE87CEE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a function is called, a </a:t>
            </a:r>
            <a:r>
              <a:rPr lang="en-GB" b="1" dirty="0"/>
              <a:t>stack frame</a:t>
            </a:r>
            <a:r>
              <a:rPr lang="en-GB" dirty="0"/>
              <a:t> is pushed onto the </a:t>
            </a:r>
            <a:r>
              <a:rPr lang="en-GB" b="1" dirty="0"/>
              <a:t>call stack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This frame contains the function's parameters, local variables, and the return address.</a:t>
            </a:r>
          </a:p>
          <a:p>
            <a:pPr lvl="1"/>
            <a:r>
              <a:rPr lang="en-GB" dirty="0"/>
              <a:t>When a function A calls B, a new frame for B is pushed on top of A's frame.</a:t>
            </a:r>
          </a:p>
          <a:p>
            <a:pPr lvl="1"/>
            <a:r>
              <a:rPr lang="en-GB" dirty="0"/>
              <a:t>When a function returns, its frame is popped off the stack.</a:t>
            </a:r>
          </a:p>
          <a:p>
            <a:r>
              <a:rPr lang="en-GB" dirty="0"/>
              <a:t>Recursion works by creating a chain of stack frames. The base case stops the chain, and the solution is passed back down as each frame is popped.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4CFC8-86D1-2530-727A-230107D9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70289-C170-66B9-5185-411D10A4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3E35-9473-C3A4-84B6-D66EF541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5B4D0-61BA-CFAC-0997-47CD741467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Let's calculate n! (n factorial).</a:t>
            </a:r>
          </a:p>
          <a:p>
            <a:r>
              <a:rPr lang="pt-BR" b="1" dirty="0"/>
              <a:t>Mathematical Definition:</a:t>
            </a:r>
            <a:r>
              <a:rPr lang="pt-BR" dirty="0"/>
              <a:t> n!=n×(n−1)×(n−2)×⋯×1</a:t>
            </a:r>
          </a:p>
          <a:p>
            <a:r>
              <a:rPr lang="pt-BR" b="1" dirty="0"/>
              <a:t>Recursive Definition:</a:t>
            </a:r>
            <a:endParaRPr lang="pt-BR" dirty="0"/>
          </a:p>
          <a:p>
            <a:pPr lvl="1"/>
            <a:r>
              <a:rPr lang="pt-BR" dirty="0"/>
              <a:t>n!=n×(n−1)! </a:t>
            </a:r>
            <a:r>
              <a:rPr lang="pt-BR" b="1" dirty="0"/>
              <a:t>(Recursive Step)</a:t>
            </a:r>
            <a:endParaRPr lang="pt-BR" dirty="0"/>
          </a:p>
          <a:p>
            <a:pPr lvl="1"/>
            <a:r>
              <a:rPr lang="pt-BR" dirty="0"/>
              <a:t>0!=1 </a:t>
            </a:r>
            <a:r>
              <a:rPr lang="pt-BR" b="1" dirty="0"/>
              <a:t>(Base Case)</a:t>
            </a:r>
            <a:endParaRPr lang="pt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EB50F-054F-1B69-B2FA-339DDEB3E2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int factorial(int n) {</a:t>
            </a:r>
          </a:p>
          <a:p>
            <a:r>
              <a:rPr lang="en-GB" dirty="0"/>
              <a:t>    // Base Case: The simplest problem we know how to solve.</a:t>
            </a:r>
          </a:p>
          <a:p>
            <a:r>
              <a:rPr lang="en-GB" dirty="0"/>
              <a:t>    if (n == 0) {</a:t>
            </a:r>
          </a:p>
          <a:p>
            <a:r>
              <a:rPr lang="en-GB" dirty="0"/>
              <a:t>        return 1;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Recursive Step: Break it down.</a:t>
            </a:r>
          </a:p>
          <a:p>
            <a:r>
              <a:rPr lang="en-GB" dirty="0"/>
              <a:t>    else {</a:t>
            </a:r>
          </a:p>
          <a:p>
            <a:r>
              <a:rPr lang="en-GB" dirty="0"/>
              <a:t>        return n * factorial(n - 1);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E20C8-BAE7-2E15-2CFF-8DA1853B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B6220-2879-5B42-86B5-FFA598B4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8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EEC8-EF55-E0F0-D601-A64B3B2D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Tracing: </a:t>
            </a:r>
            <a:r>
              <a:rPr lang="en-GB" i="1" dirty="0"/>
              <a:t>factorial(3)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DBE71-2026-B13A-C61D-7CB9FEAF8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12700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GB" dirty="0"/>
              <a:t>Let's trace the execution and see the call stack in action.</a:t>
            </a:r>
          </a:p>
          <a:p>
            <a:r>
              <a:rPr lang="en-GB" dirty="0"/>
              <a:t>factorial(3) is called. 3 != 0, so it calls factorial(2).</a:t>
            </a:r>
          </a:p>
          <a:p>
            <a:pPr lvl="1"/>
            <a:r>
              <a:rPr lang="en-GB" dirty="0"/>
              <a:t>Stack: [main, factorial(3)]</a:t>
            </a:r>
          </a:p>
          <a:p>
            <a:r>
              <a:rPr lang="en-GB" dirty="0"/>
              <a:t>factorial(2) is called. 2 != 0, so it calls factorial(1).</a:t>
            </a:r>
          </a:p>
          <a:p>
            <a:pPr lvl="1"/>
            <a:r>
              <a:rPr lang="en-GB" dirty="0"/>
              <a:t>Stack: [main, factorial(3), factorial(2)]</a:t>
            </a:r>
          </a:p>
          <a:p>
            <a:r>
              <a:rPr lang="en-GB" dirty="0"/>
              <a:t>factorial(1) is called. 1 != 0, so it calls factorial(0).</a:t>
            </a:r>
          </a:p>
          <a:p>
            <a:pPr lvl="1"/>
            <a:r>
              <a:rPr lang="en-GB" dirty="0"/>
              <a:t>Stack: [main, factorial(3), factorial(2), factorial(1)]</a:t>
            </a:r>
          </a:p>
          <a:p>
            <a:r>
              <a:rPr lang="en-GB" dirty="0"/>
              <a:t>factorial(0) is called. </a:t>
            </a:r>
            <a:r>
              <a:rPr lang="en-GB" b="1" dirty="0"/>
              <a:t>Base Case reached!</a:t>
            </a:r>
            <a:r>
              <a:rPr lang="en-GB" dirty="0"/>
              <a:t> It returns 1.</a:t>
            </a:r>
          </a:p>
          <a:p>
            <a:pPr lvl="1"/>
            <a:r>
              <a:rPr lang="en-GB" dirty="0"/>
              <a:t>Stack: [main, factorial(3), factorial(2), factorial(1), factorial(0)]</a:t>
            </a:r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18040-2CC0-EEFA-EC80-68BA5937E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 w="12700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GB" dirty="0"/>
              <a:t>factorial(1) gets 1, calculates 1 * 1, returns 1. Frame is popped.</a:t>
            </a:r>
          </a:p>
          <a:p>
            <a:r>
              <a:rPr lang="en-GB" dirty="0"/>
              <a:t>factorial(2) gets 1, calculates 2 * 1, returns 2. Frame is popped.</a:t>
            </a:r>
          </a:p>
          <a:p>
            <a:r>
              <a:rPr lang="en-GB" dirty="0"/>
              <a:t>factorial(3) gets 2, calculates 3 * 2, returns 6. Frame is popped.</a:t>
            </a:r>
          </a:p>
          <a:p>
            <a:r>
              <a:rPr lang="en-GB" dirty="0"/>
              <a:t>The final answer is 6.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946B3-228B-A7F4-F843-D66C8544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49758-347A-8E24-4781-468D344A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5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4093-7F77-72D6-F81A-4AE81698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8B5CC-2B59-4B9B-B0A6-AB225D96B0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Fibonacci sequence is a series where each number is the sum of the two preceding ones. 0, 1, 1, 2, 3, 5, 8, 13, ...</a:t>
            </a:r>
          </a:p>
          <a:p>
            <a:r>
              <a:rPr lang="en-GB" b="1" dirty="0"/>
              <a:t>Recursive Definition:</a:t>
            </a:r>
            <a:endParaRPr lang="en-GB" dirty="0"/>
          </a:p>
          <a:p>
            <a:pPr lvl="1"/>
            <a:r>
              <a:rPr lang="en-GB" dirty="0"/>
              <a:t>fib(n) = fib(n-1) + fib(n-2) </a:t>
            </a:r>
            <a:r>
              <a:rPr lang="en-GB" b="1" dirty="0"/>
              <a:t>(Recursive Step)</a:t>
            </a:r>
            <a:endParaRPr lang="en-GB" dirty="0"/>
          </a:p>
          <a:p>
            <a:pPr lvl="1"/>
            <a:r>
              <a:rPr lang="en-GB" dirty="0"/>
              <a:t>fib(0) = 0, fib(1) = 1 </a:t>
            </a:r>
            <a:r>
              <a:rPr lang="en-GB" b="1" dirty="0"/>
              <a:t>(Base Cases)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DDFB6-C96D-5222-F71B-298AF83BF0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int </a:t>
            </a:r>
            <a:r>
              <a:rPr lang="en-GB" dirty="0" err="1"/>
              <a:t>fibonacci</a:t>
            </a:r>
            <a:r>
              <a:rPr lang="en-GB" dirty="0"/>
              <a:t>(int n) {</a:t>
            </a:r>
          </a:p>
          <a:p>
            <a:r>
              <a:rPr lang="en-GB" dirty="0"/>
              <a:t>    // Base Cases</a:t>
            </a:r>
          </a:p>
          <a:p>
            <a:r>
              <a:rPr lang="en-GB" dirty="0"/>
              <a:t>    if (n &lt;= 1) {</a:t>
            </a:r>
          </a:p>
          <a:p>
            <a:r>
              <a:rPr lang="en-GB" dirty="0"/>
              <a:t>        return n;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Recursive Step</a:t>
            </a:r>
          </a:p>
          <a:p>
            <a:r>
              <a:rPr lang="en-GB" dirty="0"/>
              <a:t>    else {</a:t>
            </a:r>
          </a:p>
          <a:p>
            <a:r>
              <a:rPr lang="en-GB" dirty="0"/>
              <a:t>        return </a:t>
            </a:r>
            <a:r>
              <a:rPr lang="en-GB" dirty="0" err="1"/>
              <a:t>fibonacci</a:t>
            </a:r>
            <a:r>
              <a:rPr lang="en-GB" dirty="0"/>
              <a:t>(n - 1) + </a:t>
            </a:r>
            <a:r>
              <a:rPr lang="en-GB" dirty="0" err="1"/>
              <a:t>fibonacci</a:t>
            </a:r>
            <a:r>
              <a:rPr lang="en-GB" dirty="0"/>
              <a:t>(n - 2);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779CB-3D17-B928-E47D-2B1DE397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CEAD2-6C60-6A81-134F-38C8FB1E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14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C2DB-B8DB-EB13-19D9-0CD28EFF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Visualizing: </a:t>
            </a:r>
            <a:r>
              <a:rPr lang="en-GB" i="1" dirty="0" err="1"/>
              <a:t>fibonacci</a:t>
            </a:r>
            <a:r>
              <a:rPr lang="en-GB" i="1" dirty="0"/>
              <a:t>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2BAA-84A9-2429-3B1B-3C42E8AE4D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kind of recursion, with multiple self-calls, is called </a:t>
            </a:r>
            <a:r>
              <a:rPr lang="en-GB" b="1" dirty="0"/>
              <a:t>Tree Recursion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Notice the problem:</a:t>
            </a:r>
            <a:r>
              <a:rPr lang="en-GB" dirty="0"/>
              <a:t> fib(2) is calculated twice! This is inefficient. We will </a:t>
            </a:r>
            <a:r>
              <a:rPr lang="en-GB" dirty="0" err="1"/>
              <a:t>analyze</a:t>
            </a:r>
            <a:r>
              <a:rPr lang="en-GB" dirty="0"/>
              <a:t> </a:t>
            </a:r>
            <a:r>
              <a:rPr lang="en-GB" i="1" dirty="0"/>
              <a:t>why</a:t>
            </a:r>
            <a:r>
              <a:rPr lang="en-GB" dirty="0"/>
              <a:t> and </a:t>
            </a:r>
            <a:r>
              <a:rPr lang="en-GB" i="1" dirty="0"/>
              <a:t>how much</a:t>
            </a:r>
            <a:r>
              <a:rPr lang="en-GB" dirty="0"/>
              <a:t> later.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D6B72-09CE-18A0-A67B-F7893927DE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   fib4["fib(4)"]</a:t>
            </a:r>
          </a:p>
          <a:p>
            <a:r>
              <a:rPr lang="en-GB" dirty="0"/>
              <a:t>    fib4 --&gt; fib3["fib(3)"]</a:t>
            </a:r>
          </a:p>
          <a:p>
            <a:r>
              <a:rPr lang="en-GB" dirty="0"/>
              <a:t>    fib4 --&gt; fib2_right["fib(2)"]</a:t>
            </a:r>
          </a:p>
          <a:p>
            <a:r>
              <a:rPr lang="en-GB" dirty="0"/>
              <a:t>    fib3 --&gt; fib2_left["fib(2)"]</a:t>
            </a:r>
          </a:p>
          <a:p>
            <a:r>
              <a:rPr lang="en-GB" dirty="0"/>
              <a:t>    fib3 --&gt; fib1_left["fib(1)"]</a:t>
            </a:r>
          </a:p>
          <a:p>
            <a:r>
              <a:rPr lang="en-GB" dirty="0"/>
              <a:t>    fib2_right --&gt; fib1_right["fib(1)"]</a:t>
            </a:r>
          </a:p>
          <a:p>
            <a:r>
              <a:rPr lang="en-GB" dirty="0"/>
              <a:t>    fib2_right --&gt; fib0_right["fib(0)"]</a:t>
            </a:r>
          </a:p>
          <a:p>
            <a:r>
              <a:rPr lang="en-GB" dirty="0"/>
              <a:t>    fib2_left --&gt; fib1_mid["fib(1)"]</a:t>
            </a:r>
          </a:p>
          <a:p>
            <a:r>
              <a:rPr lang="en-GB" dirty="0"/>
              <a:t>    fib2_left --&gt; fib0_left["fib(0)"]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25A2-0298-671D-27EB-B996545C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4AC72-A3BD-FA98-B7A0-2E1A1FEF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7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3C0C0-0EA9-B0F9-840E-4B361C1B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B535-AE15-CEF9-AA9C-50C3F339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Applying recursion to data structures and classic algorithms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5E653-8AAB-0C75-8DA9-8D50AE60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FF724-98D7-8777-011D-7B55A56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1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2F0194-6883-6CFD-39EA-ECE290D9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on Arrays: Binary Search</a:t>
            </a:r>
            <a:endParaRPr lang="en-GB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9BCF2F-D8DC-B7DB-2347-BC3778D7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Binary Search</a:t>
            </a:r>
            <a:r>
              <a:rPr lang="en-GB" dirty="0"/>
              <a:t> is a classic "divide and conquer" algorithm. It's naturally recursive.</a:t>
            </a:r>
          </a:p>
          <a:p>
            <a:r>
              <a:rPr lang="en-GB" b="1" dirty="0"/>
              <a:t>The Idea:</a:t>
            </a:r>
            <a:endParaRPr lang="en-GB" dirty="0"/>
          </a:p>
          <a:p>
            <a:pPr marL="749808" lvl="1" indent="-457200">
              <a:buFont typeface="+mj-lt"/>
              <a:buAutoNum type="arabicPeriod"/>
            </a:pPr>
            <a:r>
              <a:rPr lang="en-GB" dirty="0"/>
              <a:t>Look at the middle element of a </a:t>
            </a:r>
            <a:r>
              <a:rPr lang="en-GB" b="1" dirty="0"/>
              <a:t>sorted</a:t>
            </a:r>
            <a:r>
              <a:rPr lang="en-GB" dirty="0"/>
              <a:t> array.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dirty="0"/>
              <a:t>If it's the target, you're done! (</a:t>
            </a:r>
            <a:r>
              <a:rPr lang="en-GB" b="1" dirty="0"/>
              <a:t>Base Case</a:t>
            </a:r>
            <a:r>
              <a:rPr lang="en-GB" dirty="0"/>
              <a:t>)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dirty="0"/>
              <a:t>If the target is smaller, recursively search the </a:t>
            </a:r>
            <a:r>
              <a:rPr lang="en-GB" b="1" dirty="0"/>
              <a:t>left half</a:t>
            </a:r>
            <a:r>
              <a:rPr lang="en-GB" dirty="0"/>
              <a:t>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GB" dirty="0"/>
              <a:t>If the target is larger, recursively search the </a:t>
            </a:r>
            <a:r>
              <a:rPr lang="en-GB" b="1" dirty="0"/>
              <a:t>right half</a:t>
            </a:r>
            <a:r>
              <a:rPr lang="en-GB" dirty="0"/>
              <a:t>.</a:t>
            </a:r>
          </a:p>
          <a:p>
            <a:r>
              <a:rPr lang="en-GB" dirty="0"/>
              <a:t>The "problem" gets smaller with each call (the size of the array to search is halved).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4D3D2-6DC3-0796-A3B9-9B976303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B34E9-B6E4-5999-C9CB-99F06732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0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29B2-F9FD-79E4-E5D3-E31E0B3B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Search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40FAA-2359-5CFF-CB19-01E3F85A6A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int </a:t>
            </a:r>
            <a:r>
              <a:rPr lang="en-GB" dirty="0" err="1"/>
              <a:t>binarySearch</a:t>
            </a:r>
            <a:r>
              <a:rPr lang="en-GB" dirty="0"/>
              <a:t>(int </a:t>
            </a:r>
            <a:r>
              <a:rPr lang="en-GB" dirty="0" err="1"/>
              <a:t>arr</a:t>
            </a:r>
            <a:r>
              <a:rPr lang="en-GB" dirty="0"/>
              <a:t>[], int left, int right, int target) {</a:t>
            </a:r>
          </a:p>
          <a:p>
            <a:r>
              <a:rPr lang="en-GB" dirty="0"/>
              <a:t>    if (right &gt;= left) {</a:t>
            </a:r>
          </a:p>
          <a:p>
            <a:r>
              <a:rPr lang="en-GB" dirty="0"/>
              <a:t>        int mid = left + (right - left) / 2;</a:t>
            </a:r>
          </a:p>
          <a:p>
            <a:r>
              <a:rPr lang="en-GB" dirty="0"/>
              <a:t>        // Base Case: Element is present at the middle</a:t>
            </a:r>
          </a:p>
          <a:p>
            <a:r>
              <a:rPr lang="en-GB" dirty="0"/>
              <a:t>        if (</a:t>
            </a:r>
            <a:r>
              <a:rPr lang="en-GB" dirty="0" err="1"/>
              <a:t>arr</a:t>
            </a:r>
            <a:r>
              <a:rPr lang="en-GB" dirty="0"/>
              <a:t>[mid] == target) {</a:t>
            </a:r>
          </a:p>
          <a:p>
            <a:r>
              <a:rPr lang="en-GB" dirty="0"/>
              <a:t>            return mid;</a:t>
            </a:r>
          </a:p>
          <a:p>
            <a:r>
              <a:rPr lang="en-GB" dirty="0"/>
              <a:t>    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F2887-5DCA-1C0B-A60B-081A9302AE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 // Recursive Step: Search left subarray</a:t>
            </a:r>
          </a:p>
          <a:p>
            <a:r>
              <a:rPr lang="en-GB" dirty="0"/>
              <a:t>        if (</a:t>
            </a:r>
            <a:r>
              <a:rPr lang="en-GB" dirty="0" err="1"/>
              <a:t>arr</a:t>
            </a:r>
            <a:r>
              <a:rPr lang="en-GB" dirty="0"/>
              <a:t>[mid] &gt; target) {</a:t>
            </a:r>
          </a:p>
          <a:p>
            <a:r>
              <a:rPr lang="en-GB" dirty="0"/>
              <a:t>            return </a:t>
            </a:r>
            <a:r>
              <a:rPr lang="en-GB" dirty="0" err="1"/>
              <a:t>binarySearch</a:t>
            </a:r>
            <a:r>
              <a:rPr lang="en-GB" dirty="0"/>
              <a:t>(</a:t>
            </a:r>
            <a:r>
              <a:rPr lang="en-GB" dirty="0" err="1"/>
              <a:t>arr</a:t>
            </a:r>
            <a:r>
              <a:rPr lang="en-GB" dirty="0"/>
              <a:t>, left, mid - 1, target);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    // Recursive Step: Search right subarray</a:t>
            </a:r>
          </a:p>
          <a:p>
            <a:r>
              <a:rPr lang="en-GB" dirty="0"/>
              <a:t>        return </a:t>
            </a:r>
            <a:r>
              <a:rPr lang="en-GB" dirty="0" err="1"/>
              <a:t>binarySearch</a:t>
            </a:r>
            <a:r>
              <a:rPr lang="en-GB" dirty="0"/>
              <a:t>(</a:t>
            </a:r>
            <a:r>
              <a:rPr lang="en-GB" dirty="0" err="1"/>
              <a:t>arr</a:t>
            </a:r>
            <a:r>
              <a:rPr lang="en-GB" dirty="0"/>
              <a:t>, mid + 1, right, target);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Base Case: Element is not in array</a:t>
            </a:r>
          </a:p>
          <a:p>
            <a:r>
              <a:rPr lang="en-GB" dirty="0"/>
              <a:t>    return -1;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758CA-2B31-6F37-A86C-DC43EE25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BB801-2BA3-7F3F-EA9C-83006D5D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3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A71B-6C68-EB64-5A16-E7700825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on Strings: Palindrome Checker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850518-414C-57BD-E032-94473BF9C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palindrome</a:t>
            </a:r>
            <a:r>
              <a:rPr lang="en-GB" dirty="0"/>
              <a:t> is a word that reads the same forwards and backwards (e.g., "</a:t>
            </a:r>
            <a:r>
              <a:rPr lang="en-GB" dirty="0" err="1"/>
              <a:t>racecar</a:t>
            </a:r>
            <a:r>
              <a:rPr lang="en-GB" dirty="0"/>
              <a:t>").</a:t>
            </a:r>
          </a:p>
          <a:p>
            <a:r>
              <a:rPr lang="en-GB" b="1" dirty="0"/>
              <a:t>Recursive Idea:</a:t>
            </a:r>
            <a:endParaRPr lang="en-GB" dirty="0"/>
          </a:p>
          <a:p>
            <a:r>
              <a:rPr lang="en-GB" dirty="0"/>
              <a:t>A string is a palindrome if:</a:t>
            </a:r>
          </a:p>
          <a:p>
            <a:pPr lvl="1"/>
            <a:r>
              <a:rPr lang="en-GB" dirty="0"/>
              <a:t>Its first and last characters are the same, </a:t>
            </a:r>
            <a:r>
              <a:rPr lang="en-GB" b="1" dirty="0"/>
              <a:t>AND</a:t>
            </a:r>
            <a:endParaRPr lang="en-GB" dirty="0"/>
          </a:p>
          <a:p>
            <a:pPr lvl="1"/>
            <a:r>
              <a:rPr lang="en-GB" dirty="0"/>
              <a:t>The substring between them is also a palindrome.</a:t>
            </a:r>
          </a:p>
          <a:p>
            <a:r>
              <a:rPr lang="en-GB" b="1" dirty="0"/>
              <a:t>Base Case:</a:t>
            </a:r>
            <a:r>
              <a:rPr lang="en-GB" dirty="0"/>
              <a:t> An empty string or a single-character string is always a palindrome.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7A1BB-5610-9E39-5A9C-CFCE685D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1C9DF-BA70-3AF1-8C00-E9D5DE8F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1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139A-BB57-CABD-8F7E-164EC62A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Palindrome Checker 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96B2D-25A8-6195-745A-7F456E4A1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bool </a:t>
            </a:r>
            <a:r>
              <a:rPr lang="en-GB" dirty="0" err="1"/>
              <a:t>isPalindrome</a:t>
            </a:r>
            <a:r>
              <a:rPr lang="en-GB" dirty="0"/>
              <a:t>(string s) {</a:t>
            </a:r>
          </a:p>
          <a:p>
            <a:r>
              <a:rPr lang="en-GB" dirty="0"/>
              <a:t>    // Base Case: Empty or single-character string</a:t>
            </a:r>
          </a:p>
          <a:p>
            <a:r>
              <a:rPr lang="en-GB" dirty="0"/>
              <a:t>    if (</a:t>
            </a:r>
            <a:r>
              <a:rPr lang="en-GB" dirty="0" err="1"/>
              <a:t>s.length</a:t>
            </a:r>
            <a:r>
              <a:rPr lang="en-GB" dirty="0"/>
              <a:t>() &lt;= 1) {</a:t>
            </a:r>
          </a:p>
          <a:p>
            <a:r>
              <a:rPr lang="en-GB" dirty="0"/>
              <a:t>        return true;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Compare first and last characters</a:t>
            </a:r>
          </a:p>
          <a:p>
            <a:r>
              <a:rPr lang="en-GB" dirty="0"/>
              <a:t>    if (s[0] == s[</a:t>
            </a:r>
            <a:r>
              <a:rPr lang="en-GB" dirty="0" err="1"/>
              <a:t>s.length</a:t>
            </a:r>
            <a:r>
              <a:rPr lang="en-GB" dirty="0"/>
              <a:t>() - 1]) {</a:t>
            </a:r>
          </a:p>
          <a:p>
            <a:r>
              <a:rPr lang="en-GB" dirty="0"/>
              <a:t>        // Recursive Step: Check the substring in between</a:t>
            </a:r>
          </a:p>
          <a:p>
            <a:r>
              <a:rPr lang="en-GB" dirty="0"/>
              <a:t>        return </a:t>
            </a:r>
            <a:r>
              <a:rPr lang="en-GB" dirty="0" err="1"/>
              <a:t>isPalindrome</a:t>
            </a:r>
            <a:r>
              <a:rPr lang="en-GB" dirty="0"/>
              <a:t>(</a:t>
            </a:r>
            <a:r>
              <a:rPr lang="en-GB" dirty="0" err="1"/>
              <a:t>s.substr</a:t>
            </a:r>
            <a:r>
              <a:rPr lang="en-GB" dirty="0"/>
              <a:t>(1, </a:t>
            </a:r>
            <a:r>
              <a:rPr lang="en-GB" dirty="0" err="1"/>
              <a:t>s.length</a:t>
            </a:r>
            <a:r>
              <a:rPr lang="en-GB" dirty="0"/>
              <a:t>() - 2));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return false;</a:t>
            </a:r>
          </a:p>
          <a:p>
            <a:r>
              <a:rPr lang="en-GB" dirty="0"/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3B206E-FC98-E3C9-022E-C49EFC152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err="1"/>
              <a:t>isPalindrome</a:t>
            </a:r>
            <a:r>
              <a:rPr lang="en-GB" dirty="0"/>
              <a:t>("</a:t>
            </a:r>
            <a:r>
              <a:rPr lang="en-GB" dirty="0" err="1"/>
              <a:t>racecar</a:t>
            </a:r>
            <a:r>
              <a:rPr lang="en-GB" dirty="0"/>
              <a:t>") </a:t>
            </a:r>
          </a:p>
          <a:p>
            <a:r>
              <a:rPr lang="en-GB" dirty="0"/>
              <a:t>-&gt; r == r? Yes. Check </a:t>
            </a:r>
            <a:r>
              <a:rPr lang="en-GB" dirty="0" err="1"/>
              <a:t>isPalindrome</a:t>
            </a:r>
            <a:r>
              <a:rPr lang="en-GB" dirty="0"/>
              <a:t>("</a:t>
            </a:r>
            <a:r>
              <a:rPr lang="en-GB" dirty="0" err="1"/>
              <a:t>aceca</a:t>
            </a:r>
            <a:r>
              <a:rPr lang="en-GB" dirty="0"/>
              <a:t>") </a:t>
            </a:r>
          </a:p>
          <a:p>
            <a:r>
              <a:rPr lang="en-GB" dirty="0"/>
              <a:t>-&gt; a == a? Yes. Check </a:t>
            </a:r>
            <a:r>
              <a:rPr lang="en-GB" dirty="0" err="1"/>
              <a:t>isPalindrome</a:t>
            </a:r>
            <a:r>
              <a:rPr lang="en-GB" dirty="0"/>
              <a:t>("</a:t>
            </a:r>
            <a:r>
              <a:rPr lang="en-GB" dirty="0" err="1"/>
              <a:t>cec</a:t>
            </a:r>
            <a:r>
              <a:rPr lang="en-GB" dirty="0"/>
              <a:t>") </a:t>
            </a:r>
          </a:p>
          <a:p>
            <a:r>
              <a:rPr lang="en-GB" dirty="0"/>
              <a:t>-&gt; c == c? Yes. Check </a:t>
            </a:r>
            <a:r>
              <a:rPr lang="en-GB" dirty="0" err="1"/>
              <a:t>isPalindrome</a:t>
            </a:r>
            <a:r>
              <a:rPr lang="en-GB" dirty="0"/>
              <a:t>("e") </a:t>
            </a:r>
          </a:p>
          <a:p>
            <a:r>
              <a:rPr lang="en-GB" dirty="0"/>
              <a:t>-&gt; </a:t>
            </a:r>
            <a:r>
              <a:rPr lang="en-GB" b="1" dirty="0"/>
              <a:t>Base Case!</a:t>
            </a:r>
            <a:r>
              <a:rPr lang="en-GB" dirty="0"/>
              <a:t> Returns true. The true value propagates all the way back up.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4F76E-B358-49F1-1093-51AB7E81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4029F-E4B9-B1BB-5B3B-428A5D4F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E315-374D-E195-65F3-47E470DD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Recursion's Natural Habitat: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FD5A-BD52-5F01-37EB-9D7C5EAE5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Trees are inherently recursive data structures. A tree is a root node with children, and each child is the root of its own smaller subtree.</a:t>
            </a:r>
          </a:p>
          <a:p>
            <a:r>
              <a:rPr lang="en-GB" dirty="0"/>
              <a:t>This makes recursion a perfect fit for tree operations!</a:t>
            </a:r>
          </a:p>
          <a:p>
            <a:r>
              <a:rPr lang="en-GB" b="1" dirty="0"/>
              <a:t>Common Recursive Tree Operations:</a:t>
            </a:r>
            <a:endParaRPr lang="en-GB" dirty="0"/>
          </a:p>
          <a:p>
            <a:r>
              <a:rPr lang="en-GB" dirty="0"/>
              <a:t>Traversals (In-order, Pre-order, Post-order)</a:t>
            </a:r>
          </a:p>
          <a:p>
            <a:r>
              <a:rPr lang="en-GB" dirty="0"/>
              <a:t>Searching for a value</a:t>
            </a:r>
          </a:p>
          <a:p>
            <a:r>
              <a:rPr lang="en-GB" dirty="0"/>
              <a:t>Calculating the height/depth of the tree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0D18A-EF78-EBE3-6310-481630C6E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30B9F-A8C8-33C1-50B8-63C20774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88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477C-B573-70E1-EF79-C19F1368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Tree Traversal: In-order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9758-8C39-592A-0E7F-96B8402807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In-order Traversal (Left, Root, Right)</a:t>
            </a:r>
            <a:r>
              <a:rPr lang="en-GB" dirty="0"/>
              <a:t> gives you the nodes in sorted order for a Binary Search Tree (BST).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logic for Pre-order (Root, Left, Right) and Post-order (Left, Right, Root) is just a simple re-ordering of these three steps!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C9BF4-DD5E-D498-6654-D1419F82D8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void </a:t>
            </a:r>
            <a:r>
              <a:rPr lang="en-GB" dirty="0" err="1"/>
              <a:t>inOrderTraversal</a:t>
            </a:r>
            <a:r>
              <a:rPr lang="en-GB" dirty="0"/>
              <a:t>(Node* root) {</a:t>
            </a:r>
          </a:p>
          <a:p>
            <a:r>
              <a:rPr lang="en-GB" dirty="0"/>
              <a:t>    // Base case: If the node is null, do nothing.</a:t>
            </a:r>
          </a:p>
          <a:p>
            <a:r>
              <a:rPr lang="en-GB" dirty="0"/>
              <a:t>    if (root == </a:t>
            </a:r>
            <a:r>
              <a:rPr lang="en-GB" dirty="0" err="1"/>
              <a:t>nullptr</a:t>
            </a:r>
            <a:r>
              <a:rPr lang="en-GB" dirty="0"/>
              <a:t>) {</a:t>
            </a:r>
          </a:p>
          <a:p>
            <a:r>
              <a:rPr lang="en-GB" dirty="0"/>
              <a:t>        return;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1. Traverse the left subtree</a:t>
            </a:r>
          </a:p>
          <a:p>
            <a:r>
              <a:rPr lang="en-GB" dirty="0"/>
              <a:t>    </a:t>
            </a:r>
            <a:r>
              <a:rPr lang="en-GB" dirty="0" err="1"/>
              <a:t>inOrderTraversal</a:t>
            </a:r>
            <a:r>
              <a:rPr lang="en-GB" dirty="0"/>
              <a:t>(root-&gt;left);</a:t>
            </a:r>
          </a:p>
          <a:p>
            <a:r>
              <a:rPr lang="en-GB" dirty="0"/>
              <a:t>    // 2. Visit the root</a:t>
            </a:r>
          </a:p>
          <a:p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root-&gt;data &lt;&lt; " ";</a:t>
            </a:r>
          </a:p>
          <a:p>
            <a:r>
              <a:rPr lang="en-GB" dirty="0"/>
              <a:t>    // 3. Traverse the right subtree</a:t>
            </a:r>
          </a:p>
          <a:p>
            <a:r>
              <a:rPr lang="en-GB" dirty="0"/>
              <a:t>    </a:t>
            </a:r>
            <a:r>
              <a:rPr lang="en-GB" dirty="0" err="1"/>
              <a:t>inOrderTraversal</a:t>
            </a:r>
            <a:r>
              <a:rPr lang="en-GB" dirty="0"/>
              <a:t>(root-&gt;right);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D4170-EF80-4794-0536-DD99FA88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1D58F-2A47-B916-520F-79E09FDB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1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D6DF-D404-5231-F0AE-5C4CE712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Classic Puzzle: The Towers of Hanoi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50D8B6-802A-4383-C961-2C0338752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famous mathematical puzzle that demonstrates the power and elegance of recursion.</a:t>
            </a:r>
          </a:p>
          <a:p>
            <a:r>
              <a:rPr lang="en-GB" b="1" dirty="0"/>
              <a:t>The Goal:</a:t>
            </a:r>
            <a:r>
              <a:rPr lang="en-GB" dirty="0"/>
              <a:t> Move a stack of N disks from a source peg A to a destination peg C, using an auxiliary peg B.</a:t>
            </a:r>
          </a:p>
          <a:p>
            <a:r>
              <a:rPr lang="en-GB" b="1" dirty="0"/>
              <a:t>The Rules:</a:t>
            </a:r>
            <a:endParaRPr lang="en-GB" dirty="0"/>
          </a:p>
          <a:p>
            <a:r>
              <a:rPr lang="en-GB" dirty="0"/>
              <a:t>Move only one disk at a time.</a:t>
            </a:r>
          </a:p>
          <a:p>
            <a:r>
              <a:rPr lang="en-GB" dirty="0"/>
              <a:t>A larger disk can never be placed on top of a smaller disk.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CF4D-9FF2-EED4-734E-07B05668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3A672-4834-8AF7-A584-798B249C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98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BC6C-B03B-4C5D-571A-E216D818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Towers of Hanoi Recursively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347A-CB73-0E85-B061-E3EEC401C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Trying to solve this iteratively is very complex. The recursive solution is beautifully simple.</a:t>
            </a:r>
          </a:p>
          <a:p>
            <a:r>
              <a:rPr lang="en-GB" b="1" dirty="0"/>
              <a:t>To move N disks from A to C:</a:t>
            </a:r>
            <a:endParaRPr lang="en-GB" dirty="0"/>
          </a:p>
          <a:p>
            <a:r>
              <a:rPr lang="en-GB" b="1" dirty="0"/>
              <a:t>Move N-1 disks from A to B</a:t>
            </a:r>
            <a:r>
              <a:rPr lang="en-GB" dirty="0"/>
              <a:t> (using C as auxiliary). </a:t>
            </a:r>
            <a:r>
              <a:rPr lang="en-GB" b="1" dirty="0"/>
              <a:t>(Recursive Step)</a:t>
            </a:r>
            <a:endParaRPr lang="en-GB" dirty="0"/>
          </a:p>
          <a:p>
            <a:r>
              <a:rPr lang="en-GB" b="1" dirty="0"/>
              <a:t>Move the largest disk (disk N) from A to C</a:t>
            </a:r>
            <a:r>
              <a:rPr lang="en-GB" dirty="0"/>
              <a:t>. </a:t>
            </a:r>
            <a:r>
              <a:rPr lang="en-GB" b="1" dirty="0"/>
              <a:t>(Base Action)</a:t>
            </a:r>
            <a:endParaRPr lang="en-GB" dirty="0"/>
          </a:p>
          <a:p>
            <a:r>
              <a:rPr lang="en-GB" b="1" dirty="0"/>
              <a:t>Move the N-1 disks from B to C</a:t>
            </a:r>
            <a:r>
              <a:rPr lang="en-GB" dirty="0"/>
              <a:t> (using A as auxiliary). </a:t>
            </a:r>
            <a:r>
              <a:rPr lang="en-GB" b="1" dirty="0"/>
              <a:t>(Recursive Step)</a:t>
            </a:r>
            <a:endParaRPr lang="en-GB" dirty="0"/>
          </a:p>
          <a:p>
            <a:r>
              <a:rPr lang="en-GB" b="1" dirty="0"/>
              <a:t>Base Case:</a:t>
            </a:r>
            <a:r>
              <a:rPr lang="en-GB" dirty="0"/>
              <a:t> If N=1, just move the single disk from source to destination.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249DC-DFD9-B108-F573-C51CBD68A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6FBC2-7D03-AFD6-BD55-03D7A664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2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3504-9C7B-8C25-76B9-7E7A4681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Towers of Hanoi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91D7-825D-AE2A-6E8F-83A28B2708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void </a:t>
            </a:r>
            <a:r>
              <a:rPr lang="en-GB" dirty="0" err="1"/>
              <a:t>towersOfHanoi</a:t>
            </a:r>
            <a:r>
              <a:rPr lang="en-GB" dirty="0"/>
              <a:t>(int n, char source, char destination, char auxiliary) {</a:t>
            </a:r>
          </a:p>
          <a:p>
            <a:r>
              <a:rPr lang="en-GB" dirty="0"/>
              <a:t>    // Base Case: Only one disk to move</a:t>
            </a:r>
          </a:p>
          <a:p>
            <a:r>
              <a:rPr lang="en-GB" dirty="0"/>
              <a:t>    if (n == 1) {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"Move disk 1 from " &lt;&lt; source &lt;&lt; " to " &lt;&lt; destination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    return;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Recursive Step 1</a:t>
            </a:r>
          </a:p>
          <a:p>
            <a:r>
              <a:rPr lang="en-GB" dirty="0"/>
              <a:t>    </a:t>
            </a:r>
            <a:r>
              <a:rPr lang="en-GB" dirty="0" err="1"/>
              <a:t>towersOfHanoi</a:t>
            </a:r>
            <a:r>
              <a:rPr lang="en-GB" dirty="0"/>
              <a:t>(n - 1, source, auxiliary, destination);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658FB-3A9D-8CFD-B6F7-16B2619A91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 // Move the nth disk</a:t>
            </a:r>
          </a:p>
          <a:p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"Move disk " &lt;&lt; n &lt;&lt; " from " &lt;&lt; source &lt;&lt; " to " &lt;&lt; destination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// Recursive Step 2</a:t>
            </a:r>
          </a:p>
          <a:p>
            <a:r>
              <a:rPr lang="en-GB" dirty="0"/>
              <a:t>    </a:t>
            </a:r>
            <a:r>
              <a:rPr lang="en-GB" dirty="0" err="1"/>
              <a:t>towersOfHanoi</a:t>
            </a:r>
            <a:r>
              <a:rPr lang="en-GB" dirty="0"/>
              <a:t>(n - 1, auxiliary, destination, source);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9C619-1A7A-6B41-0AE4-ACA444CB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E6D4C-391E-60A2-A0C9-25932D90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C629-A895-DC70-5AC1-45F2CCC9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Classic Algorithm: Merge Sort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608D74-7F81-2F49-3159-8D863905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Merge Sort</a:t>
            </a:r>
            <a:r>
              <a:rPr lang="en-GB" dirty="0"/>
              <a:t> is another prime example of a "divide and conquer" algorithm that uses recursion.</a:t>
            </a:r>
          </a:p>
          <a:p>
            <a:r>
              <a:rPr lang="en-GB" b="1" dirty="0"/>
              <a:t>The Idea:</a:t>
            </a:r>
            <a:endParaRPr lang="en-GB" dirty="0"/>
          </a:p>
          <a:p>
            <a:pPr lvl="1"/>
            <a:r>
              <a:rPr lang="en-GB" b="1" dirty="0"/>
              <a:t>Divide:</a:t>
            </a:r>
            <a:r>
              <a:rPr lang="en-GB" dirty="0"/>
              <a:t> Split the array in half.</a:t>
            </a:r>
          </a:p>
          <a:p>
            <a:pPr lvl="1"/>
            <a:r>
              <a:rPr lang="en-GB" b="1" dirty="0"/>
              <a:t>Conquer:</a:t>
            </a:r>
            <a:r>
              <a:rPr lang="en-GB" dirty="0"/>
              <a:t> Recursively sort the left half and the right half.</a:t>
            </a:r>
          </a:p>
          <a:p>
            <a:pPr lvl="1"/>
            <a:r>
              <a:rPr lang="en-GB" b="1" dirty="0"/>
              <a:t>Combine:</a:t>
            </a:r>
            <a:r>
              <a:rPr lang="en-GB" dirty="0"/>
              <a:t> Merge the two sorted halves back into a single sorted array.</a:t>
            </a:r>
          </a:p>
          <a:p>
            <a:r>
              <a:rPr lang="en-GB" b="1" dirty="0"/>
              <a:t>Base Case:</a:t>
            </a:r>
            <a:r>
              <a:rPr lang="en-GB" dirty="0"/>
              <a:t> If the array has 0 or 1 elements, it's already sorted.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CC27B-C74D-569A-5A74-02AC04B1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0B69-1482-7D5A-6BE1-EE8FAFBE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257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380</TotalTime>
  <Words>2107</Words>
  <Application>Microsoft Office PowerPoint</Application>
  <PresentationFormat>Widescreen</PresentationFormat>
  <Paragraphs>244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Retrospect</vt:lpstr>
      <vt:lpstr>Data Structures</vt:lpstr>
      <vt:lpstr>Recursion and Analysis of Recursive Algorithms</vt:lpstr>
      <vt:lpstr>What is Recursion?</vt:lpstr>
      <vt:lpstr>The Two Pillars of Recursion</vt:lpstr>
      <vt:lpstr>The Two Pillars of Recursion</vt:lpstr>
      <vt:lpstr>How Does a Computer Keep Track? The Call Stack</vt:lpstr>
      <vt:lpstr>Example 1: Factorial</vt:lpstr>
      <vt:lpstr>Tracing: factorial(3)</vt:lpstr>
      <vt:lpstr>Example 2: The Fibonacci Sequence</vt:lpstr>
      <vt:lpstr>Visualizing: fibonacci(4)</vt:lpstr>
      <vt:lpstr>Applying recursion to data structures and classic algorithms</vt:lpstr>
      <vt:lpstr>Recursion on Arrays: Binary Search</vt:lpstr>
      <vt:lpstr>Binary Search Code</vt:lpstr>
      <vt:lpstr>Recursion on Strings: Palindrome Checker</vt:lpstr>
      <vt:lpstr>Palindrome Checker Code</vt:lpstr>
      <vt:lpstr>Recursion's Natural Habitat: Trees</vt:lpstr>
      <vt:lpstr>Recursive Tree Traversal: In-order</vt:lpstr>
      <vt:lpstr>A Classic Puzzle: The Towers of Hanoi</vt:lpstr>
      <vt:lpstr>Solving Towers of Hanoi Recursively</vt:lpstr>
      <vt:lpstr>Towers of Hanoi Code</vt:lpstr>
      <vt:lpstr>A Classic Algorithm: Merge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Administrator</dc:creator>
  <cp:lastModifiedBy>Mehran Yousaf</cp:lastModifiedBy>
  <cp:revision>25</cp:revision>
  <dcterms:created xsi:type="dcterms:W3CDTF">2025-09-15T09:02:56Z</dcterms:created>
  <dcterms:modified xsi:type="dcterms:W3CDTF">2025-10-08T18:39:19Z</dcterms:modified>
</cp:coreProperties>
</file>