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5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DC72F-581E-4F4A-9010-D01891AB7FC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8A3EB-13A6-4A6C-B559-6129DD955A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91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53786-4DEC-4B83-B748-92ECD0CC9F44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D732-2237-4470-813A-BAF5B8FCCBA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A6CE2-80DA-4A85-A992-62CC1AA7DAB6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9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D955-EFC5-4F4B-98BA-DDCBAE9F748C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4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08DC-B991-45C8-BE8E-03F626AC1B8B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9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CF139-91AF-43E9-842C-050822666E1A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7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081F-C614-41E1-A2C0-4BADDE99BE3E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957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5366D91-BCDA-4E5D-840E-36A2AEB35808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8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90472-508B-4316-96A0-44422A762A58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41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82452-F982-435A-B65E-9011E64493A8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22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14ADF-2AD0-45DC-B864-3957ED39BB00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2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614BB1-5CBA-4BE0-8711-AACF380417F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CS210 - Data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A4F2B70-5880-4CBE-A91F-8076F4F2F1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33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06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19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18EBE-269C-7F24-0577-E104B3FD8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6000" b="1" dirty="0"/>
              <a:t>Queue Structures:</a:t>
            </a:r>
            <a:r>
              <a:rPr lang="en-GB" sz="6000" dirty="0"/>
              <a:t> An In-Depth Look at Implementations and Variants</a:t>
            </a:r>
            <a:endParaRPr lang="en-GB" sz="60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6BEDE-CEF3-D0C2-9F8C-AE1594EA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C5C2D-36A5-6498-456B-77716AD4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51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B39C-7A39-9612-94EC-81F33FDE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Queue?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64D89-EE58-607F-566D-513EF5994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3AD9E-E0E9-4138-B187-8ADD0781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E12A4E-864D-394D-3BBE-953A6F4296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44625"/>
            <a:ext cx="920251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queue is a linear collection of items.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follows a strict "First-In, First-Out" (FIFO) principle.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item added (enqueued) to the queue will be the first item removed (dequeued).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it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3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74B0-B63C-1B44-504E-36224117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Real-World Analogies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AE69D-5748-1D35-CE26-4D0BB2ACC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do you see queues in real life?</a:t>
            </a:r>
          </a:p>
          <a:p>
            <a:r>
              <a:rPr lang="en-GB" dirty="0"/>
              <a:t>A </a:t>
            </a:r>
            <a:r>
              <a:rPr lang="en-GB" b="1" dirty="0"/>
              <a:t>checkout line</a:t>
            </a:r>
            <a:r>
              <a:rPr lang="en-GB" dirty="0"/>
              <a:t> at a grocery store.</a:t>
            </a:r>
          </a:p>
          <a:p>
            <a:r>
              <a:rPr lang="en-GB" dirty="0"/>
              <a:t>A </a:t>
            </a:r>
            <a:r>
              <a:rPr lang="en-GB" b="1" dirty="0"/>
              <a:t>printer queue</a:t>
            </a:r>
            <a:r>
              <a:rPr lang="en-GB" dirty="0"/>
              <a:t> (documents print in the order they were sent).</a:t>
            </a:r>
          </a:p>
          <a:p>
            <a:r>
              <a:rPr lang="en-GB" dirty="0"/>
              <a:t>Waiting for a </a:t>
            </a:r>
            <a:r>
              <a:rPr lang="en-GB" b="1" dirty="0"/>
              <a:t>rollercoaster</a:t>
            </a:r>
            <a:r>
              <a:rPr lang="en-GB" dirty="0"/>
              <a:t>.</a:t>
            </a:r>
          </a:p>
          <a:p>
            <a:r>
              <a:rPr lang="en-GB" dirty="0"/>
              <a:t>Customer service </a:t>
            </a:r>
            <a:r>
              <a:rPr lang="en-GB" b="1" dirty="0"/>
              <a:t>call </a:t>
            </a:r>
            <a:r>
              <a:rPr lang="en-GB" b="1" dirty="0" err="1"/>
              <a:t>center</a:t>
            </a:r>
            <a:r>
              <a:rPr lang="en-GB" dirty="0"/>
              <a:t> ("Your call will be answered in the order it was received...").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18EFC-2CD5-D6DE-6E50-B3CFCE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DAB7C-DE79-3B86-0EA3-5D6514D7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31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95B8-D2C7-E275-72FF-B6049A322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Queue Abstract Data Type (ADT)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5E3AE-4622-354A-6361-F082AD7AE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ADT defines </a:t>
            </a:r>
            <a:r>
              <a:rPr lang="en-GB" i="1" dirty="0"/>
              <a:t>what</a:t>
            </a:r>
            <a:r>
              <a:rPr lang="en-GB" dirty="0"/>
              <a:t> a data structure does (its operations), not </a:t>
            </a:r>
            <a:r>
              <a:rPr lang="en-GB" i="1" dirty="0"/>
              <a:t>how</a:t>
            </a:r>
            <a:r>
              <a:rPr lang="en-GB" dirty="0"/>
              <a:t> it does it.</a:t>
            </a:r>
          </a:p>
          <a:p>
            <a:r>
              <a:rPr lang="en-GB" b="1" dirty="0"/>
              <a:t>Core Operations:</a:t>
            </a:r>
            <a:endParaRPr lang="en-GB" dirty="0"/>
          </a:p>
          <a:p>
            <a:r>
              <a:rPr lang="en-GB" dirty="0"/>
              <a:t>enqueue(item): Adds an item to the </a:t>
            </a:r>
            <a:r>
              <a:rPr lang="en-GB" b="1" dirty="0"/>
              <a:t>back</a:t>
            </a:r>
            <a:r>
              <a:rPr lang="en-GB" dirty="0"/>
              <a:t> (or </a:t>
            </a:r>
            <a:r>
              <a:rPr lang="en-GB" b="1" dirty="0"/>
              <a:t>rear</a:t>
            </a:r>
            <a:r>
              <a:rPr lang="en-GB" dirty="0"/>
              <a:t>) of the queue.</a:t>
            </a:r>
          </a:p>
          <a:p>
            <a:r>
              <a:rPr lang="en-GB" dirty="0"/>
              <a:t>dequeue(): Removes and returns the item from the </a:t>
            </a:r>
            <a:r>
              <a:rPr lang="en-GB" b="1" dirty="0"/>
              <a:t>front</a:t>
            </a:r>
            <a:r>
              <a:rPr lang="en-GB" dirty="0"/>
              <a:t> of the queue.</a:t>
            </a:r>
          </a:p>
          <a:p>
            <a:r>
              <a:rPr lang="en-GB" b="1" dirty="0"/>
              <a:t>Helper Operations:</a:t>
            </a:r>
            <a:endParaRPr lang="en-GB" dirty="0"/>
          </a:p>
          <a:p>
            <a:r>
              <a:rPr lang="en-GB" dirty="0"/>
              <a:t>front() or peek(): Returns the item at the </a:t>
            </a:r>
            <a:r>
              <a:rPr lang="en-GB" b="1" dirty="0"/>
              <a:t>front</a:t>
            </a:r>
            <a:r>
              <a:rPr lang="en-GB" dirty="0"/>
              <a:t> </a:t>
            </a:r>
            <a:r>
              <a:rPr lang="en-GB" i="1" dirty="0"/>
              <a:t>without</a:t>
            </a:r>
            <a:r>
              <a:rPr lang="en-GB" dirty="0"/>
              <a:t> removing it.</a:t>
            </a:r>
          </a:p>
          <a:p>
            <a:r>
              <a:rPr lang="en-GB" dirty="0" err="1"/>
              <a:t>isEmpty</a:t>
            </a:r>
            <a:r>
              <a:rPr lang="en-GB" dirty="0"/>
              <a:t>(): Returns true if the queue has no items.</a:t>
            </a:r>
          </a:p>
          <a:p>
            <a:r>
              <a:rPr lang="en-GB" dirty="0" err="1"/>
              <a:t>isFull</a:t>
            </a:r>
            <a:r>
              <a:rPr lang="en-GB" dirty="0"/>
              <a:t>(): Returns true if the queue is at its maximum capacity (relevant for array implementations).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02E295-51A4-5648-6103-B44513E55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1C20D-FF86-2D8E-AD56-42CDF9784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6888-50EE-B867-CE43-239EE3C13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the Operations: enqueue()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2EE5-3F0D-9BEB-F394-04DEA679D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Start with an empty queue.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]</a:t>
            </a:r>
          </a:p>
          <a:p>
            <a:r>
              <a:rPr lang="en-GB" dirty="0"/>
              <a:t>enqueue(A)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A ]</a:t>
            </a:r>
          </a:p>
          <a:p>
            <a:r>
              <a:rPr lang="en-GB" dirty="0"/>
              <a:t>enqueue(B)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A | B ]</a:t>
            </a:r>
          </a:p>
          <a:p>
            <a:r>
              <a:rPr lang="en-GB" dirty="0"/>
              <a:t>enqueue(C)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A | B | C ]</a:t>
            </a:r>
          </a:p>
          <a:p>
            <a:r>
              <a:rPr lang="en-GB" dirty="0"/>
              <a:t>Items are always added to the </a:t>
            </a:r>
            <a:r>
              <a:rPr lang="en-GB" b="1" dirty="0"/>
              <a:t>rear</a:t>
            </a:r>
            <a:r>
              <a:rPr lang="en-GB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3E8F0-ABF6-D0B0-F8A8-8EF3810E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89B5D4-2C45-415D-A094-08C21388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5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230B8-651F-C40B-FBA1-9CFE3A4A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the Operations: dequeue()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60444-2213-E988-7EBC-79191F438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Start with our queue: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A | B | C ]</a:t>
            </a:r>
          </a:p>
          <a:p>
            <a:r>
              <a:rPr lang="en-GB" dirty="0"/>
              <a:t>dequeue() -&gt; Returns A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B | C ]</a:t>
            </a:r>
          </a:p>
          <a:p>
            <a:r>
              <a:rPr lang="en-GB" dirty="0"/>
              <a:t>dequeue() -&gt; Returns B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C ]</a:t>
            </a:r>
          </a:p>
          <a:p>
            <a:r>
              <a:rPr lang="en-GB" dirty="0"/>
              <a:t>dequeue() -&gt; Returns C</a:t>
            </a:r>
          </a:p>
          <a:p>
            <a:pPr lvl="1"/>
            <a:r>
              <a:rPr lang="en-GB" dirty="0"/>
              <a:t>Front Rear</a:t>
            </a:r>
          </a:p>
          <a:p>
            <a:pPr lvl="1"/>
            <a:r>
              <a:rPr lang="en-GB" dirty="0"/>
              <a:t>[ ] -&gt; Queue is now empty!</a:t>
            </a:r>
          </a:p>
          <a:p>
            <a:r>
              <a:rPr lang="en-GB" dirty="0"/>
              <a:t>Items are always removed from the </a:t>
            </a:r>
            <a:r>
              <a:rPr lang="en-GB" b="1" dirty="0"/>
              <a:t>front</a:t>
            </a:r>
            <a:r>
              <a:rPr lang="en-GB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840DC-70DB-A704-AE0C-0FBC65A3A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B871A-49AC-3414-3706-BB1F78F2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7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0C0F-A282-17C0-9A4C-BC6F37B25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 a Queue!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E3583-6DCF-9DC2-A192-445122D4F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can we build this ADT? There are two primary ways:</a:t>
            </a:r>
          </a:p>
          <a:p>
            <a:r>
              <a:rPr lang="en-GB" b="1" dirty="0"/>
              <a:t>Using a static Array.</a:t>
            </a:r>
            <a:endParaRPr lang="en-GB" dirty="0"/>
          </a:p>
          <a:p>
            <a:r>
              <a:rPr lang="en-GB" b="1" dirty="0"/>
              <a:t>Using a dynamic Linked List.</a:t>
            </a:r>
            <a:endParaRPr lang="en-GB" dirty="0"/>
          </a:p>
          <a:p>
            <a:r>
              <a:rPr lang="en-GB" dirty="0"/>
              <a:t>Let's start with the array.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20504B-AB78-9145-9695-EA42B019F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E2D3A-A409-25A2-0BD6-B8CA137AB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11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289-309C-64C3-8118-C32B4B5D0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1: The Array (Attempt #1)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3A6AAE-411D-E29A-2713-0404F3BE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05728-9AE7-AA46-85AD-55FF498D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44478FB-764B-9408-E316-83056B2C5F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890791"/>
            <a:ext cx="904961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Let's use a fixed-size array (e.g., MAX_SIZE = 5).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</a:rPr>
              <a:t>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e'll keep track of the rear index (or a count of items). Let's say rear points to the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last item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= -1 (empty)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Array: [ ] [ ] [ ] [ ] [ 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9815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B907-A4FA-A1A9-1AF4-5BB1E3AFD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(Attempt #1): enqueue()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292D0D-928D-A89F-48D5-35FF443D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D160D-8236-F551-32E7-A3928A7D8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7099FF7-F90A-3458-8572-7C5AA6DC28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35497"/>
            <a:ext cx="8804090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enqueue(item):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Increment rear.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item at array[rear].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enqueue(10): rear = 0, array[0] = 10 [ 10 | | | | ] (rear=0)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enqueue(20): rear = 1, array[1] = 20 [ 10 | 20 | | | ] (rear=1)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enqueue(30): rear = 2, array[2] = 30 [ 10 | 20 | 30 | | ] (rear=2)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seems easy! Complexity: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O(1)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Great!</a:t>
            </a:r>
          </a:p>
        </p:txBody>
      </p:sp>
    </p:spTree>
    <p:extLst>
      <p:ext uri="{BB962C8B-B14F-4D97-AF65-F5344CB8AC3E}">
        <p14:creationId xmlns:p14="http://schemas.microsoft.com/office/powerpoint/2010/main" val="1217785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90701-B20C-9EE7-92B0-29295038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(Attempt #1): dequeue()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833557-172A-30D7-0F71-FFFC8E599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9855E-AFA8-419E-92D3-42EF0B5D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2430948-7C07-179E-ED59-8D10C5623B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1872260"/>
            <a:ext cx="869564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Remember: FIFO! We must remove the item at array[0].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dequeue():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Get item from array[0].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Uh oh.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How do we "remove" it?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have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shift every other element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one position to the left.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Queue: [ 10 | 20 | 30 | | ] (rear=2)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dequeue():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10.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array[0] = array[1] (move 20)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array[1] = array[2] (move 30)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Decrement rear to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 [ 20 | 30 | | | ] (rear=1)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359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8FB2-E3CC-40A6-3FC8-50A0962FC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 with Attempt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506B8-3F4F-7578-0524-A3BBA9924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enqueue(item) was </a:t>
            </a:r>
            <a:r>
              <a:rPr lang="en-GB" b="1" dirty="0"/>
              <a:t>O(1)</a:t>
            </a:r>
            <a:r>
              <a:rPr lang="en-GB" dirty="0"/>
              <a:t> (fast).</a:t>
            </a:r>
          </a:p>
          <a:p>
            <a:r>
              <a:rPr lang="en-GB" dirty="0"/>
              <a:t>dequeue() was </a:t>
            </a:r>
            <a:r>
              <a:rPr lang="en-GB" b="1" dirty="0"/>
              <a:t>O(n)</a:t>
            </a:r>
            <a:r>
              <a:rPr lang="en-GB" dirty="0"/>
              <a:t> (slow!), where n is the number of items in the queue.</a:t>
            </a:r>
          </a:p>
          <a:p>
            <a:pPr lvl="1"/>
            <a:r>
              <a:rPr lang="en-GB" dirty="0"/>
              <a:t>We have to shift n-1 items every single time we dequeue.</a:t>
            </a:r>
          </a:p>
          <a:p>
            <a:r>
              <a:rPr lang="en-GB" dirty="0"/>
              <a:t>This is very </a:t>
            </a:r>
            <a:r>
              <a:rPr lang="en-GB" b="1" dirty="0"/>
              <a:t>inefficient</a:t>
            </a:r>
            <a:r>
              <a:rPr lang="en-GB" dirty="0"/>
              <a:t>. Imagine a queue with 1 million items!</a:t>
            </a:r>
          </a:p>
          <a:p>
            <a:r>
              <a:rPr lang="en-GB" b="1" dirty="0"/>
              <a:t>We can do better.</a:t>
            </a:r>
            <a:endParaRPr lang="en-GB" dirty="0"/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A3C08-BFF1-ED76-F1FC-BD94BC22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E65F9-F329-26F2-53FD-9464C14A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49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F089-4EBD-1700-7F8B-C1867B60E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Implementation 1: The Array (Attempt #2)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D1E8A-7C1C-355D-8BAD-C0AB7D9F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EAA0F-3E2F-B921-FE98-695C550C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B065CBA-ADED-26DA-B7DB-C7A6BAF0D8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087701"/>
            <a:ext cx="1005840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New Idea: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Don't shift! Let's just keep track of the front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rear.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need two integer variables: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front: The index of the first item.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rear: The index of the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 available slot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(or the last item, a design choice). Let's say it's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last item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Initially: front = -1, rear = -1 (or front = 0, rear = -1). Let's use front=0, rear=-1 for simplicity, and count=0.</a:t>
            </a:r>
          </a:p>
        </p:txBody>
      </p:sp>
    </p:spTree>
    <p:extLst>
      <p:ext uri="{BB962C8B-B14F-4D97-AF65-F5344CB8AC3E}">
        <p14:creationId xmlns:p14="http://schemas.microsoft.com/office/powerpoint/2010/main" val="3720978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E104C-B9FE-2FFC-8C4F-D3CD3F5AC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(Attempt #2): </a:t>
            </a:r>
            <a:r>
              <a:rPr lang="en-GB" dirty="0" err="1"/>
              <a:t>isEmpty</a:t>
            </a:r>
            <a:r>
              <a:rPr lang="en-GB" dirty="0"/>
              <a:t>() / </a:t>
            </a:r>
            <a:r>
              <a:rPr lang="en-GB" dirty="0" err="1"/>
              <a:t>isFull</a:t>
            </a:r>
            <a:r>
              <a:rPr lang="en-GB" dirty="0"/>
              <a:t>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B7D89-F72B-F145-FFDA-594E7F5F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A3955A-A154-B4ED-73A9-EBDA7084B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E143CAB-C9C8-14AE-7C22-0671B69B9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734029"/>
            <a:ext cx="100584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Let's use front, rear, and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MAX_SIZE =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= -1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return count ==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isFull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return count == MAX_SIZE</a:t>
            </a:r>
          </a:p>
        </p:txBody>
      </p:sp>
    </p:spTree>
    <p:extLst>
      <p:ext uri="{BB962C8B-B14F-4D97-AF65-F5344CB8AC3E}">
        <p14:creationId xmlns:p14="http://schemas.microsoft.com/office/powerpoint/2010/main" val="92385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FB86-F210-36E6-668F-79201ABB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(Attempt #2): enqueue()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E2FCA-4B38-B736-CE09-A8394E420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10233-D98C-5EDD-742F-69728ECA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9CC88B7-4621-D585-3171-C0F429C8F7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10810"/>
            <a:ext cx="100584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enqueue(item)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isFull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If true, throw error.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array[rear] = item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 | | | | 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f=0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r=-1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enqueue(10)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array[0]=10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[ 10 | | | | 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f=0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enqueue(20)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array[1]=20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[ 10 | 20 | | | 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f=0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enqueue(30)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array[2]=30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[ 10 | 20 | 30 | | ]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f=0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Still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O(1)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Good!</a:t>
            </a:r>
          </a:p>
        </p:txBody>
      </p:sp>
    </p:spTree>
    <p:extLst>
      <p:ext uri="{BB962C8B-B14F-4D97-AF65-F5344CB8AC3E}">
        <p14:creationId xmlns:p14="http://schemas.microsoft.com/office/powerpoint/2010/main" val="3921313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2645-6698-6B28-29CC-FF4CB2739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(Attempt #2): dequeue()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8D5E2-B58E-2DEE-FE53-7D4AD97F7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44987-E606-C808-947A-74375AFC8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C12E6CC-753F-88CA-617E-783749F0CE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2010754"/>
            <a:ext cx="100584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dequeue()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isEmpty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If true, throw error.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item from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array[front]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 increment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front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!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shifting!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Decrement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[ 10 | 20 | 30 | | 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f=0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c=3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dequeue()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array[0]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1.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4008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becomes 2.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[ 10 | 20 | 30 | | 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f=1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r=2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c=2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(Note: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still there, but we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conceptually ignore it. It's "garbage".)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now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O(1)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 We solved it! ...or did we?</a:t>
            </a:r>
          </a:p>
        </p:txBody>
      </p:sp>
    </p:spTree>
    <p:extLst>
      <p:ext uri="{BB962C8B-B14F-4D97-AF65-F5344CB8AC3E}">
        <p14:creationId xmlns:p14="http://schemas.microsoft.com/office/powerpoint/2010/main" val="336330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0871-BA7C-CFCC-3598-D55DD60CF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i="1" dirty="0"/>
              <a:t>New</a:t>
            </a:r>
            <a:r>
              <a:rPr lang="en-GB" dirty="0"/>
              <a:t> Problem: "Drifting"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793D-5A3E-5B27-0BEC-5B5145739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Let's trace:</a:t>
            </a:r>
          </a:p>
          <a:p>
            <a:r>
              <a:rPr lang="en-GB" dirty="0"/>
              <a:t>Queue: [ 10 | 20 | 30 | | ] (f=0, r=2, c=3)</a:t>
            </a:r>
          </a:p>
          <a:p>
            <a:r>
              <a:rPr lang="en-GB" dirty="0"/>
              <a:t>dequeue(): [ 10 | 20 | 30 | | ] (f=1, r=2, c=2)</a:t>
            </a:r>
          </a:p>
          <a:p>
            <a:r>
              <a:rPr lang="en-GB" dirty="0"/>
              <a:t>dequeue(): [ 10 | 20 | 30 | | ] (f=2, r=2, c=1)</a:t>
            </a:r>
          </a:p>
          <a:p>
            <a:r>
              <a:rPr lang="en-GB" dirty="0"/>
              <a:t>enqueue(40): r=3, array[3]=40, c=2 [ 10 | 20 | 30 | 40 | ] (f=2, r=3, c=2)</a:t>
            </a:r>
          </a:p>
          <a:p>
            <a:r>
              <a:rPr lang="en-GB" dirty="0"/>
              <a:t>enqueue(50): r=4, array[4]=50, c=3 [ 10 | 20 | 30 | 40 | 50 ] (f=2, r=4, c=3)</a:t>
            </a:r>
          </a:p>
          <a:p>
            <a:r>
              <a:rPr lang="en-GB" dirty="0" err="1"/>
              <a:t>isFull</a:t>
            </a:r>
            <a:r>
              <a:rPr lang="en-GB" dirty="0"/>
              <a:t>()? count == 3, not 5. So, false.</a:t>
            </a:r>
          </a:p>
          <a:p>
            <a:r>
              <a:rPr lang="en-GB" dirty="0"/>
              <a:t>enqueue(60):</a:t>
            </a:r>
          </a:p>
          <a:p>
            <a:pPr lvl="1"/>
            <a:r>
              <a:rPr lang="en-GB" dirty="0"/>
              <a:t>Increment rear... rear becomes 5.</a:t>
            </a:r>
          </a:p>
          <a:p>
            <a:pPr lvl="1"/>
            <a:r>
              <a:rPr lang="en-GB" dirty="0"/>
              <a:t>array[5] = 60 -&gt; </a:t>
            </a:r>
            <a:r>
              <a:rPr lang="en-GB" b="1" dirty="0"/>
              <a:t>ARRAY INDEX OUT OF BOUNDS!</a:t>
            </a:r>
            <a:endParaRPr lang="en-GB" dirty="0"/>
          </a:p>
          <a:p>
            <a:r>
              <a:rPr lang="en-GB" dirty="0"/>
              <a:t>Our queue "drifts" to the end of the array, leaving wasted, unusable space at the beginning.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6F2128-56FC-1ECA-5684-3943C203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92030F-2C62-8DCB-FD07-844853CBE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412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337C-F097-82BC-3734-AE5657B01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67E9A-CB12-F630-8F2F-CF9D40E7E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30687-528C-F9D3-9E69-129F11EBE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18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04DED09-84A8-0883-D365-66DD627CA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195694"/>
            <a:ext cx="100584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have an O(1)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O(1)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our array implementation quickly runs out of space,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if the queue isn't full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How can we "re-use" the empty slots at the beginning of the array?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if, when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gets to the end, it could "wrap around" to the beginning?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179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DDDE-AFA5-6AE8-FC64-9C5552CB9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D9178-A8CA-1A6B-AD0D-118854344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0C1C71-C521-BB96-B7B2-93051861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19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0696A09-7682-9825-FC64-32823FF74C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3041806"/>
            <a:ext cx="100584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built an array-based queue.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pointers gave us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O(1)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it had a fatal flaw: the queue "drifts" and we run out of bounds, wasting space at the front.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Circular Queue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 Circular Buffer).</a:t>
            </a:r>
          </a:p>
        </p:txBody>
      </p:sp>
    </p:spTree>
    <p:extLst>
      <p:ext uri="{BB962C8B-B14F-4D97-AF65-F5344CB8AC3E}">
        <p14:creationId xmlns:p14="http://schemas.microsoft.com/office/powerpoint/2010/main" val="1284979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17F27-0AD0-D889-9F86-E3420A6D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Circular Queue: The Concept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D930F-1307-0EDF-7FB9-02CB05679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7C547-29CE-49CD-D027-DBD8036C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B68FB0B-7173-A664-4C01-CB72FD9B6C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349582"/>
            <a:ext cx="981409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Idea: Treat the array as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circle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pointer reaches the end of the array, it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wraps around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index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way, we can use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slots in the array, no matter where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125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FBBA6-04AE-BD16-D07E-F4B0F489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Magic: The Modulo Operator (%)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E8D29-A5A9-951D-A936-B6C9BE785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849C0-2169-043D-2A8F-225AE974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4867899-36FE-81A9-BB1D-E6D7F236B0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764534"/>
            <a:ext cx="10058400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remainder of a division.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MAX_SIZE = 5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0 % 5 = 0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1 % 5 = 1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2 % 5 = 2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3 % 5 = 3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4 % 5 = 4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5 % 5 = 0 &lt;-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WRAPPED AROUND!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6 % 5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Instead of rear = rear + 1, we use: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= (rear + 1) % MAX_SIZE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Instead of front = front + 1, we use: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= (front + 1) % MAX_SIZE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837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2E7C-2031-7832-B51C-0B85E5E7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Circular Queue: enqueue()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94F15-CCBE-C7C4-05A9-8C7E33566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182E27-5EB8-7839-3342-DDBA762C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22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F7CD05-AE71-8A2B-AD98-917FCC0A08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2333920"/>
            <a:ext cx="1005839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Let's define rear as 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 available slot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is 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first item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enqueue(item):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isFull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 (We'll get to this!)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array[rear] = item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= (rear + 1) % MAX_SIZE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Increment count.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8437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D917-BCCA-F83C-4094-AC3BA3A8E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Circular Queue: dequeue()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6E839-2EF5-D95B-6BDC-97698DF2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CE6DC-D94D-E92A-D96B-F376DE50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DFAED9F-69E1-4B2C-DF62-E067BD4F8D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26254"/>
            <a:ext cx="10058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dequeue()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isEmpty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 item from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array[front]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front = (front + 1) % MAX_SIZE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Decrement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is perfect! All operations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O(1)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we re-use all the space.</a:t>
            </a:r>
          </a:p>
        </p:txBody>
      </p:sp>
    </p:spTree>
    <p:extLst>
      <p:ext uri="{BB962C8B-B14F-4D97-AF65-F5344CB8AC3E}">
        <p14:creationId xmlns:p14="http://schemas.microsoft.com/office/powerpoint/2010/main" val="29181795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6DFA-DB77-99BE-AC06-CEA25561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Circular Queue: Visual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D934D-EC43-2959-452B-7A16A154B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MAX_SIZE = 5. f=0, r=0, c=0 [ | | | | ]</a:t>
            </a:r>
          </a:p>
          <a:p>
            <a:r>
              <a:rPr lang="en-GB" dirty="0"/>
              <a:t>enqueue(10): array[0]=10, r=1, c=1 [ 10 | | | | ] (f=0, r=1)</a:t>
            </a:r>
          </a:p>
          <a:p>
            <a:r>
              <a:rPr lang="en-GB" dirty="0"/>
              <a:t>enqueue(20): array[1]=20, r=2, c=2 [ 10 | 20 | | | ] (f=0, r=2)</a:t>
            </a:r>
          </a:p>
          <a:p>
            <a:r>
              <a:rPr lang="en-GB" dirty="0"/>
              <a:t>dequeue(): save array[0], f=1, c=1 [ 10 | 20 | | | ] (f=1, r=2) (Queue conceptually has just 20)</a:t>
            </a:r>
          </a:p>
          <a:p>
            <a:r>
              <a:rPr lang="en-GB" dirty="0"/>
              <a:t>enqueue(30): array[2]=30, r=3, c=2 [ 10 | 20 | 30 | | ] (f=1, r=3)</a:t>
            </a:r>
          </a:p>
          <a:p>
            <a:r>
              <a:rPr lang="en-GB" dirty="0"/>
              <a:t>enqueue(40): array[3]=40, r=4, c=3 [ 10 | 20 | 30 | 40 | ] (f=1, r=4)</a:t>
            </a:r>
          </a:p>
          <a:p>
            <a:r>
              <a:rPr lang="en-GB" dirty="0"/>
              <a:t>enqueue(50): array[4]=50, r=0 (</a:t>
            </a:r>
            <a:r>
              <a:rPr lang="en-GB" b="1" dirty="0"/>
              <a:t>WRAP!</a:t>
            </a:r>
            <a:r>
              <a:rPr lang="en-GB" dirty="0"/>
              <a:t>), c=4 [ 10 | 20 | 30 | 40 | 50 ] (f=1, r=0)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57BC3-4DC1-78BB-9434-0535C9E6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E0CF5-D16F-1EB0-9448-BD3FD978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7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FAE85-C007-8F9F-C2ED-E2853EAF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i="1" dirty="0"/>
              <a:t>Final</a:t>
            </a:r>
            <a:r>
              <a:rPr lang="en-GB" dirty="0"/>
              <a:t> Problem: </a:t>
            </a:r>
            <a:r>
              <a:rPr lang="en-GB" dirty="0" err="1"/>
              <a:t>isEmpty</a:t>
            </a:r>
            <a:r>
              <a:rPr lang="en-GB" dirty="0"/>
              <a:t>() vs. </a:t>
            </a:r>
            <a:r>
              <a:rPr lang="en-GB" dirty="0" err="1"/>
              <a:t>isFull</a:t>
            </a:r>
            <a:r>
              <a:rPr lang="en-GB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1A5B-D4BE-D876-07FC-C7921AF59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Look at this state: [ | | | | ]</a:t>
            </a:r>
          </a:p>
          <a:p>
            <a:pPr lvl="1"/>
            <a:r>
              <a:rPr lang="en-GB" dirty="0"/>
              <a:t>front = 0, rear = 0</a:t>
            </a:r>
          </a:p>
          <a:p>
            <a:pPr lvl="1"/>
            <a:r>
              <a:rPr lang="en-GB" dirty="0"/>
              <a:t>Is this </a:t>
            </a:r>
            <a:r>
              <a:rPr lang="en-GB" b="1" dirty="0"/>
              <a:t>empty</a:t>
            </a:r>
            <a:r>
              <a:rPr lang="en-GB" dirty="0"/>
              <a:t>? (Just started)</a:t>
            </a:r>
          </a:p>
          <a:p>
            <a:r>
              <a:rPr lang="en-GB" dirty="0"/>
              <a:t>Now look at this state after 5 enqueues: [ 10 | 20 | 30 | 40 | 50 ]</a:t>
            </a:r>
          </a:p>
          <a:p>
            <a:pPr lvl="1"/>
            <a:r>
              <a:rPr lang="en-GB" dirty="0"/>
              <a:t>enqueue(50): array[4]=50, rear = (4+1)%5 = 0.</a:t>
            </a:r>
          </a:p>
          <a:p>
            <a:pPr lvl="1"/>
            <a:r>
              <a:rPr lang="en-GB" dirty="0"/>
              <a:t>front = 0, rear = 0</a:t>
            </a:r>
          </a:p>
          <a:p>
            <a:pPr lvl="1"/>
            <a:r>
              <a:rPr lang="en-GB" dirty="0"/>
              <a:t>Is this </a:t>
            </a:r>
            <a:r>
              <a:rPr lang="en-GB" b="1" dirty="0"/>
              <a:t>full</a:t>
            </a:r>
            <a:r>
              <a:rPr lang="en-GB" dirty="0"/>
              <a:t>?</a:t>
            </a:r>
          </a:p>
          <a:p>
            <a:pPr lvl="1"/>
            <a:r>
              <a:rPr lang="en-GB" b="1" dirty="0"/>
              <a:t>Problem:</a:t>
            </a:r>
            <a:r>
              <a:rPr lang="en-GB" dirty="0"/>
              <a:t> The condition front == rear can mean </a:t>
            </a:r>
            <a:r>
              <a:rPr lang="en-GB" b="1" dirty="0"/>
              <a:t>both</a:t>
            </a:r>
            <a:r>
              <a:rPr lang="en-GB" dirty="0"/>
              <a:t> empty </a:t>
            </a:r>
            <a:r>
              <a:rPr lang="en-GB" i="1" dirty="0"/>
              <a:t>and</a:t>
            </a:r>
            <a:r>
              <a:rPr lang="en-GB" dirty="0"/>
              <a:t> full!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AF2641-239A-44AD-4506-5FD2CF99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BE30B-84FC-8D81-6ADF-AD253DBB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37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C512B-83A9-E200-D12B-B3DE597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</a:t>
            </a:r>
            <a:r>
              <a:rPr lang="en-GB" dirty="0" err="1"/>
              <a:t>isEmpty</a:t>
            </a:r>
            <a:r>
              <a:rPr lang="en-GB" dirty="0"/>
              <a:t>() vs. </a:t>
            </a:r>
            <a:r>
              <a:rPr lang="en-GB" dirty="0" err="1"/>
              <a:t>isFull</a:t>
            </a:r>
            <a:r>
              <a:rPr lang="en-GB" dirty="0"/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2FAB7-6ABB-6459-8FC6-5DAA2875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Option 1 (Easiest): Use a count variable.</a:t>
            </a:r>
            <a:endParaRPr lang="en-GB" dirty="0"/>
          </a:p>
          <a:p>
            <a:pPr lvl="1"/>
            <a:r>
              <a:rPr lang="en-GB" dirty="0"/>
              <a:t>We've been doing this!</a:t>
            </a:r>
          </a:p>
          <a:p>
            <a:pPr lvl="1"/>
            <a:r>
              <a:rPr lang="en-GB" dirty="0" err="1"/>
              <a:t>isEmpty</a:t>
            </a:r>
            <a:r>
              <a:rPr lang="en-GB" dirty="0"/>
              <a:t>(): return count == 0</a:t>
            </a:r>
          </a:p>
          <a:p>
            <a:pPr lvl="1"/>
            <a:r>
              <a:rPr lang="en-GB" dirty="0" err="1"/>
              <a:t>isFull</a:t>
            </a:r>
            <a:r>
              <a:rPr lang="en-GB" dirty="0"/>
              <a:t>(): return count == MAX_SIZE</a:t>
            </a:r>
          </a:p>
          <a:p>
            <a:pPr lvl="1"/>
            <a:r>
              <a:rPr lang="en-GB" dirty="0"/>
              <a:t>This is simple, robust, and easy to understand.</a:t>
            </a:r>
          </a:p>
          <a:p>
            <a:r>
              <a:rPr lang="en-GB" b="1" dirty="0"/>
              <a:t>Option 2 (No count): Waste one slot.</a:t>
            </a:r>
            <a:endParaRPr lang="en-GB" dirty="0"/>
          </a:p>
          <a:p>
            <a:pPr lvl="1"/>
            <a:r>
              <a:rPr lang="en-GB" dirty="0"/>
              <a:t>Only allow MAX_SIZE - 1 items in the queue.</a:t>
            </a:r>
          </a:p>
          <a:p>
            <a:pPr lvl="1"/>
            <a:r>
              <a:rPr lang="en-GB" dirty="0" err="1"/>
              <a:t>isFull</a:t>
            </a:r>
            <a:r>
              <a:rPr lang="en-GB" dirty="0"/>
              <a:t>(): return (rear + 1) % MAX_SIZE == front</a:t>
            </a:r>
          </a:p>
          <a:p>
            <a:pPr lvl="1"/>
            <a:r>
              <a:rPr lang="en-GB" dirty="0" err="1"/>
              <a:t>isEmpty</a:t>
            </a:r>
            <a:r>
              <a:rPr lang="en-GB" dirty="0"/>
              <a:t>(): return rear == front</a:t>
            </a:r>
          </a:p>
          <a:p>
            <a:pPr lvl="1"/>
            <a:r>
              <a:rPr lang="en-GB" dirty="0"/>
              <a:t>This works, but it's less intuitive and wastes a space.</a:t>
            </a:r>
          </a:p>
          <a:p>
            <a:r>
              <a:rPr lang="en-GB" b="1" dirty="0"/>
              <a:t>Recommendation:</a:t>
            </a:r>
            <a:r>
              <a:rPr lang="en-GB" dirty="0"/>
              <a:t> Stick with Option 1. Use a count variable.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3B18B-ACED-FE6A-BAFA-DE479C7C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2753A-EBCE-6A86-4A2D-0ED81424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486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6BA5-2FAB-1465-F6D0-18CADDCA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Implementation 2: The Linked List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BD382-0E55-0A56-85A3-CB7FB45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7D69F-B4F8-75B8-600E-6879D2F40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B029230-0D69-87B8-5DB1-CE5BD9219F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072585"/>
            <a:ext cx="10058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What's the one remaining problem with our (Circular) Array implementation?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has a fixed size.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if we don't know how many items we need to store?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can use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Linked List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a dynamic, growable queue.</a:t>
            </a:r>
          </a:p>
        </p:txBody>
      </p:sp>
    </p:spTree>
    <p:extLst>
      <p:ext uri="{BB962C8B-B14F-4D97-AF65-F5344CB8AC3E}">
        <p14:creationId xmlns:p14="http://schemas.microsoft.com/office/powerpoint/2010/main" val="3815144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CEE8-BAD9-E8AB-808A-E9914339B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Linked List Implementation: 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B64DB-95E9-A234-EDAF-1D112FB65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BD4FE-9A45-8FEC-4A05-33C10615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28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CFE3284-4B5A-8456-F243-FD3F22DAEA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2272376"/>
            <a:ext cx="1005839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need a Node class (like in a normal Linked List):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 Node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Object data;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 next;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Queue class only needs to store two pointers: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 front (or head)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Node rear (or tail)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maybe a count (optional, but good practice).</a:t>
            </a:r>
          </a:p>
        </p:txBody>
      </p:sp>
    </p:spTree>
    <p:extLst>
      <p:ext uri="{BB962C8B-B14F-4D97-AF65-F5344CB8AC3E}">
        <p14:creationId xmlns:p14="http://schemas.microsoft.com/office/powerpoint/2010/main" val="740114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254D-413B-F02B-6FBC-1F6F781D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Linked List: enqueue()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EE487-40C5-6577-D925-DCFDBC2D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ABC27B-CBB4-9799-ADA6-620C137B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68AED82-4CC8-BB55-D4C0-E0C16DE2B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26253"/>
            <a:ext cx="10058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enqueue(item): Add to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(the tail).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the item.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Else: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rear.next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(Link the old tail to the new node)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(Move the rear pointer to the new node)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always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O(1)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229008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13D85-1153-E2B5-97A3-25C95EF8D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Linked List: dequeue()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F4FEF-B67B-F737-AA84-9FFE9182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2B256F-D897-7029-BB0C-F8939788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035B6E3-F402-CD6D-BAA5-30A146A0B4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810972"/>
            <a:ext cx="9115252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dequeue(): Remove from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(the head).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data from front node.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Move the front pointer: front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front.next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4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Edge Case: If front is now null (we dequeued the last item), we must also set rear to null!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5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 the saved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always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O(1)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35663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735C-28F9-9632-6E77-4FA5D61D7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Let's Do An Example (Linked List)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8F415-65BB-EC0F-E34F-45C2E411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B4C60-DE39-4099-0365-87F9F220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F206A0E-2ED1-F343-C0A6-2D90E37782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10809"/>
            <a:ext cx="100584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Queue(): front=null, rear=null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enqueue(A):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(A).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true.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-&gt; Node(A)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-&gt; Node(A)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enqueue(B):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(B).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false.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rear.next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newNode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 (i.e., Node(A).next -&gt; Node(B))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rear -&gt; Node(B)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front -&gt; Node(A) -&gt; Node(B) &lt;- rear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3968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E6DDD-AFFB-82D9-6A69-9FCADCB6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E116-D708-1BEE-46EF-933EB4E88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(Linked List) – Contd.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D55AD-9B52-5F85-00AA-43830B2A5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F879C-DBA4-417E-4098-EDA60E72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30652E9-33AB-7307-CF07-701C212E53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6963" y="2349520"/>
            <a:ext cx="10115520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dequeue():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A from front.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front.next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(i.e., front -&gt; Node(B))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front -&gt; Node(B) &lt;- rear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dequeue():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Save B from front.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front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front.next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(i.e., front -&gt; null)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Edge Case! front is null, so set rear = null.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Result: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front=null, rear=null (Empty)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2314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429A099-5CB1-4A20-B64F-4F0562EF3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7C0A89-7FB3-43F8-9DE3-0177E3E27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73FC1E-AF6C-5F52-4773-7E6341B1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GB" sz="3600">
                <a:solidFill>
                  <a:srgbClr val="FFFFFF"/>
                </a:solidFill>
              </a:rPr>
              <a:t>Comparison: Array vs. Linked List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9F4DD4-CC07-42A8-8AF8-069654F1A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F828A-2660-0D16-0DC5-693AFF34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2017" y="6459785"/>
            <a:ext cx="5105169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50766-3068-A6E2-85D8-899BDA1B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A4F2B70-5880-4CBE-A91F-8076F4F2F151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33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13BA37E-827B-B9DC-AE3F-791F7F742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7049089"/>
              </p:ext>
            </p:extLst>
          </p:nvPr>
        </p:nvGraphicFramePr>
        <p:xfrm>
          <a:off x="4741863" y="1005816"/>
          <a:ext cx="6797676" cy="4917812"/>
        </p:xfrm>
        <a:graphic>
          <a:graphicData uri="http://schemas.openxmlformats.org/drawingml/2006/table">
            <a:tbl>
              <a:tblPr/>
              <a:tblGrid>
                <a:gridCol w="1706814">
                  <a:extLst>
                    <a:ext uri="{9D8B030D-6E8A-4147-A177-3AD203B41FA5}">
                      <a16:colId xmlns:a16="http://schemas.microsoft.com/office/drawing/2014/main" val="3785512172"/>
                    </a:ext>
                  </a:extLst>
                </a:gridCol>
                <a:gridCol w="2547056">
                  <a:extLst>
                    <a:ext uri="{9D8B030D-6E8A-4147-A177-3AD203B41FA5}">
                      <a16:colId xmlns:a16="http://schemas.microsoft.com/office/drawing/2014/main" val="1693183747"/>
                    </a:ext>
                  </a:extLst>
                </a:gridCol>
                <a:gridCol w="2543806">
                  <a:extLst>
                    <a:ext uri="{9D8B030D-6E8A-4147-A177-3AD203B41FA5}">
                      <a16:colId xmlns:a16="http://schemas.microsoft.com/office/drawing/2014/main" val="1377795831"/>
                    </a:ext>
                  </a:extLst>
                </a:gridCol>
              </a:tblGrid>
              <a:tr h="474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Circular Array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Linked List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623875"/>
                  </a:ext>
                </a:extLst>
              </a:tr>
              <a:tr h="75514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Size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Fixed</a:t>
                      </a: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(must be declared)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Dynamic</a:t>
                      </a: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(grows as needed)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771330"/>
                  </a:ext>
                </a:extLst>
              </a:tr>
              <a:tr h="474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enqueue()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O(1)</a:t>
                      </a: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(amortized)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O(1)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661570"/>
                  </a:ext>
                </a:extLst>
              </a:tr>
              <a:tr h="474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dequeue()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O(1)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O(1)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062114"/>
                  </a:ext>
                </a:extLst>
              </a:tr>
              <a:tr h="47430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peek()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O(1)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O(1)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432638"/>
                  </a:ext>
                </a:extLst>
              </a:tr>
              <a:tr h="75514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Memory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Fixed block (potential waste)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Overhead per node (pointer)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758482"/>
                  </a:ext>
                </a:extLst>
              </a:tr>
              <a:tr h="75514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Locality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Good</a:t>
                      </a: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(cache-friendly)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Bad</a:t>
                      </a: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(nodes can be anywhere)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074882"/>
                  </a:ext>
                </a:extLst>
              </a:tr>
              <a:tr h="75514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1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When to use?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0" i="0" u="none" strike="noStrike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When size is known; performance is critical.</a:t>
                      </a:r>
                      <a:endParaRPr lang="en-GB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800" b="0" i="0" u="none" strike="noStrik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When size is unknown; flexibility is key.</a:t>
                      </a:r>
                      <a:endParaRPr lang="en-GB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7016" marR="117016" marT="78011" marB="7801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391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25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73C00-0E32-556D-29CF-D087FC3E7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DDF22-7A74-B0C7-AC44-FF8085CF1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CF38A-34AE-66B4-766A-782E81A8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BC694DF-9C5F-E872-82B7-9E6A52FA42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3072585"/>
            <a:ext cx="904657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now have two "perfect" O(1) implementations for the Queue ADT.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(Circular Array) and one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dynamic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(Linked List).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choice depends on your application's needs.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What if we want to "break" the FIFO rule? Or bend it?</a:t>
            </a:r>
          </a:p>
        </p:txBody>
      </p:sp>
    </p:spTree>
    <p:extLst>
      <p:ext uri="{BB962C8B-B14F-4D97-AF65-F5344CB8AC3E}">
        <p14:creationId xmlns:p14="http://schemas.microsoft.com/office/powerpoint/2010/main" val="3208372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7C48-4815-3E6C-86EE-246B02A88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Queue Variants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C0822-3756-58CB-D19C-B71DDA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816FE-676C-FD42-4EC9-8D8A8BEF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9AA5E3-4EE5-5902-D949-2F27359DD4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687864"/>
            <a:ext cx="100584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"FIFO" rule is great, but not always what we want.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Let's look at three major variations of the Queue: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(Double-Ended Queue)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Circular Queue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(We already covered this! It's really an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implementation strategy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but often listed as a "type".)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Priority Queue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18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C8C6-55D3-C08E-2E1F-F4FAE0E61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1: The Deque (Double-Ended Queue)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CA16F-0668-64DB-A78F-4A3AE38F3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55D51-C15E-8B37-666D-9029D152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36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CFF846D-C72C-EB97-AAF5-9BC83F840E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3072585"/>
            <a:ext cx="1005839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Pronounced "deck" (like a deck of cards).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generalization of a queue.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You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 or remove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items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either 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(front or rear).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It's like a combination of a Stack and a Queue.</a:t>
            </a:r>
          </a:p>
        </p:txBody>
      </p:sp>
    </p:spTree>
    <p:extLst>
      <p:ext uri="{BB962C8B-B14F-4D97-AF65-F5344CB8AC3E}">
        <p14:creationId xmlns:p14="http://schemas.microsoft.com/office/powerpoint/2010/main" val="559835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7E6D7-93D9-5937-9776-161C592F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Deque ADT Operations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848550-3CFD-2D26-B7B0-41BE8291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86118-A8B2-AFDD-75B3-8D69C67C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FF55080-77ED-876C-AD09-86533106E2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18601"/>
            <a:ext cx="10058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addFront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(item): Adds an item to the front.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addRear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(item): Adds an item to the rear (like enqueue).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removeFront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Removes an item from the front (like dequeue).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removeRear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Removes an item from the rear.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getFront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/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getRear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(like peek).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/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isFull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51893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2F05-A8CF-5199-93A1-A6391EED9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Deque Use Case: Palindrome Checker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D07D3D-88DC-D513-9E38-4ABC597D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0BBE2-3F8E-C447-8DB4-FB35460BC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38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2BE30AE-C29A-0C8C-B9F8-4AD9F5FF95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2441642"/>
            <a:ext cx="10058399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palindrome reads the same forwards and backwards ("racecar", "madam").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Algorithm: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addRear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every character of the string into a Deque.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deque.size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&gt; 1: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frontChar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deque.removeFront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rearChar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deque.removeRear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If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frontChar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!=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rearChar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return false.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Return true.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2736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40ACD-F8DD-2217-B8F8-7F95CD37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Deque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80D54-5D3C-E2BC-44F2-62A298EDA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How would you build a Deque?</a:t>
            </a:r>
          </a:p>
          <a:p>
            <a:r>
              <a:rPr lang="en-GB" b="1" dirty="0"/>
              <a:t>Circular Array:</a:t>
            </a:r>
            <a:endParaRPr lang="en-GB" dirty="0"/>
          </a:p>
          <a:p>
            <a:pPr lvl="1"/>
            <a:r>
              <a:rPr lang="en-GB" dirty="0"/>
              <a:t>Yes! This works perfectly.</a:t>
            </a:r>
          </a:p>
          <a:p>
            <a:pPr lvl="1"/>
            <a:r>
              <a:rPr lang="en-GB" dirty="0" err="1"/>
              <a:t>addFront</a:t>
            </a:r>
            <a:r>
              <a:rPr lang="en-GB" dirty="0"/>
              <a:t>() would decrement the front pointer (with modulo).</a:t>
            </a:r>
          </a:p>
          <a:p>
            <a:pPr lvl="1"/>
            <a:r>
              <a:rPr lang="en-GB" dirty="0" err="1"/>
              <a:t>removeRear</a:t>
            </a:r>
            <a:r>
              <a:rPr lang="en-GB" dirty="0"/>
              <a:t>() would decrement the rear pointer (with modulo).</a:t>
            </a:r>
          </a:p>
          <a:p>
            <a:r>
              <a:rPr lang="en-GB" b="1" dirty="0"/>
              <a:t>Linked List:</a:t>
            </a:r>
            <a:endParaRPr lang="en-GB" dirty="0"/>
          </a:p>
          <a:p>
            <a:pPr lvl="1"/>
            <a:r>
              <a:rPr lang="en-GB" dirty="0"/>
              <a:t>Yes, but you need a </a:t>
            </a:r>
            <a:r>
              <a:rPr lang="en-GB" b="1" dirty="0"/>
              <a:t>Doubly-Linked List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Why? To </a:t>
            </a:r>
            <a:r>
              <a:rPr lang="en-GB" dirty="0" err="1"/>
              <a:t>removeRear</a:t>
            </a:r>
            <a:r>
              <a:rPr lang="en-GB" dirty="0"/>
              <a:t>() in O(1), you need a </a:t>
            </a:r>
            <a:r>
              <a:rPr lang="en-GB" dirty="0" err="1"/>
              <a:t>prev</a:t>
            </a:r>
            <a:r>
              <a:rPr lang="en-GB" dirty="0"/>
              <a:t> pointer to update the new rear node. A singly-linked list would be O(n) for </a:t>
            </a:r>
            <a:r>
              <a:rPr lang="en-GB" dirty="0" err="1"/>
              <a:t>removeRear</a:t>
            </a:r>
            <a:r>
              <a:rPr lang="en-GB" dirty="0"/>
              <a:t>().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ECD58B-B132-860B-4828-2A9D3B1C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DF1D5C-9C17-9EB1-2F96-7C544DDB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611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F0BF-722A-19F2-C4A4-194DCF17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2: The Priority Queue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8F5A42-F25B-8F69-5025-FD1A9A29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033305-0A0C-8044-FC11-25417691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40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B966CDD-FCD5-10D9-1AE8-B6B94F808E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18586"/>
            <a:ext cx="1011520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the most "different" variant.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completely breaks the FIFO rule.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Items are dequeued based on their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priority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not their arrival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item with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highest priority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removed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(This can mean the smallest number, or the largest number, depending on your definition).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0562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72CB-203D-64E7-7C74-792F68FB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Queue: Real-World Examples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E2F52-D476-5E43-7190-08CB59326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FA1E2-8EAB-2FD0-8907-4A1F3A5F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41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5B05FA2-B520-89F0-6D86-2F55ED409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87811"/>
            <a:ext cx="10115203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Hospital Emergency Room: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Patients are not seen FIFO.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critical "chest pain" (high priority) patient is seen before a "sprained ankle" (low priority) patient, even if the ankle patient arrived first.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Operating System Scheduler: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critical system process (e.g., keyboard driver) has higher priority than a background task (e.g., file indexing).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Dijkstra's Algorithm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finding shortest paths in a graph).</a:t>
            </a:r>
          </a:p>
        </p:txBody>
      </p:sp>
    </p:spTree>
    <p:extLst>
      <p:ext uri="{BB962C8B-B14F-4D97-AF65-F5344CB8AC3E}">
        <p14:creationId xmlns:p14="http://schemas.microsoft.com/office/powerpoint/2010/main" val="23466753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67AE-B8DE-9267-8368-DC61C8804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Queue ADT Operations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0FE4B-2202-94B3-468A-65903CE4F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7B196-6988-EED4-2D25-ED194A1A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42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BAFADB2-0FB2-ABC0-A057-86475D9929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64699"/>
            <a:ext cx="1005840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insert(item, priority): Adds an item with its priority.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(Often simplified to just insert(item) if the item itself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priority, e.g., insert(5)).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deleteMin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deleteMax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Removes and returns the item with the highest priority (e.g., the smallest number).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getMin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getMax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Peeks at the highest-priority item.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isEmpty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43837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A1DE6-8106-0571-E2F8-D4F19BCA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Implementation: Unsorted Array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77420E-FE0D-9C82-3A17-117631E8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03EDA-3B01-545D-E51F-245BC3BF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43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F35BE27-B0E2-5BC0-43D7-F76185820F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395478"/>
            <a:ext cx="10058400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insert(item):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Just add the item to the end of the array.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O(1)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Must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search the entire array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find the minimum item.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Remove/shift it.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O(n)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Good for: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Lots of insertions, very few deletions</a:t>
            </a:r>
          </a:p>
        </p:txBody>
      </p:sp>
    </p:spTree>
    <p:extLst>
      <p:ext uri="{BB962C8B-B14F-4D97-AF65-F5344CB8AC3E}">
        <p14:creationId xmlns:p14="http://schemas.microsoft.com/office/powerpoint/2010/main" val="12605406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D421-0916-4AC9-1495-DAB1D4F12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Implementation: Sorted Array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396D8-34A2-A980-E484-5E2A2CF48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DC6C8-8910-2F5D-5BA2-DA03C76E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44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8EC26F-9053-785F-A833-91A689D9CB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26198"/>
            <a:ext cx="10058400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insert(item):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Find the correct spot to keep the array sorted.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Shift elements to make room.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O(n)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minimum item is always at array[0] (or array[n-1]).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Just remove it and shift.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O(n)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(to shift) or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O(1)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you remove from the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Good for: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Lots of peeking, very few insertions.</a:t>
            </a:r>
          </a:p>
        </p:txBody>
      </p:sp>
    </p:spTree>
    <p:extLst>
      <p:ext uri="{BB962C8B-B14F-4D97-AF65-F5344CB8AC3E}">
        <p14:creationId xmlns:p14="http://schemas.microsoft.com/office/powerpoint/2010/main" val="37290839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C27F-A975-C623-D8B5-8F9338230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Queue: So, what's the fast way?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B131D-DE57-8FBC-3180-0AAD99CBD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2C296-7C15-8596-7101-8AC2AD8B2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45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6D73BEA-5F9D-62BA-7E9D-29ABE58480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518586"/>
            <a:ext cx="926074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Both simple array implementations have an O(n) operation. That's slow.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 want insert and delete to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both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 fast.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Solution: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special data structure called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tree-based structure that can give us: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insert():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O(log n)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deleteMin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():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O(log n)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is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faster than O(n)!</a:t>
            </a:r>
          </a:p>
        </p:txBody>
      </p:sp>
    </p:spTree>
    <p:extLst>
      <p:ext uri="{BB962C8B-B14F-4D97-AF65-F5344CB8AC3E}">
        <p14:creationId xmlns:p14="http://schemas.microsoft.com/office/powerpoint/2010/main" val="18068368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B524-D34A-3F5C-2BE6-88844ABC0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 of Queues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369B-3F30-573F-652D-14A824EFC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Where are standard (FIFO) queues used in Computer Science?</a:t>
            </a:r>
          </a:p>
          <a:p>
            <a:r>
              <a:rPr lang="en-GB" b="1" dirty="0"/>
              <a:t>Breadth-First Search (BFS):</a:t>
            </a:r>
            <a:r>
              <a:rPr lang="en-GB" dirty="0"/>
              <a:t> A core algorithm for graphs and trees. Uses a queue to explore "level by level".</a:t>
            </a:r>
          </a:p>
          <a:p>
            <a:r>
              <a:rPr lang="en-GB" b="1" dirty="0"/>
              <a:t>Buffering:</a:t>
            </a:r>
            <a:r>
              <a:rPr lang="en-GB" dirty="0"/>
              <a:t> Buffers for streaming video (YouTube) or music. Data is added to a buffer (enqueue) and removed for playback (dequeue).</a:t>
            </a:r>
          </a:p>
          <a:p>
            <a:r>
              <a:rPr lang="en-GB" b="1" dirty="0"/>
              <a:t>Resource Sharing:</a:t>
            </a:r>
            <a:r>
              <a:rPr lang="en-GB" dirty="0"/>
              <a:t> Manages access to a shared resource (like a printer, CPU, or disk).</a:t>
            </a:r>
          </a:p>
          <a:p>
            <a:r>
              <a:rPr lang="en-GB" b="1" dirty="0"/>
              <a:t>Asynchronous Processing:</a:t>
            </a:r>
            <a:r>
              <a:rPr lang="en-GB" dirty="0"/>
              <a:t> Handling requests in a web server. Requests come in and are put in a queue to be processed by a "worker thread".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543D0-9762-DC79-A551-BBA894D7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A6272-41B7-6D3E-BC76-8EF88451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199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B67D-BC76-F821-B113-52E60124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 of Deques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A5BB50-7796-22B1-D0D2-5F0853EAC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C6840-7895-467F-CFB8-F18AFFA64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F0E93C-31C4-0710-614C-61BE68B39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734029"/>
            <a:ext cx="100584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Palindrome Checkers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(as we saw).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Undo/Redo Functionality: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 deque can store a history of actions.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Undo: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removeRear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 (remove the last action).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Redo: (Requires a second structure, but deque is good for managing the history).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Sliding Window Algorithms: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Finding the maximum in a sub-array (window) as it "slides" across a larger array.</a:t>
            </a:r>
          </a:p>
        </p:txBody>
      </p:sp>
    </p:spTree>
    <p:extLst>
      <p:ext uri="{BB962C8B-B14F-4D97-AF65-F5344CB8AC3E}">
        <p14:creationId xmlns:p14="http://schemas.microsoft.com/office/powerpoint/2010/main" val="15714056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A9B1-F92E-6F84-8F3D-FAFAB35C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Applications of Priority Queues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947421-CF15-AEB0-0455-491D61DE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CS210 - Data Structures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8556B-B5F0-3417-A11E-247379C4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F2B70-5880-4CBE-A91F-8076F4F2F151}" type="slidenum">
              <a:rPr lang="en-US" smtClean="0"/>
              <a:t>48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A482B94-8DEB-AC6C-612E-EBE95841B8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1" y="1872257"/>
            <a:ext cx="100584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Event-Driven Simulation: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queue holds future events, prioritized by their timestamp.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Graph Algorithms: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Dijkstra's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(shortest path)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Prim's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(minimum spanning tree)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Compression: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Huffman coding uses a priority queue to build its encoding tree.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Search Algorithm: Used in AI and pathfinding (like in video games).</a:t>
            </a:r>
          </a:p>
        </p:txBody>
      </p:sp>
    </p:spTree>
    <p:extLst>
      <p:ext uri="{BB962C8B-B14F-4D97-AF65-F5344CB8AC3E}">
        <p14:creationId xmlns:p14="http://schemas.microsoft.com/office/powerpoint/2010/main" val="14088047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426</TotalTime>
  <Words>4166</Words>
  <Application>Microsoft Office PowerPoint</Application>
  <PresentationFormat>Widescreen</PresentationFormat>
  <Paragraphs>491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Arial Unicode MS</vt:lpstr>
      <vt:lpstr>Calibri</vt:lpstr>
      <vt:lpstr>Calibri Light</vt:lpstr>
      <vt:lpstr>Google Sans Text</vt:lpstr>
      <vt:lpstr>Retrospect</vt:lpstr>
      <vt:lpstr>Data Structures</vt:lpstr>
      <vt:lpstr>Queue Structures: An In-Depth Look at Implementations and Variants</vt:lpstr>
      <vt:lpstr>What is a Queue?</vt:lpstr>
      <vt:lpstr>Real-World Analogies</vt:lpstr>
      <vt:lpstr>The Queue Abstract Data Type (ADT)</vt:lpstr>
      <vt:lpstr>Visualizing the Operations: enqueue()</vt:lpstr>
      <vt:lpstr>Visualizing the Operations: dequeue()</vt:lpstr>
      <vt:lpstr>Implement a Queue!</vt:lpstr>
      <vt:lpstr>Implementation 1: The Array (Attempt #1)</vt:lpstr>
      <vt:lpstr>Array (Attempt #1): enqueue()</vt:lpstr>
      <vt:lpstr>Array (Attempt #1): dequeue()</vt:lpstr>
      <vt:lpstr>The Problem with Attempt #1</vt:lpstr>
      <vt:lpstr>Implementation 1: The Array (Attempt #2)</vt:lpstr>
      <vt:lpstr>Array (Attempt #2): isEmpty() / isFull()</vt:lpstr>
      <vt:lpstr>Array (Attempt #2): enqueue()</vt:lpstr>
      <vt:lpstr>Array (Attempt #2): dequeue()</vt:lpstr>
      <vt:lpstr>The New Problem: "Drifting"</vt:lpstr>
      <vt:lpstr>Discussion</vt:lpstr>
      <vt:lpstr>Review</vt:lpstr>
      <vt:lpstr>The Circular Queue: The Concept</vt:lpstr>
      <vt:lpstr>The Magic: The Modulo Operator (%)</vt:lpstr>
      <vt:lpstr>Circular Queue: enqueue()</vt:lpstr>
      <vt:lpstr>Circular Queue: dequeue()</vt:lpstr>
      <vt:lpstr>Circular Queue: Visual Trace</vt:lpstr>
      <vt:lpstr>The Final Problem: isEmpty() vs. isFull()</vt:lpstr>
      <vt:lpstr>Solving isEmpty() vs. isFull()</vt:lpstr>
      <vt:lpstr>Implementation 2: The Linked List</vt:lpstr>
      <vt:lpstr>Linked List Implementation: Setup</vt:lpstr>
      <vt:lpstr>Linked List: enqueue()</vt:lpstr>
      <vt:lpstr>Linked List: dequeue()</vt:lpstr>
      <vt:lpstr>Let's Do An Example (Linked List)</vt:lpstr>
      <vt:lpstr>Example (Linked List) – Contd.</vt:lpstr>
      <vt:lpstr>Comparison: Array vs. Linked List</vt:lpstr>
      <vt:lpstr>Discussion</vt:lpstr>
      <vt:lpstr>Queue Variants</vt:lpstr>
      <vt:lpstr>Variant 1: The Deque (Double-Ended Queue)</vt:lpstr>
      <vt:lpstr>Deque ADT Operations</vt:lpstr>
      <vt:lpstr>Deque Use Case: Palindrome Checker</vt:lpstr>
      <vt:lpstr>Deque Implementation</vt:lpstr>
      <vt:lpstr>Variant 2: The Priority Queue</vt:lpstr>
      <vt:lpstr>Priority Queue: Real-World Examples</vt:lpstr>
      <vt:lpstr>Priority Queue ADT Operations</vt:lpstr>
      <vt:lpstr>Simple Implementation: Unsorted Array</vt:lpstr>
      <vt:lpstr>Simple Implementation: Sorted Array</vt:lpstr>
      <vt:lpstr>Priority Queue: So, what's the fast way?</vt:lpstr>
      <vt:lpstr>Applications of Queues</vt:lpstr>
      <vt:lpstr>Applications of Deques</vt:lpstr>
      <vt:lpstr>Applications of Priority Queues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Administrator</dc:creator>
  <cp:lastModifiedBy>Mehran Yousaf</cp:lastModifiedBy>
  <cp:revision>30</cp:revision>
  <dcterms:created xsi:type="dcterms:W3CDTF">2025-09-15T09:02:56Z</dcterms:created>
  <dcterms:modified xsi:type="dcterms:W3CDTF">2025-10-29T05:23:50Z</dcterms:modified>
</cp:coreProperties>
</file>