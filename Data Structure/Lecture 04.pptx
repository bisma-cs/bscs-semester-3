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DC72F-581E-4F4A-9010-D01891AB7FCE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8A3EB-13A6-4A6C-B559-6129DD955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53786-4DEC-4B83-B748-92ECD0CC9F44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71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D732-2237-4470-813A-BAF5B8FCCBA1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CE2-80DA-4A85-A992-62CC1AA7DAB6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7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D955-EFC5-4F4B-98BA-DDCBAE9F748C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4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08DC-B991-45C8-BE8E-03F626AC1B8B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F139-91AF-43E9-842C-050822666E1A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7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081F-C614-41E1-A2C0-4BADDE99BE3E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366D91-BCDA-4E5D-840E-36A2AEB35808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8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72-508B-4316-96A0-44422A762A58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82452-F982-435A-B65E-9011E64493A8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14ADF-2AD0-45DC-B864-3957ED39BB00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2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614BB1-5CBA-4BE0-8711-AACF380417F5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3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04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1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8EBE-269C-7F24-0577-E104B3FD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Stacks implementation with Linked List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6BEDE-CEF3-D0C2-9F8C-AE1594EA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C5C2D-36A5-6498-456B-77716AD4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5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C5DC-8DC5-F01F-C043-42553F8D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Linked List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FA468-1583-D9A3-160C-84D66FB4D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Let's solve the fixed-size problem by using a </a:t>
            </a:r>
            <a:r>
              <a:rPr lang="en-GB" b="1" dirty="0"/>
              <a:t>dynamic data structure</a:t>
            </a:r>
            <a:r>
              <a:rPr lang="en-GB" dirty="0"/>
              <a:t>: the linked list.</a:t>
            </a:r>
          </a:p>
          <a:p>
            <a:r>
              <a:rPr lang="en-GB" b="1" dirty="0"/>
              <a:t>A quick refresher on Linked Lists:</a:t>
            </a:r>
            <a:endParaRPr lang="en-GB" dirty="0"/>
          </a:p>
          <a:p>
            <a:r>
              <a:rPr lang="en-GB" dirty="0"/>
              <a:t>A collection of </a:t>
            </a:r>
            <a:r>
              <a:rPr lang="en-GB" b="1" dirty="0"/>
              <a:t>nodes</a:t>
            </a:r>
            <a:r>
              <a:rPr lang="en-GB" dirty="0"/>
              <a:t>.</a:t>
            </a:r>
          </a:p>
          <a:p>
            <a:r>
              <a:rPr lang="en-GB" dirty="0"/>
              <a:t>Each node contains </a:t>
            </a:r>
            <a:r>
              <a:rPr lang="en-GB" b="1" dirty="0"/>
              <a:t>data</a:t>
            </a:r>
            <a:r>
              <a:rPr lang="en-GB" dirty="0"/>
              <a:t> and a </a:t>
            </a:r>
            <a:r>
              <a:rPr lang="en-GB" b="1" dirty="0"/>
              <a:t>pointer</a:t>
            </a:r>
            <a:r>
              <a:rPr lang="en-GB" dirty="0"/>
              <a:t> to the next node.</a:t>
            </a:r>
          </a:p>
          <a:p>
            <a:r>
              <a:rPr lang="en-GB" dirty="0"/>
              <a:t>Nodes can be scattered anywhere in memory. They don't have to be in a contiguous block.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7CF19-64CD-CEA2-4768-01D02AE3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5FB3B-78DE-6064-FC3A-6EE20684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2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D745-7DCF-D90F-CD46-67E0049B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Stack Concepts to a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80CD3-FACE-B81E-13E9-B678BE5D6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do we implement LIFO with a linked list?</a:t>
            </a:r>
          </a:p>
          <a:p>
            <a:r>
              <a:rPr lang="en-GB" dirty="0"/>
              <a:t>The </a:t>
            </a:r>
            <a:r>
              <a:rPr lang="en-GB" b="1" dirty="0"/>
              <a:t>top</a:t>
            </a:r>
            <a:r>
              <a:rPr lang="en-GB" dirty="0"/>
              <a:t> of the stack will be the </a:t>
            </a:r>
            <a:r>
              <a:rPr lang="en-GB" b="1" dirty="0"/>
              <a:t>head</a:t>
            </a:r>
            <a:r>
              <a:rPr lang="en-GB" dirty="0"/>
              <a:t> of the linked list.</a:t>
            </a:r>
          </a:p>
          <a:p>
            <a:r>
              <a:rPr lang="en-GB" dirty="0"/>
              <a:t>push() will be equivalent to </a:t>
            </a:r>
            <a:r>
              <a:rPr lang="en-GB" b="1" dirty="0"/>
              <a:t>inserting a new node at the beginning</a:t>
            </a:r>
            <a:r>
              <a:rPr lang="en-GB" dirty="0"/>
              <a:t> of the list.</a:t>
            </a:r>
          </a:p>
          <a:p>
            <a:r>
              <a:rPr lang="en-GB" dirty="0"/>
              <a:t>pop() will be equivalent to </a:t>
            </a:r>
            <a:r>
              <a:rPr lang="en-GB" b="1" dirty="0"/>
              <a:t>deleting the head node</a:t>
            </a:r>
            <a:r>
              <a:rPr lang="en-GB" dirty="0"/>
              <a:t>.</a:t>
            </a:r>
          </a:p>
          <a:p>
            <a:r>
              <a:rPr lang="en-GB" dirty="0" err="1"/>
              <a:t>isEmpty</a:t>
            </a:r>
            <a:r>
              <a:rPr lang="en-GB" dirty="0"/>
              <a:t>() is true when the head (or top) pointer is </a:t>
            </a:r>
            <a:r>
              <a:rPr lang="en-GB" dirty="0" err="1"/>
              <a:t>nullptr</a:t>
            </a:r>
            <a:r>
              <a:rPr lang="en-GB" dirty="0"/>
              <a:t>.</a:t>
            </a:r>
          </a:p>
          <a:p>
            <a:r>
              <a:rPr lang="en-GB" dirty="0"/>
              <a:t>This is a perfect match! Operations at the head of a linked list are very efficient.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036A0-8106-190A-548D-F3EB0B62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A197C-D50D-0687-8562-1DB51A18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2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3433-AE4F-45E8-0A60-D301EE16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push in a Linked List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BA55-091F-D036-2FFC-652E28ABD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Initially: top -&gt; </a:t>
            </a:r>
            <a:r>
              <a:rPr lang="en-GB" dirty="0" err="1"/>
              <a:t>nullptr</a:t>
            </a:r>
            <a:r>
              <a:rPr lang="en-GB" dirty="0"/>
              <a:t> (Empty)</a:t>
            </a:r>
          </a:p>
          <a:p>
            <a:r>
              <a:rPr lang="en-GB" b="1" dirty="0"/>
              <a:t>push(10):</a:t>
            </a:r>
            <a:endParaRPr lang="en-GB" dirty="0"/>
          </a:p>
          <a:p>
            <a:r>
              <a:rPr lang="en-GB" dirty="0"/>
              <a:t>Create a new node with data 10.</a:t>
            </a:r>
          </a:p>
          <a:p>
            <a:r>
              <a:rPr lang="en-GB" dirty="0"/>
              <a:t>Set its next pointer to the current top (</a:t>
            </a:r>
            <a:r>
              <a:rPr lang="en-GB" dirty="0" err="1"/>
              <a:t>nullptr</a:t>
            </a:r>
            <a:r>
              <a:rPr lang="en-GB" dirty="0"/>
              <a:t>).</a:t>
            </a:r>
          </a:p>
          <a:p>
            <a:r>
              <a:rPr lang="en-GB" dirty="0"/>
              <a:t>Update top to point to this new node. top -&gt; [10 | </a:t>
            </a:r>
            <a:r>
              <a:rPr lang="en-GB" dirty="0" err="1"/>
              <a:t>nullptr</a:t>
            </a:r>
            <a:r>
              <a:rPr lang="en-GB" dirty="0"/>
              <a:t>]</a:t>
            </a:r>
          </a:p>
          <a:p>
            <a:r>
              <a:rPr lang="en-GB" b="1" dirty="0"/>
              <a:t>push(20):</a:t>
            </a:r>
            <a:endParaRPr lang="en-GB" dirty="0"/>
          </a:p>
          <a:p>
            <a:r>
              <a:rPr lang="en-GB" dirty="0"/>
              <a:t>Create a new node with data 20.</a:t>
            </a:r>
          </a:p>
          <a:p>
            <a:r>
              <a:rPr lang="en-GB" dirty="0"/>
              <a:t>Set its next pointer to the current top (the node with 10).</a:t>
            </a:r>
          </a:p>
          <a:p>
            <a:r>
              <a:rPr lang="en-GB" dirty="0"/>
              <a:t>Update top to point to the new node. top -&gt; [20 | *] -&gt; [10 | </a:t>
            </a:r>
            <a:r>
              <a:rPr lang="en-GB" dirty="0" err="1"/>
              <a:t>nullptr</a:t>
            </a:r>
            <a:r>
              <a:rPr lang="en-GB" dirty="0"/>
              <a:t>]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AAD83-0C3F-9581-A27A-50CF7CDB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349FA-1079-EEBE-2AED-CE29FEF4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33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A2DA2-4C60-1EA5-0D80-14A94BFC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pop in a Linked List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EF4B9-F821-3A2A-C0C2-C148F5BFF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 State: top -&gt; [30 | *] -&gt; [20 | *] -&gt; [10 | </a:t>
            </a:r>
            <a:r>
              <a:rPr lang="en-GB" dirty="0" err="1"/>
              <a:t>nullptr</a:t>
            </a:r>
            <a:r>
              <a:rPr lang="en-GB" dirty="0"/>
              <a:t>]</a:t>
            </a:r>
          </a:p>
          <a:p>
            <a:r>
              <a:rPr lang="en-GB" b="1" dirty="0"/>
              <a:t>pop():</a:t>
            </a:r>
            <a:endParaRPr lang="en-GB" dirty="0"/>
          </a:p>
          <a:p>
            <a:r>
              <a:rPr lang="en-GB" dirty="0"/>
              <a:t>Check if empty. It's not.</a:t>
            </a:r>
          </a:p>
          <a:p>
            <a:r>
              <a:rPr lang="en-GB" dirty="0"/>
              <a:t>Create a temporary pointer (temp) to the current top node (node 30).</a:t>
            </a:r>
          </a:p>
          <a:p>
            <a:r>
              <a:rPr lang="en-GB" dirty="0"/>
              <a:t>Move the top pointer to the next node (top = top-&gt;next). Now top points to node 20.</a:t>
            </a:r>
          </a:p>
          <a:p>
            <a:r>
              <a:rPr lang="en-GB" dirty="0"/>
              <a:t>Delete the old top node using the temp pointer. New State: top -&gt; [20 | *] -&gt; [10 | </a:t>
            </a:r>
            <a:r>
              <a:rPr lang="en-GB" dirty="0" err="1"/>
              <a:t>nullptr</a:t>
            </a:r>
            <a:r>
              <a:rPr lang="en-GB" dirty="0"/>
              <a:t>]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C2C02-8626-3FA0-0674-7C073016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FDCC1-F29D-B38A-9232-B2D4909C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4B22-A6DE-DBBD-F99F-A9D15045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C++ Code: The Node and Class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58315-2E7B-625C-84C6-4A440DB756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struct Node {</a:t>
            </a:r>
          </a:p>
          <a:p>
            <a:r>
              <a:rPr lang="en-GB" dirty="0"/>
              <a:t>    int data;</a:t>
            </a:r>
          </a:p>
          <a:p>
            <a:r>
              <a:rPr lang="en-GB" dirty="0"/>
              <a:t>    Node* next;</a:t>
            </a:r>
          </a:p>
          <a:p>
            <a:r>
              <a:rPr lang="en-GB" dirty="0"/>
              <a:t>};</a:t>
            </a:r>
          </a:p>
          <a:p>
            <a:r>
              <a:rPr lang="en-GB" dirty="0"/>
              <a:t>class </a:t>
            </a:r>
            <a:r>
              <a:rPr lang="en-GB" dirty="0" err="1"/>
              <a:t>LinkedListStack</a:t>
            </a:r>
            <a:r>
              <a:rPr lang="en-GB" dirty="0"/>
              <a:t> {</a:t>
            </a:r>
          </a:p>
          <a:p>
            <a:r>
              <a:rPr lang="en-GB" dirty="0"/>
              <a:t>private:</a:t>
            </a:r>
          </a:p>
          <a:p>
            <a:r>
              <a:rPr lang="en-GB" dirty="0"/>
              <a:t>    Node* top;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// Constructor</a:t>
            </a:r>
          </a:p>
          <a:p>
            <a:r>
              <a:rPr lang="en-GB" dirty="0"/>
              <a:t>    </a:t>
            </a:r>
            <a:r>
              <a:rPr lang="en-GB" dirty="0" err="1"/>
              <a:t>LinkedListStack</a:t>
            </a:r>
            <a:r>
              <a:rPr lang="en-GB" dirty="0"/>
              <a:t>() {</a:t>
            </a:r>
          </a:p>
          <a:p>
            <a:r>
              <a:rPr lang="en-GB" dirty="0"/>
              <a:t>        top = </a:t>
            </a:r>
            <a:r>
              <a:rPr lang="en-GB" dirty="0" err="1"/>
              <a:t>nullptr</a:t>
            </a:r>
            <a:r>
              <a:rPr lang="en-GB" dirty="0"/>
              <a:t>; // Initialize empty stack</a:t>
            </a:r>
          </a:p>
          <a:p>
            <a:r>
              <a:rPr lang="en-GB" dirty="0"/>
              <a:t>   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6CC5F-0740-5809-EFB3-B9F6E083EF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 // Core Operations</a:t>
            </a:r>
          </a:p>
          <a:p>
            <a:r>
              <a:rPr lang="en-GB" dirty="0"/>
              <a:t>    void push(int value);</a:t>
            </a:r>
          </a:p>
          <a:p>
            <a:r>
              <a:rPr lang="en-GB" dirty="0"/>
              <a:t>    void pop();</a:t>
            </a:r>
          </a:p>
          <a:p>
            <a:r>
              <a:rPr lang="en-GB" dirty="0"/>
              <a:t>    int peek();</a:t>
            </a:r>
          </a:p>
          <a:p>
            <a:r>
              <a:rPr lang="en-GB" dirty="0"/>
              <a:t>    bool </a:t>
            </a:r>
            <a:r>
              <a:rPr lang="en-GB" dirty="0" err="1"/>
              <a:t>isEmpty</a:t>
            </a:r>
            <a:r>
              <a:rPr lang="en-GB" dirty="0"/>
              <a:t>();</a:t>
            </a:r>
          </a:p>
          <a:p>
            <a:r>
              <a:rPr lang="en-GB" dirty="0"/>
              <a:t>};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61BC2-302D-6BCD-6767-A78628F2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D9DFE-7B70-1782-6542-DC1BF240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0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9FFE0B-F015-FBEF-FB9C-DAACFD86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Code: push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100B-5B81-83C7-F63D-34544273A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void </a:t>
            </a:r>
            <a:r>
              <a:rPr lang="en-GB" dirty="0" err="1"/>
              <a:t>LinkedListStack</a:t>
            </a:r>
            <a:r>
              <a:rPr lang="en-GB" dirty="0"/>
              <a:t>::push(int value) {</a:t>
            </a:r>
          </a:p>
          <a:p>
            <a:r>
              <a:rPr lang="en-GB" dirty="0"/>
              <a:t>    // 1. Create a new node</a:t>
            </a:r>
          </a:p>
          <a:p>
            <a:r>
              <a:rPr lang="en-GB" dirty="0"/>
              <a:t>    Node* </a:t>
            </a:r>
            <a:r>
              <a:rPr lang="en-GB" dirty="0" err="1"/>
              <a:t>newNode</a:t>
            </a:r>
            <a:r>
              <a:rPr lang="en-GB" dirty="0"/>
              <a:t> = new Node();</a:t>
            </a:r>
          </a:p>
          <a:p>
            <a:r>
              <a:rPr lang="en-GB" dirty="0"/>
              <a:t>    </a:t>
            </a:r>
            <a:r>
              <a:rPr lang="en-GB" dirty="0" err="1"/>
              <a:t>newNode</a:t>
            </a:r>
            <a:r>
              <a:rPr lang="en-GB" dirty="0"/>
              <a:t>-&gt;data = value;</a:t>
            </a:r>
          </a:p>
          <a:p>
            <a:endParaRPr lang="en-GB" dirty="0"/>
          </a:p>
          <a:p>
            <a:r>
              <a:rPr lang="en-GB" dirty="0"/>
              <a:t>    // 2. Link it to the old top</a:t>
            </a:r>
          </a:p>
          <a:p>
            <a:r>
              <a:rPr lang="en-GB" dirty="0"/>
              <a:t>    </a:t>
            </a:r>
            <a:r>
              <a:rPr lang="en-GB" dirty="0" err="1"/>
              <a:t>newNode</a:t>
            </a:r>
            <a:r>
              <a:rPr lang="en-GB" dirty="0"/>
              <a:t>-&gt;next = top;</a:t>
            </a:r>
          </a:p>
          <a:p>
            <a:endParaRPr lang="en-GB" dirty="0"/>
          </a:p>
          <a:p>
            <a:r>
              <a:rPr lang="en-GB" dirty="0"/>
              <a:t>    // 3. Update top to be the new node</a:t>
            </a:r>
          </a:p>
          <a:p>
            <a:r>
              <a:rPr lang="en-GB" dirty="0"/>
              <a:t>    top = </a:t>
            </a:r>
            <a:r>
              <a:rPr lang="en-GB" dirty="0" err="1"/>
              <a:t>newNode</a:t>
            </a:r>
            <a:r>
              <a:rPr lang="en-GB" dirty="0"/>
              <a:t>;</a:t>
            </a:r>
          </a:p>
          <a:p>
            <a:r>
              <a:rPr lang="en-GB" dirty="0"/>
              <a:t>}</a:t>
            </a:r>
          </a:p>
          <a:p>
            <a:r>
              <a:rPr lang="en-GB" dirty="0"/>
              <a:t>No </a:t>
            </a:r>
            <a:r>
              <a:rPr lang="en-GB" dirty="0" err="1"/>
              <a:t>isFull</a:t>
            </a:r>
            <a:r>
              <a:rPr lang="en-GB" dirty="0"/>
              <a:t>() check needed! We can keep pushing as long as there is memory available.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75D57-5B42-1CAF-E3BA-484CA54DB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AE48-B3F1-658B-6517-5A1AA0D9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8DA8-B978-1FBB-48B0-E7B469C0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C++ Code: pop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1AF14-A4F7-B101-2481-76102BEB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void </a:t>
            </a:r>
            <a:r>
              <a:rPr lang="en-GB" dirty="0" err="1"/>
              <a:t>LinkedListStack</a:t>
            </a:r>
            <a:r>
              <a:rPr lang="en-GB" dirty="0"/>
              <a:t>::pop() {</a:t>
            </a:r>
          </a:p>
          <a:p>
            <a:r>
              <a:rPr lang="en-GB" dirty="0"/>
              <a:t>    if (</a:t>
            </a:r>
            <a:r>
              <a:rPr lang="en-GB" dirty="0" err="1"/>
              <a:t>isEmpty</a:t>
            </a:r>
            <a:r>
              <a:rPr lang="en-GB" dirty="0"/>
              <a:t>()) {</a:t>
            </a:r>
          </a:p>
          <a:p>
            <a:r>
              <a:rPr lang="en-GB" dirty="0"/>
              <a:t>        std::</a:t>
            </a:r>
            <a:r>
              <a:rPr lang="en-GB" dirty="0" err="1"/>
              <a:t>cout</a:t>
            </a:r>
            <a:r>
              <a:rPr lang="en-GB" dirty="0"/>
              <a:t> &lt;&lt; "Error: Stack Underflow!" &lt;&lt; std::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    return;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  // 1. Store the current top to be deleted</a:t>
            </a:r>
          </a:p>
          <a:p>
            <a:r>
              <a:rPr lang="en-GB" dirty="0"/>
              <a:t>    Node* temp = top;</a:t>
            </a:r>
          </a:p>
          <a:p>
            <a:r>
              <a:rPr lang="en-GB" dirty="0"/>
              <a:t>    // 2. Move top to the next node</a:t>
            </a:r>
          </a:p>
          <a:p>
            <a:r>
              <a:rPr lang="en-GB" dirty="0"/>
              <a:t>    top = top-&gt;next;</a:t>
            </a:r>
          </a:p>
          <a:p>
            <a:r>
              <a:rPr lang="en-GB" dirty="0"/>
              <a:t>    // 3. Free the memory of the old top</a:t>
            </a:r>
          </a:p>
          <a:p>
            <a:r>
              <a:rPr lang="en-GB" dirty="0"/>
              <a:t>    delete temp;</a:t>
            </a:r>
          </a:p>
          <a:p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333D4-52BE-6799-0EDD-C188A9EB3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54FB1-F322-2467-2A92-B4A8CDB8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27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D1A7-C3EA-592E-0A3E-BEE9D374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 of Linked List-Based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4C6A5-FE83-1880-F990-A3D4AF10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Let's </a:t>
            </a:r>
            <a:r>
              <a:rPr lang="en-GB" dirty="0" err="1"/>
              <a:t>analyze</a:t>
            </a:r>
            <a:r>
              <a:rPr lang="en-GB" dirty="0"/>
              <a:t> the time complexity again.</a:t>
            </a:r>
          </a:p>
          <a:p>
            <a:r>
              <a:rPr lang="en-GB" dirty="0"/>
              <a:t>push(value): Creating a new node, and re-assigning two pointers. All are single steps. </a:t>
            </a:r>
            <a:r>
              <a:rPr lang="en-GB" b="1" dirty="0"/>
              <a:t>O(1)</a:t>
            </a:r>
            <a:r>
              <a:rPr lang="en-GB" dirty="0"/>
              <a:t>.</a:t>
            </a:r>
          </a:p>
          <a:p>
            <a:r>
              <a:rPr lang="en-GB" dirty="0"/>
              <a:t>pop(): Re-assigning the top pointer and deleting a node. All are single steps. </a:t>
            </a:r>
            <a:r>
              <a:rPr lang="en-GB" b="1" dirty="0"/>
              <a:t>O(1)</a:t>
            </a:r>
            <a:r>
              <a:rPr lang="en-GB" dirty="0"/>
              <a:t>.</a:t>
            </a:r>
          </a:p>
          <a:p>
            <a:r>
              <a:rPr lang="en-GB" dirty="0"/>
              <a:t>peek(): Dereferencing the top pointer. </a:t>
            </a:r>
            <a:r>
              <a:rPr lang="en-GB" b="1" dirty="0"/>
              <a:t>O(1)</a:t>
            </a:r>
            <a:r>
              <a:rPr lang="en-GB" dirty="0"/>
              <a:t>.</a:t>
            </a:r>
          </a:p>
          <a:p>
            <a:r>
              <a:rPr lang="en-GB" dirty="0" err="1"/>
              <a:t>isEmpty</a:t>
            </a:r>
            <a:r>
              <a:rPr lang="en-GB" dirty="0"/>
              <a:t>(): A single comparison. </a:t>
            </a:r>
            <a:r>
              <a:rPr lang="en-GB" b="1" dirty="0"/>
              <a:t>O(1)</a:t>
            </a:r>
            <a:r>
              <a:rPr lang="en-GB" dirty="0"/>
              <a:t>.</a:t>
            </a:r>
          </a:p>
          <a:p>
            <a:r>
              <a:rPr lang="en-GB" b="1" dirty="0"/>
              <a:t>The time complexity is identical to the array implementation! Constant time for all operations.</a:t>
            </a: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8D39F-C4B6-6DFB-B1CE-D71FEF1C4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94409-DFB9-6293-0A8B-6A796AF3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6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422F-4075-9D97-F1F5-57685557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Space Complexity of Linked List-Based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D6AE5-ACC7-2353-CC6A-4CE4A633D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memory usage grows and shrinks precisely with the number of elements.</a:t>
            </a:r>
          </a:p>
          <a:p>
            <a:r>
              <a:rPr lang="en-GB" dirty="0"/>
              <a:t>If there are n elements in the stack, we are using space for n nodes.</a:t>
            </a:r>
          </a:p>
          <a:p>
            <a:r>
              <a:rPr lang="en-GB" dirty="0"/>
              <a:t>Space Complexity is O(n), where n is the current number of elements in the stack.</a:t>
            </a:r>
          </a:p>
          <a:p>
            <a:r>
              <a:rPr lang="en-GB" dirty="0"/>
              <a:t>This is much more memory-efficient than the array version if the stack size fluctuates a lot.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BA4B9-3D3F-8ECF-EEA4-699551BC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32370-9437-410E-A9D5-27F35F89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4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E5CA-C9B2-8DFB-C3AB-9DA260B4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Showdown: Array vs.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77EF2-BDB8-FF13-1490-8CE6ADB7C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two excellent implementations with the same O(1) time complexity for core operations. Which one is better? </a:t>
            </a:r>
            <a:r>
              <a:rPr lang="en-GB" b="1" dirty="0"/>
              <a:t>It depends on the context!</a:t>
            </a:r>
            <a:endParaRPr lang="en-GB" dirty="0"/>
          </a:p>
          <a:p>
            <a:r>
              <a:rPr lang="en-GB" dirty="0"/>
              <a:t>Let's compare them head-to-head.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F84A9-538A-41C2-224C-C55E6C9C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58E71-348A-D523-6D8A-40FCFC19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04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1250-C311-3BFE-AB02-DB7CF88A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2F88966-2623-A5CF-D09C-95C3AFC864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028825"/>
          <a:ext cx="10058400" cy="36576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172828939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9157884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584097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Array-Based 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Linked List-Based 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9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latin typeface="Courier New" panose="02070309020205020404" pitchFamily="49" charset="0"/>
                        </a:rPr>
                        <a:t>push()</a:t>
                      </a:r>
                      <a:r>
                        <a:rPr lang="en-GB" b="1"/>
                        <a:t> Speed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812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latin typeface="Courier New" panose="02070309020205020404" pitchFamily="49" charset="0"/>
                        </a:rPr>
                        <a:t>pop()</a:t>
                      </a:r>
                      <a:r>
                        <a:rPr lang="en-GB" b="1"/>
                        <a:t> Speed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36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Memory Usage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O(N) - N is max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O(n) - n is current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10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Memory Type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Static, contiguous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Dynamic, non-contiguous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182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Key Pro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Speed.</a:t>
                      </a:r>
                      <a:r>
                        <a:rPr lang="en-GB"/>
                        <a:t> No dynamic allocation overhead. Better cache locality.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Flexibility.</a:t>
                      </a:r>
                      <a:r>
                        <a:rPr lang="en-GB"/>
                        <a:t> Size is not fixed, grows and shrinks on demand.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729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Key Con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Fixed Size.</a:t>
                      </a:r>
                      <a:r>
                        <a:rPr lang="en-GB"/>
                        <a:t> Risk of overflow. Potentially wasted memory.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Slight Overhead.</a:t>
                      </a:r>
                      <a:r>
                        <a:rPr lang="en-GB" dirty="0"/>
                        <a:t> Each element needs extra space for a pointer. Slower due to memory allocation calls.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3541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CEEEC-DE05-5C4B-2A0E-DD38E46A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6E5AF-CB75-AD41-1860-8FDF95D8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26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900C0-59B2-E2C9-C89E-3D1D8EEF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Discussion: Which One Should I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42930-C116-4EC3-1D35-CF2D953B8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Scenario A: </a:t>
            </a:r>
          </a:p>
          <a:p>
            <a:r>
              <a:rPr lang="en-GB" dirty="0"/>
              <a:t>You are writing embedded software for a microcontroller to manage the last 10 sensor readings. The number 10 will never change.</a:t>
            </a:r>
          </a:p>
          <a:p>
            <a:r>
              <a:rPr lang="en-GB" dirty="0"/>
              <a:t>Choice: Array-based stack. The size is fixed and small. It will be faster and simpler.</a:t>
            </a:r>
          </a:p>
          <a:p>
            <a:r>
              <a:rPr lang="en-GB" dirty="0"/>
              <a:t>Scenario B: </a:t>
            </a:r>
          </a:p>
          <a:p>
            <a:r>
              <a:rPr lang="en-GB" dirty="0"/>
              <a:t>You are writing the "Undo" functionality for a text editor. You have no idea how many times the user will press Undo.</a:t>
            </a:r>
          </a:p>
          <a:p>
            <a:r>
              <a:rPr lang="en-GB" dirty="0"/>
              <a:t>Choice: Linked list-based stack. You need the flexibility to handle an arbitrary number of actions without a preset limit.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55DB5-4331-E059-8B69-873DF261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91007-583F-E9EA-C337-41C9466E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241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306</TotalTime>
  <Words>1114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Retrospect</vt:lpstr>
      <vt:lpstr>Data Structures</vt:lpstr>
      <vt:lpstr>Stacks implementation with Linked List</vt:lpstr>
      <vt:lpstr>The Linked List Stack</vt:lpstr>
      <vt:lpstr>Mapping Stack Concepts to a Linked List</vt:lpstr>
      <vt:lpstr>Visualizing push in a Linked List Stack</vt:lpstr>
      <vt:lpstr>Visualizing pop in a Linked List Stack</vt:lpstr>
      <vt:lpstr>C++ Code: The Node and Class Structure</vt:lpstr>
      <vt:lpstr>C++ Code: push</vt:lpstr>
      <vt:lpstr>C++ Code: pop</vt:lpstr>
      <vt:lpstr>Analysis of Linked List-Based Stack</vt:lpstr>
      <vt:lpstr>Space Complexity of Linked List-Based Stack</vt:lpstr>
      <vt:lpstr>The Showdown: Array vs. Linked List</vt:lpstr>
      <vt:lpstr>Comparison Table</vt:lpstr>
      <vt:lpstr>Discussion: Which One Should I 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Administrator</dc:creator>
  <cp:lastModifiedBy>Mehran Yousaf</cp:lastModifiedBy>
  <cp:revision>23</cp:revision>
  <dcterms:created xsi:type="dcterms:W3CDTF">2025-09-15T09:02:56Z</dcterms:created>
  <dcterms:modified xsi:type="dcterms:W3CDTF">2025-10-07T05:46:12Z</dcterms:modified>
</cp:coreProperties>
</file>