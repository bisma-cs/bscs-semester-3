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33"/>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3" r:id="rId28"/>
    <p:sldId id="284" r:id="rId29"/>
    <p:sldId id="285" r:id="rId30"/>
    <p:sldId id="286" r:id="rId31"/>
    <p:sldId id="288"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DC72F-581E-4F4A-9010-D01891AB7FCE}" type="datetimeFigureOut">
              <a:rPr lang="en-US" smtClean="0"/>
              <a:t>10/6/2025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58A3EB-13A6-4A6C-B559-6129DD955A1A}" type="slidenum">
              <a:rPr lang="en-US" smtClean="0"/>
              <a:t>‹#›</a:t>
            </a:fld>
            <a:endParaRPr lang="en-US"/>
          </a:p>
        </p:txBody>
      </p:sp>
    </p:spTree>
    <p:extLst>
      <p:ext uri="{BB962C8B-B14F-4D97-AF65-F5344CB8AC3E}">
        <p14:creationId xmlns:p14="http://schemas.microsoft.com/office/powerpoint/2010/main" val="4200591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653786-4DEC-4B83-B748-92ECD0CC9F44}" type="datetime1">
              <a:rPr lang="en-US" smtClean="0"/>
              <a:t>10/6/2025</a:t>
            </a:fld>
            <a:endParaRPr lang="en-US"/>
          </a:p>
        </p:txBody>
      </p:sp>
      <p:sp>
        <p:nvSpPr>
          <p:cNvPr id="5" name="Footer Placeholder 4"/>
          <p:cNvSpPr>
            <a:spLocks noGrp="1"/>
          </p:cNvSpPr>
          <p:nvPr>
            <p:ph type="ftr" sz="quarter" idx="11"/>
          </p:nvPr>
        </p:nvSpPr>
        <p:spPr/>
        <p:txBody>
          <a:bodyPr/>
          <a:lstStyle/>
          <a:p>
            <a:r>
              <a:rPr lang="en-US"/>
              <a:t>CS210 - Data Structures</a:t>
            </a:r>
          </a:p>
        </p:txBody>
      </p:sp>
      <p:sp>
        <p:nvSpPr>
          <p:cNvPr id="6" name="Slide Number Placeholder 5"/>
          <p:cNvSpPr>
            <a:spLocks noGrp="1"/>
          </p:cNvSpPr>
          <p:nvPr>
            <p:ph type="sldNum" sz="quarter" idx="12"/>
          </p:nvPr>
        </p:nvSpPr>
        <p:spPr/>
        <p:txBody>
          <a:bodyPr/>
          <a:lstStyle/>
          <a:p>
            <a:fld id="{CA4F2B70-5880-4CBE-A91F-8076F4F2F1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717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5CD732-2237-4470-813A-BAF5B8FCCBA1}" type="datetime1">
              <a:rPr lang="en-US" smtClean="0"/>
              <a:t>10/6/2025</a:t>
            </a:fld>
            <a:endParaRPr lang="en-US"/>
          </a:p>
        </p:txBody>
      </p:sp>
      <p:sp>
        <p:nvSpPr>
          <p:cNvPr id="5" name="Footer Placeholder 4"/>
          <p:cNvSpPr>
            <a:spLocks noGrp="1"/>
          </p:cNvSpPr>
          <p:nvPr>
            <p:ph type="ftr" sz="quarter" idx="11"/>
          </p:nvPr>
        </p:nvSpPr>
        <p:spPr/>
        <p:txBody>
          <a:bodyPr/>
          <a:lstStyle/>
          <a:p>
            <a:r>
              <a:rPr lang="en-US"/>
              <a:t>CS210 - Data Structures</a:t>
            </a:r>
          </a:p>
        </p:txBody>
      </p:sp>
      <p:sp>
        <p:nvSpPr>
          <p:cNvPr id="6" name="Slide Number Placeholder 5"/>
          <p:cNvSpPr>
            <a:spLocks noGrp="1"/>
          </p:cNvSpPr>
          <p:nvPr>
            <p:ph type="sldNum" sz="quarter" idx="12"/>
          </p:nvPr>
        </p:nvSpPr>
        <p:spPr/>
        <p:txBody>
          <a:bodyPr/>
          <a:lstStyle/>
          <a:p>
            <a:fld id="{CA4F2B70-5880-4CBE-A91F-8076F4F2F151}" type="slidenum">
              <a:rPr lang="en-US" smtClean="0"/>
              <a:t>‹#›</a:t>
            </a:fld>
            <a:endParaRPr lang="en-US"/>
          </a:p>
        </p:txBody>
      </p:sp>
    </p:spTree>
    <p:extLst>
      <p:ext uri="{BB962C8B-B14F-4D97-AF65-F5344CB8AC3E}">
        <p14:creationId xmlns:p14="http://schemas.microsoft.com/office/powerpoint/2010/main" val="214960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A8A6CE2-80DA-4A85-A992-62CC1AA7DAB6}" type="datetime1">
              <a:rPr lang="en-US" smtClean="0"/>
              <a:t>10/6/2025</a:t>
            </a:fld>
            <a:endParaRPr lang="en-US"/>
          </a:p>
        </p:txBody>
      </p:sp>
      <p:sp>
        <p:nvSpPr>
          <p:cNvPr id="5" name="Footer Placeholder 4"/>
          <p:cNvSpPr>
            <a:spLocks noGrp="1"/>
          </p:cNvSpPr>
          <p:nvPr>
            <p:ph type="ftr" sz="quarter" idx="11"/>
          </p:nvPr>
        </p:nvSpPr>
        <p:spPr/>
        <p:txBody>
          <a:bodyPr/>
          <a:lstStyle/>
          <a:p>
            <a:r>
              <a:rPr lang="en-US"/>
              <a:t>CS210 - Data Structures</a:t>
            </a:r>
          </a:p>
        </p:txBody>
      </p:sp>
      <p:sp>
        <p:nvSpPr>
          <p:cNvPr id="6" name="Slide Number Placeholder 5"/>
          <p:cNvSpPr>
            <a:spLocks noGrp="1"/>
          </p:cNvSpPr>
          <p:nvPr>
            <p:ph type="sldNum" sz="quarter" idx="12"/>
          </p:nvPr>
        </p:nvSpPr>
        <p:spPr/>
        <p:txBody>
          <a:bodyPr/>
          <a:lstStyle/>
          <a:p>
            <a:fld id="{CA4F2B70-5880-4CBE-A91F-8076F4F2F1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5179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91D955-EFC5-4F4B-98BA-DDCBAE9F748C}" type="datetime1">
              <a:rPr lang="en-US" smtClean="0"/>
              <a:t>10/6/2025</a:t>
            </a:fld>
            <a:endParaRPr lang="en-US"/>
          </a:p>
        </p:txBody>
      </p:sp>
      <p:sp>
        <p:nvSpPr>
          <p:cNvPr id="6" name="Footer Placeholder 5"/>
          <p:cNvSpPr>
            <a:spLocks noGrp="1"/>
          </p:cNvSpPr>
          <p:nvPr>
            <p:ph type="ftr" sz="quarter" idx="11"/>
          </p:nvPr>
        </p:nvSpPr>
        <p:spPr/>
        <p:txBody>
          <a:bodyPr/>
          <a:lstStyle/>
          <a:p>
            <a:r>
              <a:rPr lang="en-US"/>
              <a:t>CS210 - Data Structures</a:t>
            </a:r>
          </a:p>
        </p:txBody>
      </p:sp>
      <p:sp>
        <p:nvSpPr>
          <p:cNvPr id="7" name="Slide Number Placeholder 6"/>
          <p:cNvSpPr>
            <a:spLocks noGrp="1"/>
          </p:cNvSpPr>
          <p:nvPr>
            <p:ph type="sldNum" sz="quarter" idx="12"/>
          </p:nvPr>
        </p:nvSpPr>
        <p:spPr/>
        <p:txBody>
          <a:bodyPr/>
          <a:lstStyle/>
          <a:p>
            <a:fld id="{CA4F2B70-5880-4CBE-A91F-8076F4F2F151}" type="slidenum">
              <a:rPr lang="en-US" smtClean="0"/>
              <a:t>‹#›</a:t>
            </a:fld>
            <a:endParaRPr lang="en-US"/>
          </a:p>
        </p:txBody>
      </p:sp>
    </p:spTree>
    <p:extLst>
      <p:ext uri="{BB962C8B-B14F-4D97-AF65-F5344CB8AC3E}">
        <p14:creationId xmlns:p14="http://schemas.microsoft.com/office/powerpoint/2010/main" val="3684942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C808DC-B991-45C8-BE8E-03F626AC1B8B}" type="datetime1">
              <a:rPr lang="en-US" smtClean="0"/>
              <a:t>10/6/2025</a:t>
            </a:fld>
            <a:endParaRPr lang="en-US"/>
          </a:p>
        </p:txBody>
      </p:sp>
      <p:sp>
        <p:nvSpPr>
          <p:cNvPr id="8" name="Footer Placeholder 7"/>
          <p:cNvSpPr>
            <a:spLocks noGrp="1"/>
          </p:cNvSpPr>
          <p:nvPr>
            <p:ph type="ftr" sz="quarter" idx="11"/>
          </p:nvPr>
        </p:nvSpPr>
        <p:spPr/>
        <p:txBody>
          <a:bodyPr/>
          <a:lstStyle/>
          <a:p>
            <a:r>
              <a:rPr lang="en-US"/>
              <a:t>CS210 - Data Structures</a:t>
            </a:r>
          </a:p>
        </p:txBody>
      </p:sp>
      <p:sp>
        <p:nvSpPr>
          <p:cNvPr id="9" name="Slide Number Placeholder 8"/>
          <p:cNvSpPr>
            <a:spLocks noGrp="1"/>
          </p:cNvSpPr>
          <p:nvPr>
            <p:ph type="sldNum" sz="quarter" idx="12"/>
          </p:nvPr>
        </p:nvSpPr>
        <p:spPr/>
        <p:txBody>
          <a:bodyPr/>
          <a:lstStyle/>
          <a:p>
            <a:fld id="{CA4F2B70-5880-4CBE-A91F-8076F4F2F151}" type="slidenum">
              <a:rPr lang="en-US" smtClean="0"/>
              <a:t>‹#›</a:t>
            </a:fld>
            <a:endParaRPr lang="en-US"/>
          </a:p>
        </p:txBody>
      </p:sp>
    </p:spTree>
    <p:extLst>
      <p:ext uri="{BB962C8B-B14F-4D97-AF65-F5344CB8AC3E}">
        <p14:creationId xmlns:p14="http://schemas.microsoft.com/office/powerpoint/2010/main" val="2992796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0CF139-91AF-43E9-842C-050822666E1A}" type="datetime1">
              <a:rPr lang="en-US" smtClean="0"/>
              <a:t>10/6/2025</a:t>
            </a:fld>
            <a:endParaRPr lang="en-US"/>
          </a:p>
        </p:txBody>
      </p:sp>
      <p:sp>
        <p:nvSpPr>
          <p:cNvPr id="4" name="Footer Placeholder 3"/>
          <p:cNvSpPr>
            <a:spLocks noGrp="1"/>
          </p:cNvSpPr>
          <p:nvPr>
            <p:ph type="ftr" sz="quarter" idx="11"/>
          </p:nvPr>
        </p:nvSpPr>
        <p:spPr/>
        <p:txBody>
          <a:bodyPr/>
          <a:lstStyle/>
          <a:p>
            <a:r>
              <a:rPr lang="en-US"/>
              <a:t>CS210 - Data Structures</a:t>
            </a:r>
          </a:p>
        </p:txBody>
      </p:sp>
      <p:sp>
        <p:nvSpPr>
          <p:cNvPr id="5" name="Slide Number Placeholder 4"/>
          <p:cNvSpPr>
            <a:spLocks noGrp="1"/>
          </p:cNvSpPr>
          <p:nvPr>
            <p:ph type="sldNum" sz="quarter" idx="12"/>
          </p:nvPr>
        </p:nvSpPr>
        <p:spPr/>
        <p:txBody>
          <a:bodyPr/>
          <a:lstStyle/>
          <a:p>
            <a:fld id="{CA4F2B70-5880-4CBE-A91F-8076F4F2F151}" type="slidenum">
              <a:rPr lang="en-US" smtClean="0"/>
              <a:t>‹#›</a:t>
            </a:fld>
            <a:endParaRPr lang="en-US"/>
          </a:p>
        </p:txBody>
      </p:sp>
    </p:spTree>
    <p:extLst>
      <p:ext uri="{BB962C8B-B14F-4D97-AF65-F5344CB8AC3E}">
        <p14:creationId xmlns:p14="http://schemas.microsoft.com/office/powerpoint/2010/main" val="66537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C20081F-C614-41E1-A2C0-4BADDE99BE3E}" type="datetime1">
              <a:rPr lang="en-US" smtClean="0"/>
              <a:t>10/6/2025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CS210 - Data Structures</a:t>
            </a:r>
          </a:p>
        </p:txBody>
      </p:sp>
      <p:sp>
        <p:nvSpPr>
          <p:cNvPr id="9" name="Slide Number Placeholder 8"/>
          <p:cNvSpPr>
            <a:spLocks noGrp="1"/>
          </p:cNvSpPr>
          <p:nvPr>
            <p:ph type="sldNum" sz="quarter" idx="12"/>
          </p:nvPr>
        </p:nvSpPr>
        <p:spPr/>
        <p:txBody>
          <a:bodyPr/>
          <a:lstStyle/>
          <a:p>
            <a:fld id="{CA4F2B70-5880-4CBE-A91F-8076F4F2F151}" type="slidenum">
              <a:rPr lang="en-US" smtClean="0"/>
              <a:t>‹#›</a:t>
            </a:fld>
            <a:endParaRPr lang="en-US"/>
          </a:p>
        </p:txBody>
      </p:sp>
    </p:spTree>
    <p:extLst>
      <p:ext uri="{BB962C8B-B14F-4D97-AF65-F5344CB8AC3E}">
        <p14:creationId xmlns:p14="http://schemas.microsoft.com/office/powerpoint/2010/main" val="2906957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5366D91-BCDA-4E5D-840E-36A2AEB35808}" type="datetime1">
              <a:rPr lang="en-US" smtClean="0"/>
              <a:t>10/6/2025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CS210 - Data Structures</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4F2B70-5880-4CBE-A91F-8076F4F2F151}" type="slidenum">
              <a:rPr lang="en-US" smtClean="0"/>
              <a:t>‹#›</a:t>
            </a:fld>
            <a:endParaRPr lang="en-US"/>
          </a:p>
        </p:txBody>
      </p:sp>
    </p:spTree>
    <p:extLst>
      <p:ext uri="{BB962C8B-B14F-4D97-AF65-F5344CB8AC3E}">
        <p14:creationId xmlns:p14="http://schemas.microsoft.com/office/powerpoint/2010/main" val="672388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3C90472-508B-4316-96A0-44422A762A58}" type="datetime1">
              <a:rPr lang="en-US" smtClean="0"/>
              <a:t>10/6/2025</a:t>
            </a:fld>
            <a:endParaRPr lang="en-US"/>
          </a:p>
        </p:txBody>
      </p:sp>
      <p:sp>
        <p:nvSpPr>
          <p:cNvPr id="6" name="Footer Placeholder 5"/>
          <p:cNvSpPr>
            <a:spLocks noGrp="1"/>
          </p:cNvSpPr>
          <p:nvPr>
            <p:ph type="ftr" sz="quarter" idx="11"/>
          </p:nvPr>
        </p:nvSpPr>
        <p:spPr/>
        <p:txBody>
          <a:bodyPr/>
          <a:lstStyle/>
          <a:p>
            <a:r>
              <a:rPr lang="en-US"/>
              <a:t>CS210 - Data Structures</a:t>
            </a:r>
          </a:p>
        </p:txBody>
      </p:sp>
      <p:sp>
        <p:nvSpPr>
          <p:cNvPr id="7" name="Slide Number Placeholder 6"/>
          <p:cNvSpPr>
            <a:spLocks noGrp="1"/>
          </p:cNvSpPr>
          <p:nvPr>
            <p:ph type="sldNum" sz="quarter" idx="12"/>
          </p:nvPr>
        </p:nvSpPr>
        <p:spPr/>
        <p:txBody>
          <a:bodyPr/>
          <a:lstStyle/>
          <a:p>
            <a:fld id="{CA4F2B70-5880-4CBE-A91F-8076F4F2F151}" type="slidenum">
              <a:rPr lang="en-US" smtClean="0"/>
              <a:t>‹#›</a:t>
            </a:fld>
            <a:endParaRPr lang="en-US"/>
          </a:p>
        </p:txBody>
      </p:sp>
    </p:spTree>
    <p:extLst>
      <p:ext uri="{BB962C8B-B14F-4D97-AF65-F5344CB8AC3E}">
        <p14:creationId xmlns:p14="http://schemas.microsoft.com/office/powerpoint/2010/main" val="2650841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D82452-F982-435A-B65E-9011E64493A8}" type="datetime1">
              <a:rPr lang="en-US" smtClean="0"/>
              <a:t>10/6/2025</a:t>
            </a:fld>
            <a:endParaRPr lang="en-US"/>
          </a:p>
        </p:txBody>
      </p:sp>
      <p:sp>
        <p:nvSpPr>
          <p:cNvPr id="5" name="Footer Placeholder 4"/>
          <p:cNvSpPr>
            <a:spLocks noGrp="1"/>
          </p:cNvSpPr>
          <p:nvPr>
            <p:ph type="ftr" sz="quarter" idx="11"/>
          </p:nvPr>
        </p:nvSpPr>
        <p:spPr/>
        <p:txBody>
          <a:bodyPr/>
          <a:lstStyle/>
          <a:p>
            <a:r>
              <a:rPr lang="en-US"/>
              <a:t>CS210 - Data Structures</a:t>
            </a:r>
          </a:p>
        </p:txBody>
      </p:sp>
      <p:sp>
        <p:nvSpPr>
          <p:cNvPr id="6" name="Slide Number Placeholder 5"/>
          <p:cNvSpPr>
            <a:spLocks noGrp="1"/>
          </p:cNvSpPr>
          <p:nvPr>
            <p:ph type="sldNum" sz="quarter" idx="12"/>
          </p:nvPr>
        </p:nvSpPr>
        <p:spPr/>
        <p:txBody>
          <a:bodyPr/>
          <a:lstStyle/>
          <a:p>
            <a:fld id="{CA4F2B70-5880-4CBE-A91F-8076F4F2F151}" type="slidenum">
              <a:rPr lang="en-US" smtClean="0"/>
              <a:t>‹#›</a:t>
            </a:fld>
            <a:endParaRPr lang="en-US"/>
          </a:p>
        </p:txBody>
      </p:sp>
    </p:spTree>
    <p:extLst>
      <p:ext uri="{BB962C8B-B14F-4D97-AF65-F5344CB8AC3E}">
        <p14:creationId xmlns:p14="http://schemas.microsoft.com/office/powerpoint/2010/main" val="1019022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B14ADF-2AD0-45DC-B864-3957ED39BB00}" type="datetime1">
              <a:rPr lang="en-US" smtClean="0"/>
              <a:t>10/6/2025</a:t>
            </a:fld>
            <a:endParaRPr lang="en-US"/>
          </a:p>
        </p:txBody>
      </p:sp>
      <p:sp>
        <p:nvSpPr>
          <p:cNvPr id="5" name="Footer Placeholder 4"/>
          <p:cNvSpPr>
            <a:spLocks noGrp="1"/>
          </p:cNvSpPr>
          <p:nvPr>
            <p:ph type="ftr" sz="quarter" idx="11"/>
          </p:nvPr>
        </p:nvSpPr>
        <p:spPr/>
        <p:txBody>
          <a:bodyPr/>
          <a:lstStyle/>
          <a:p>
            <a:r>
              <a:rPr lang="en-US"/>
              <a:t>CS210 - Data Structures</a:t>
            </a:r>
          </a:p>
        </p:txBody>
      </p:sp>
      <p:sp>
        <p:nvSpPr>
          <p:cNvPr id="6" name="Slide Number Placeholder 5"/>
          <p:cNvSpPr>
            <a:spLocks noGrp="1"/>
          </p:cNvSpPr>
          <p:nvPr>
            <p:ph type="sldNum" sz="quarter" idx="12"/>
          </p:nvPr>
        </p:nvSpPr>
        <p:spPr/>
        <p:txBody>
          <a:bodyPr/>
          <a:lstStyle/>
          <a:p>
            <a:fld id="{CA4F2B70-5880-4CBE-A91F-8076F4F2F151}" type="slidenum">
              <a:rPr lang="en-US" smtClean="0"/>
              <a:t>‹#›</a:t>
            </a:fld>
            <a:endParaRPr lang="en-US"/>
          </a:p>
        </p:txBody>
      </p:sp>
    </p:spTree>
    <p:extLst>
      <p:ext uri="{BB962C8B-B14F-4D97-AF65-F5344CB8AC3E}">
        <p14:creationId xmlns:p14="http://schemas.microsoft.com/office/powerpoint/2010/main" val="1502826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0614BB1-5CBA-4BE0-8711-AACF380417F5}" type="datetime1">
              <a:rPr lang="en-US" smtClean="0"/>
              <a:t>10/6/2025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CS210 - Data Structures</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A4F2B70-5880-4CBE-A91F-8076F4F2F15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933473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Data Structures</a:t>
            </a:r>
          </a:p>
        </p:txBody>
      </p:sp>
      <p:sp>
        <p:nvSpPr>
          <p:cNvPr id="3" name="Subtitle 2"/>
          <p:cNvSpPr>
            <a:spLocks noGrp="1"/>
          </p:cNvSpPr>
          <p:nvPr>
            <p:ph type="subTitle" idx="1"/>
          </p:nvPr>
        </p:nvSpPr>
        <p:spPr/>
        <p:txBody>
          <a:bodyPr/>
          <a:lstStyle/>
          <a:p>
            <a:r>
              <a:rPr lang="en-US" dirty="0"/>
              <a:t>Lecture 03</a:t>
            </a:r>
          </a:p>
        </p:txBody>
      </p:sp>
      <p:sp>
        <p:nvSpPr>
          <p:cNvPr id="4" name="Footer Placeholder 3"/>
          <p:cNvSpPr>
            <a:spLocks noGrp="1"/>
          </p:cNvSpPr>
          <p:nvPr>
            <p:ph type="ftr" sz="quarter" idx="11"/>
          </p:nvPr>
        </p:nvSpPr>
        <p:spPr/>
        <p:txBody>
          <a:bodyPr/>
          <a:lstStyle/>
          <a:p>
            <a:r>
              <a:rPr lang="en-US"/>
              <a:t>CS210 - Data Structures</a:t>
            </a:r>
          </a:p>
        </p:txBody>
      </p:sp>
      <p:sp>
        <p:nvSpPr>
          <p:cNvPr id="5" name="Slide Number Placeholder 4"/>
          <p:cNvSpPr>
            <a:spLocks noGrp="1"/>
          </p:cNvSpPr>
          <p:nvPr>
            <p:ph type="sldNum" sz="quarter" idx="12"/>
          </p:nvPr>
        </p:nvSpPr>
        <p:spPr/>
        <p:txBody>
          <a:bodyPr/>
          <a:lstStyle/>
          <a:p>
            <a:fld id="{CA4F2B70-5880-4CBE-A91F-8076F4F2F151}" type="slidenum">
              <a:rPr lang="en-US" smtClean="0"/>
              <a:t>1</a:t>
            </a:fld>
            <a:endParaRPr lang="en-US"/>
          </a:p>
        </p:txBody>
      </p:sp>
    </p:spTree>
    <p:extLst>
      <p:ext uri="{BB962C8B-B14F-4D97-AF65-F5344CB8AC3E}">
        <p14:creationId xmlns:p14="http://schemas.microsoft.com/office/powerpoint/2010/main" val="4049819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8EBE-269C-7F24-0577-E104B3FD858B}"/>
              </a:ext>
            </a:extLst>
          </p:cNvPr>
          <p:cNvSpPr>
            <a:spLocks noGrp="1"/>
          </p:cNvSpPr>
          <p:nvPr>
            <p:ph type="title"/>
          </p:nvPr>
        </p:nvSpPr>
        <p:spPr/>
        <p:txBody>
          <a:bodyPr/>
          <a:lstStyle/>
          <a:p>
            <a:r>
              <a:rPr lang="en-GB" b="1" dirty="0"/>
              <a:t>Introduction to Stacks</a:t>
            </a:r>
            <a:endParaRPr lang="en-GB" dirty="0"/>
          </a:p>
        </p:txBody>
      </p:sp>
      <p:sp>
        <p:nvSpPr>
          <p:cNvPr id="4" name="Footer Placeholder 3">
            <a:extLst>
              <a:ext uri="{FF2B5EF4-FFF2-40B4-BE49-F238E27FC236}">
                <a16:creationId xmlns:a16="http://schemas.microsoft.com/office/drawing/2014/main" id="{0296BEDE-CEF3-D0C2-9F8C-AE1594EA413C}"/>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7ACC5C2D-36A5-6498-456B-77716AD4E7E2}"/>
              </a:ext>
            </a:extLst>
          </p:cNvPr>
          <p:cNvSpPr>
            <a:spLocks noGrp="1"/>
          </p:cNvSpPr>
          <p:nvPr>
            <p:ph type="sldNum" sz="quarter" idx="12"/>
          </p:nvPr>
        </p:nvSpPr>
        <p:spPr/>
        <p:txBody>
          <a:bodyPr/>
          <a:lstStyle/>
          <a:p>
            <a:fld id="{CA4F2B70-5880-4CBE-A91F-8076F4F2F151}" type="slidenum">
              <a:rPr lang="en-US" smtClean="0"/>
              <a:t>2</a:t>
            </a:fld>
            <a:endParaRPr lang="en-US"/>
          </a:p>
        </p:txBody>
      </p:sp>
    </p:spTree>
    <p:extLst>
      <p:ext uri="{BB962C8B-B14F-4D97-AF65-F5344CB8AC3E}">
        <p14:creationId xmlns:p14="http://schemas.microsoft.com/office/powerpoint/2010/main" val="742351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9D17-BBCD-CB07-9B5E-FF9E6D41435F}"/>
              </a:ext>
            </a:extLst>
          </p:cNvPr>
          <p:cNvSpPr>
            <a:spLocks noGrp="1"/>
          </p:cNvSpPr>
          <p:nvPr>
            <p:ph type="title"/>
          </p:nvPr>
        </p:nvSpPr>
        <p:spPr/>
        <p:txBody>
          <a:bodyPr/>
          <a:lstStyle/>
          <a:p>
            <a:r>
              <a:rPr lang="en-US" dirty="0"/>
              <a:t>Topics to be covered</a:t>
            </a:r>
            <a:endParaRPr lang="en-GB" dirty="0"/>
          </a:p>
        </p:txBody>
      </p:sp>
      <p:sp>
        <p:nvSpPr>
          <p:cNvPr id="3" name="Content Placeholder 2">
            <a:extLst>
              <a:ext uri="{FF2B5EF4-FFF2-40B4-BE49-F238E27FC236}">
                <a16:creationId xmlns:a16="http://schemas.microsoft.com/office/drawing/2014/main" id="{DDC3D4AB-4BF6-3791-AD83-1F3A0192B9D2}"/>
              </a:ext>
            </a:extLst>
          </p:cNvPr>
          <p:cNvSpPr>
            <a:spLocks noGrp="1"/>
          </p:cNvSpPr>
          <p:nvPr>
            <p:ph idx="1"/>
          </p:nvPr>
        </p:nvSpPr>
        <p:spPr/>
        <p:txBody>
          <a:bodyPr/>
          <a:lstStyle/>
          <a:p>
            <a:pPr fontAlgn="base"/>
            <a:r>
              <a:rPr lang="en-GB" b="1" dirty="0"/>
              <a:t>The Big Picture:</a:t>
            </a:r>
            <a:r>
              <a:rPr lang="en-GB" dirty="0"/>
              <a:t> What are Abstract Data Types (ADTs)?</a:t>
            </a:r>
          </a:p>
          <a:p>
            <a:pPr fontAlgn="base"/>
            <a:r>
              <a:rPr lang="en-GB" b="1" dirty="0"/>
              <a:t>Introducing the Stack:</a:t>
            </a:r>
            <a:r>
              <a:rPr lang="en-GB" dirty="0"/>
              <a:t> A fundamental LIFO structure.</a:t>
            </a:r>
          </a:p>
          <a:p>
            <a:pPr fontAlgn="base"/>
            <a:r>
              <a:rPr lang="en-GB" b="1" dirty="0"/>
              <a:t>Implementation Deep Dive 1: The Array-Based Stack</a:t>
            </a:r>
            <a:endParaRPr lang="en-GB" dirty="0"/>
          </a:p>
          <a:p>
            <a:pPr lvl="1" fontAlgn="base"/>
            <a:r>
              <a:rPr lang="en-GB" dirty="0"/>
              <a:t>How it works, C++ code, and performance analysis.</a:t>
            </a:r>
          </a:p>
          <a:p>
            <a:pPr lvl="1" fontAlgn="base"/>
            <a:r>
              <a:rPr lang="en-GB" dirty="0"/>
              <a:t>Strengths and the critical weakness: </a:t>
            </a:r>
            <a:r>
              <a:rPr lang="en-GB" b="1" dirty="0"/>
              <a:t>fixed size</a:t>
            </a:r>
            <a:r>
              <a:rPr lang="en-GB" dirty="0"/>
              <a:t>.</a:t>
            </a:r>
          </a:p>
          <a:p>
            <a:pPr fontAlgn="base"/>
            <a:r>
              <a:rPr lang="en-GB" b="1" dirty="0"/>
              <a:t>Implementation Deep Dive 2: The Linked List-Based Stack</a:t>
            </a:r>
            <a:endParaRPr lang="en-GB" dirty="0"/>
          </a:p>
          <a:p>
            <a:pPr lvl="1" fontAlgn="base"/>
            <a:r>
              <a:rPr lang="en-GB" dirty="0"/>
              <a:t>Solving the size problem with dynamic memory.</a:t>
            </a:r>
          </a:p>
          <a:p>
            <a:pPr lvl="1" fontAlgn="base"/>
            <a:r>
              <a:rPr lang="en-GB" dirty="0"/>
              <a:t>C++ code and performance analysis.</a:t>
            </a:r>
          </a:p>
          <a:p>
            <a:r>
              <a:rPr lang="en-GB" b="1" dirty="0"/>
              <a:t>The Showdown:</a:t>
            </a:r>
            <a:r>
              <a:rPr lang="en-GB" dirty="0"/>
              <a:t> Array vs. Linked List Stacks.</a:t>
            </a:r>
          </a:p>
        </p:txBody>
      </p:sp>
      <p:sp>
        <p:nvSpPr>
          <p:cNvPr id="4" name="Footer Placeholder 3">
            <a:extLst>
              <a:ext uri="{FF2B5EF4-FFF2-40B4-BE49-F238E27FC236}">
                <a16:creationId xmlns:a16="http://schemas.microsoft.com/office/drawing/2014/main" id="{FB914834-3BF8-40B8-32B1-8C4D02B68B62}"/>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41206CE6-D0F3-CB10-9E84-22DED13F6FF5}"/>
              </a:ext>
            </a:extLst>
          </p:cNvPr>
          <p:cNvSpPr>
            <a:spLocks noGrp="1"/>
          </p:cNvSpPr>
          <p:nvPr>
            <p:ph type="sldNum" sz="quarter" idx="12"/>
          </p:nvPr>
        </p:nvSpPr>
        <p:spPr/>
        <p:txBody>
          <a:bodyPr/>
          <a:lstStyle/>
          <a:p>
            <a:fld id="{CA4F2B70-5880-4CBE-A91F-8076F4F2F151}" type="slidenum">
              <a:rPr lang="en-US" smtClean="0"/>
              <a:t>3</a:t>
            </a:fld>
            <a:endParaRPr lang="en-US"/>
          </a:p>
        </p:txBody>
      </p:sp>
    </p:spTree>
    <p:extLst>
      <p:ext uri="{BB962C8B-B14F-4D97-AF65-F5344CB8AC3E}">
        <p14:creationId xmlns:p14="http://schemas.microsoft.com/office/powerpoint/2010/main" val="1069538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D2D40-C4CF-B7B9-4CF0-274F7150725D}"/>
              </a:ext>
            </a:extLst>
          </p:cNvPr>
          <p:cNvSpPr>
            <a:spLocks noGrp="1"/>
          </p:cNvSpPr>
          <p:nvPr>
            <p:ph type="title"/>
          </p:nvPr>
        </p:nvSpPr>
        <p:spPr/>
        <p:txBody>
          <a:bodyPr/>
          <a:lstStyle/>
          <a:p>
            <a:r>
              <a:rPr lang="en-GB" b="1" dirty="0"/>
              <a:t>What is an Abstract Data Type (ADT)?</a:t>
            </a:r>
            <a:endParaRPr lang="en-GB" dirty="0"/>
          </a:p>
        </p:txBody>
      </p:sp>
      <p:sp>
        <p:nvSpPr>
          <p:cNvPr id="3" name="Content Placeholder 2">
            <a:extLst>
              <a:ext uri="{FF2B5EF4-FFF2-40B4-BE49-F238E27FC236}">
                <a16:creationId xmlns:a16="http://schemas.microsoft.com/office/drawing/2014/main" id="{3B72D1BC-1260-6359-5838-25E29822B9EE}"/>
              </a:ext>
            </a:extLst>
          </p:cNvPr>
          <p:cNvSpPr>
            <a:spLocks noGrp="1"/>
          </p:cNvSpPr>
          <p:nvPr>
            <p:ph idx="1"/>
          </p:nvPr>
        </p:nvSpPr>
        <p:spPr/>
        <p:txBody>
          <a:bodyPr/>
          <a:lstStyle/>
          <a:p>
            <a:r>
              <a:rPr lang="en-GB" dirty="0"/>
              <a:t>An ADT is a </a:t>
            </a:r>
            <a:r>
              <a:rPr lang="en-GB" b="1" dirty="0"/>
              <a:t>mathematical model</a:t>
            </a:r>
            <a:r>
              <a:rPr lang="en-GB" dirty="0"/>
              <a:t> for a data type. It's a blueprint that specifies:</a:t>
            </a:r>
          </a:p>
          <a:p>
            <a:pPr marL="749808" lvl="1" indent="-457200" fontAlgn="base">
              <a:buFont typeface="+mj-lt"/>
              <a:buAutoNum type="arabicPeriod"/>
            </a:pPr>
            <a:r>
              <a:rPr lang="en-GB" b="1" dirty="0"/>
              <a:t>Data:</a:t>
            </a:r>
            <a:r>
              <a:rPr lang="en-GB" dirty="0"/>
              <a:t> What kind of information is stored? (e.g., a collection of integers).</a:t>
            </a:r>
          </a:p>
          <a:p>
            <a:pPr marL="749808" lvl="1" indent="-457200" fontAlgn="base">
              <a:buFont typeface="+mj-lt"/>
              <a:buAutoNum type="arabicPeriod"/>
            </a:pPr>
            <a:r>
              <a:rPr lang="en-GB" b="1" dirty="0"/>
              <a:t>Operations:</a:t>
            </a:r>
            <a:r>
              <a:rPr lang="en-GB" dirty="0"/>
              <a:t> What can you </a:t>
            </a:r>
            <a:r>
              <a:rPr lang="en-GB" i="1" dirty="0"/>
              <a:t>do</a:t>
            </a:r>
            <a:r>
              <a:rPr lang="en-GB" dirty="0"/>
              <a:t> with that data? (e.g., add an item, remove an item).</a:t>
            </a:r>
          </a:p>
          <a:p>
            <a:r>
              <a:rPr lang="en-GB" dirty="0"/>
              <a:t>Crucially, an ADT defines what a data structure does, not how it does it.</a:t>
            </a:r>
          </a:p>
          <a:p>
            <a:r>
              <a:rPr lang="en-GB" dirty="0"/>
              <a:t>The "how" is the implementation.</a:t>
            </a:r>
          </a:p>
          <a:p>
            <a:br>
              <a:rPr lang="en-GB" dirty="0"/>
            </a:br>
            <a:endParaRPr lang="en-GB" dirty="0"/>
          </a:p>
        </p:txBody>
      </p:sp>
      <p:sp>
        <p:nvSpPr>
          <p:cNvPr id="4" name="Footer Placeholder 3">
            <a:extLst>
              <a:ext uri="{FF2B5EF4-FFF2-40B4-BE49-F238E27FC236}">
                <a16:creationId xmlns:a16="http://schemas.microsoft.com/office/drawing/2014/main" id="{3A8E8853-B8BC-38C6-7ADE-D3A16D0C4D57}"/>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B8BE9DE8-87D2-C2FE-F62A-11DB9275DEC1}"/>
              </a:ext>
            </a:extLst>
          </p:cNvPr>
          <p:cNvSpPr>
            <a:spLocks noGrp="1"/>
          </p:cNvSpPr>
          <p:nvPr>
            <p:ph type="sldNum" sz="quarter" idx="12"/>
          </p:nvPr>
        </p:nvSpPr>
        <p:spPr/>
        <p:txBody>
          <a:bodyPr/>
          <a:lstStyle/>
          <a:p>
            <a:fld id="{CA4F2B70-5880-4CBE-A91F-8076F4F2F151}" type="slidenum">
              <a:rPr lang="en-US" smtClean="0"/>
              <a:t>4</a:t>
            </a:fld>
            <a:endParaRPr lang="en-US"/>
          </a:p>
        </p:txBody>
      </p:sp>
    </p:spTree>
    <p:extLst>
      <p:ext uri="{BB962C8B-B14F-4D97-AF65-F5344CB8AC3E}">
        <p14:creationId xmlns:p14="http://schemas.microsoft.com/office/powerpoint/2010/main" val="4107956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F0020-6627-55E6-9913-226D30523DB2}"/>
              </a:ext>
            </a:extLst>
          </p:cNvPr>
          <p:cNvSpPr>
            <a:spLocks noGrp="1"/>
          </p:cNvSpPr>
          <p:nvPr>
            <p:ph type="title"/>
          </p:nvPr>
        </p:nvSpPr>
        <p:spPr/>
        <p:txBody>
          <a:bodyPr/>
          <a:lstStyle/>
          <a:p>
            <a:r>
              <a:rPr lang="en-GB" b="1" dirty="0"/>
              <a:t>Linear vs. Non-Linear Data Structures</a:t>
            </a:r>
            <a:endParaRPr lang="en-GB" dirty="0"/>
          </a:p>
        </p:txBody>
      </p:sp>
      <p:sp>
        <p:nvSpPr>
          <p:cNvPr id="3" name="Content Placeholder 2">
            <a:extLst>
              <a:ext uri="{FF2B5EF4-FFF2-40B4-BE49-F238E27FC236}">
                <a16:creationId xmlns:a16="http://schemas.microsoft.com/office/drawing/2014/main" id="{24A3B4EA-C88E-677F-FFF0-F59D8163ABD9}"/>
              </a:ext>
            </a:extLst>
          </p:cNvPr>
          <p:cNvSpPr>
            <a:spLocks noGrp="1"/>
          </p:cNvSpPr>
          <p:nvPr>
            <p:ph idx="1"/>
          </p:nvPr>
        </p:nvSpPr>
        <p:spPr/>
        <p:txBody>
          <a:bodyPr/>
          <a:lstStyle/>
          <a:p>
            <a:pPr fontAlgn="base"/>
            <a:r>
              <a:rPr lang="en-GB" b="1" dirty="0"/>
              <a:t>Linear Data Structures:</a:t>
            </a:r>
            <a:r>
              <a:rPr lang="en-GB" dirty="0"/>
              <a:t> Elements are arranged in a sequential or linear order.</a:t>
            </a:r>
          </a:p>
          <a:p>
            <a:pPr lvl="1" fontAlgn="base"/>
            <a:r>
              <a:rPr lang="en-GB" dirty="0"/>
              <a:t>Examples: Arrays, </a:t>
            </a:r>
            <a:r>
              <a:rPr lang="en-GB" b="1" dirty="0"/>
              <a:t>Stacks</a:t>
            </a:r>
            <a:r>
              <a:rPr lang="en-GB" dirty="0"/>
              <a:t>, Queues, Linked Lists.</a:t>
            </a:r>
          </a:p>
          <a:p>
            <a:pPr lvl="1" fontAlgn="base"/>
            <a:r>
              <a:rPr lang="en-GB" dirty="0"/>
              <a:t>You can traverse them from start to finish.</a:t>
            </a:r>
          </a:p>
          <a:p>
            <a:pPr fontAlgn="base"/>
            <a:r>
              <a:rPr lang="en-GB" b="1" dirty="0"/>
              <a:t>Non-Linear Data Structures:</a:t>
            </a:r>
            <a:r>
              <a:rPr lang="en-GB" dirty="0"/>
              <a:t> Elements are arranged in a hierarchical or connected manner.</a:t>
            </a:r>
          </a:p>
          <a:p>
            <a:pPr lvl="1" fontAlgn="base"/>
            <a:r>
              <a:rPr lang="en-GB" dirty="0"/>
              <a:t>Examples: Trees, Graphs.</a:t>
            </a:r>
          </a:p>
          <a:p>
            <a:pPr lvl="1" fontAlgn="base"/>
            <a:r>
              <a:rPr lang="en-GB" dirty="0"/>
              <a:t>Traversal is more complex.</a:t>
            </a:r>
          </a:p>
          <a:p>
            <a:r>
              <a:rPr lang="en-GB" dirty="0"/>
              <a:t>Today, we focus on the </a:t>
            </a:r>
            <a:r>
              <a:rPr lang="en-GB" b="1" dirty="0"/>
              <a:t>Stack</a:t>
            </a:r>
            <a:r>
              <a:rPr lang="en-GB" dirty="0"/>
              <a:t>, a simple but powerful linear structure.</a:t>
            </a:r>
          </a:p>
        </p:txBody>
      </p:sp>
      <p:sp>
        <p:nvSpPr>
          <p:cNvPr id="4" name="Footer Placeholder 3">
            <a:extLst>
              <a:ext uri="{FF2B5EF4-FFF2-40B4-BE49-F238E27FC236}">
                <a16:creationId xmlns:a16="http://schemas.microsoft.com/office/drawing/2014/main" id="{6102ADFE-6C9F-3387-3C61-6D7F09F2E336}"/>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B2693B33-9EAC-6356-A241-90267CB81CA1}"/>
              </a:ext>
            </a:extLst>
          </p:cNvPr>
          <p:cNvSpPr>
            <a:spLocks noGrp="1"/>
          </p:cNvSpPr>
          <p:nvPr>
            <p:ph type="sldNum" sz="quarter" idx="12"/>
          </p:nvPr>
        </p:nvSpPr>
        <p:spPr/>
        <p:txBody>
          <a:bodyPr/>
          <a:lstStyle/>
          <a:p>
            <a:fld id="{CA4F2B70-5880-4CBE-A91F-8076F4F2F151}" type="slidenum">
              <a:rPr lang="en-US" smtClean="0"/>
              <a:t>5</a:t>
            </a:fld>
            <a:endParaRPr lang="en-US"/>
          </a:p>
        </p:txBody>
      </p:sp>
    </p:spTree>
    <p:extLst>
      <p:ext uri="{BB962C8B-B14F-4D97-AF65-F5344CB8AC3E}">
        <p14:creationId xmlns:p14="http://schemas.microsoft.com/office/powerpoint/2010/main" val="3616820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A2F09-2CFA-3511-BE00-A39E5A6EAC75}"/>
              </a:ext>
            </a:extLst>
          </p:cNvPr>
          <p:cNvSpPr>
            <a:spLocks noGrp="1"/>
          </p:cNvSpPr>
          <p:nvPr>
            <p:ph type="title"/>
          </p:nvPr>
        </p:nvSpPr>
        <p:spPr/>
        <p:txBody>
          <a:bodyPr/>
          <a:lstStyle/>
          <a:p>
            <a:r>
              <a:rPr lang="en-GB" b="1" dirty="0"/>
              <a:t>The Stack ADT: Conceptual Model</a:t>
            </a:r>
            <a:endParaRPr lang="en-GB" dirty="0"/>
          </a:p>
        </p:txBody>
      </p:sp>
      <p:sp>
        <p:nvSpPr>
          <p:cNvPr id="3" name="Content Placeholder 2">
            <a:extLst>
              <a:ext uri="{FF2B5EF4-FFF2-40B4-BE49-F238E27FC236}">
                <a16:creationId xmlns:a16="http://schemas.microsoft.com/office/drawing/2014/main" id="{A4E54A2E-352E-2CB7-F7D6-F575133E36B1}"/>
              </a:ext>
            </a:extLst>
          </p:cNvPr>
          <p:cNvSpPr>
            <a:spLocks noGrp="1"/>
          </p:cNvSpPr>
          <p:nvPr>
            <p:ph idx="1"/>
          </p:nvPr>
        </p:nvSpPr>
        <p:spPr/>
        <p:txBody>
          <a:bodyPr/>
          <a:lstStyle/>
          <a:p>
            <a:r>
              <a:rPr lang="en-GB" dirty="0"/>
              <a:t>A stack is a linear data structure that follows the </a:t>
            </a:r>
            <a:r>
              <a:rPr lang="en-GB" b="1" dirty="0"/>
              <a:t>LIFO (Last-In, First-Out)</a:t>
            </a:r>
            <a:r>
              <a:rPr lang="en-GB" dirty="0"/>
              <a:t> principle.</a:t>
            </a:r>
          </a:p>
          <a:p>
            <a:r>
              <a:rPr lang="en-GB" dirty="0"/>
              <a:t>Think of a stack of plates. You can only:</a:t>
            </a:r>
          </a:p>
          <a:p>
            <a:pPr lvl="1" fontAlgn="base"/>
            <a:r>
              <a:rPr lang="en-GB" dirty="0"/>
              <a:t>Add a new plate to the </a:t>
            </a:r>
            <a:r>
              <a:rPr lang="en-GB" b="1" dirty="0"/>
              <a:t>top</a:t>
            </a:r>
            <a:r>
              <a:rPr lang="en-GB" dirty="0"/>
              <a:t>.</a:t>
            </a:r>
          </a:p>
          <a:p>
            <a:pPr lvl="1" fontAlgn="base"/>
            <a:r>
              <a:rPr lang="en-GB" dirty="0"/>
              <a:t>Remove a plate from the </a:t>
            </a:r>
            <a:r>
              <a:rPr lang="en-GB" b="1" dirty="0"/>
              <a:t>top</a:t>
            </a:r>
            <a:r>
              <a:rPr lang="en-GB" dirty="0"/>
              <a:t>.</a:t>
            </a:r>
          </a:p>
          <a:p>
            <a:r>
              <a:rPr lang="en-GB" dirty="0"/>
              <a:t>You can't take a plate from the middle or bottom without removing the ones on top first. The last plate you put on is the first one you take off.</a:t>
            </a:r>
          </a:p>
          <a:p>
            <a:br>
              <a:rPr lang="en-GB" dirty="0"/>
            </a:br>
            <a:endParaRPr lang="en-GB" dirty="0"/>
          </a:p>
        </p:txBody>
      </p:sp>
      <p:sp>
        <p:nvSpPr>
          <p:cNvPr id="4" name="Footer Placeholder 3">
            <a:extLst>
              <a:ext uri="{FF2B5EF4-FFF2-40B4-BE49-F238E27FC236}">
                <a16:creationId xmlns:a16="http://schemas.microsoft.com/office/drawing/2014/main" id="{56A310BD-53A8-7C90-AA85-034115FE132B}"/>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6A67EB06-C428-E96F-5421-15CDEACB5F74}"/>
              </a:ext>
            </a:extLst>
          </p:cNvPr>
          <p:cNvSpPr>
            <a:spLocks noGrp="1"/>
          </p:cNvSpPr>
          <p:nvPr>
            <p:ph type="sldNum" sz="quarter" idx="12"/>
          </p:nvPr>
        </p:nvSpPr>
        <p:spPr/>
        <p:txBody>
          <a:bodyPr/>
          <a:lstStyle/>
          <a:p>
            <a:fld id="{CA4F2B70-5880-4CBE-A91F-8076F4F2F151}" type="slidenum">
              <a:rPr lang="en-US" smtClean="0"/>
              <a:t>6</a:t>
            </a:fld>
            <a:endParaRPr lang="en-US"/>
          </a:p>
        </p:txBody>
      </p:sp>
    </p:spTree>
    <p:extLst>
      <p:ext uri="{BB962C8B-B14F-4D97-AF65-F5344CB8AC3E}">
        <p14:creationId xmlns:p14="http://schemas.microsoft.com/office/powerpoint/2010/main" val="3898396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26B34-0078-AEE9-53A4-9920208D3BDB}"/>
              </a:ext>
            </a:extLst>
          </p:cNvPr>
          <p:cNvSpPr>
            <a:spLocks noGrp="1"/>
          </p:cNvSpPr>
          <p:nvPr>
            <p:ph type="title"/>
          </p:nvPr>
        </p:nvSpPr>
        <p:spPr/>
        <p:txBody>
          <a:bodyPr/>
          <a:lstStyle/>
          <a:p>
            <a:r>
              <a:rPr lang="en-GB" b="1" dirty="0"/>
              <a:t>Real-World Analogies</a:t>
            </a:r>
            <a:endParaRPr lang="en-GB" dirty="0"/>
          </a:p>
        </p:txBody>
      </p:sp>
      <p:sp>
        <p:nvSpPr>
          <p:cNvPr id="3" name="Content Placeholder 2">
            <a:extLst>
              <a:ext uri="{FF2B5EF4-FFF2-40B4-BE49-F238E27FC236}">
                <a16:creationId xmlns:a16="http://schemas.microsoft.com/office/drawing/2014/main" id="{2C78D1CF-7EF1-D787-06B3-B7409120F647}"/>
              </a:ext>
            </a:extLst>
          </p:cNvPr>
          <p:cNvSpPr>
            <a:spLocks noGrp="1"/>
          </p:cNvSpPr>
          <p:nvPr>
            <p:ph idx="1"/>
          </p:nvPr>
        </p:nvSpPr>
        <p:spPr/>
        <p:txBody>
          <a:bodyPr/>
          <a:lstStyle/>
          <a:p>
            <a:r>
              <a:rPr lang="en-GB" dirty="0"/>
              <a:t>The LIFO principle is everywhere!</a:t>
            </a:r>
          </a:p>
          <a:p>
            <a:pPr lvl="1" fontAlgn="base"/>
            <a:r>
              <a:rPr lang="en-GB" b="1" dirty="0"/>
              <a:t>Web Browser History:</a:t>
            </a:r>
            <a:r>
              <a:rPr lang="en-GB" dirty="0"/>
              <a:t> The "Back" button takes you to the last page you visited.</a:t>
            </a:r>
          </a:p>
          <a:p>
            <a:pPr lvl="1" fontAlgn="base"/>
            <a:r>
              <a:rPr lang="en-GB" b="1" dirty="0"/>
              <a:t>Undo/Redo Functionality:</a:t>
            </a:r>
            <a:r>
              <a:rPr lang="en-GB" dirty="0"/>
              <a:t> The last action you performed is the first one to be undone.</a:t>
            </a:r>
          </a:p>
          <a:p>
            <a:pPr lvl="1"/>
            <a:r>
              <a:rPr lang="en-GB" b="1" dirty="0"/>
              <a:t>A Deck of Cards:</a:t>
            </a:r>
            <a:r>
              <a:rPr lang="en-GB" dirty="0"/>
              <a:t> You typically draw from and add to the top of the deck.</a:t>
            </a:r>
          </a:p>
        </p:txBody>
      </p:sp>
      <p:sp>
        <p:nvSpPr>
          <p:cNvPr id="4" name="Footer Placeholder 3">
            <a:extLst>
              <a:ext uri="{FF2B5EF4-FFF2-40B4-BE49-F238E27FC236}">
                <a16:creationId xmlns:a16="http://schemas.microsoft.com/office/drawing/2014/main" id="{CE81C977-182F-1936-E4F6-27A631527F72}"/>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B087F399-FBFC-FFE1-E64F-EB19D3523F11}"/>
              </a:ext>
            </a:extLst>
          </p:cNvPr>
          <p:cNvSpPr>
            <a:spLocks noGrp="1"/>
          </p:cNvSpPr>
          <p:nvPr>
            <p:ph type="sldNum" sz="quarter" idx="12"/>
          </p:nvPr>
        </p:nvSpPr>
        <p:spPr/>
        <p:txBody>
          <a:bodyPr/>
          <a:lstStyle/>
          <a:p>
            <a:fld id="{CA4F2B70-5880-4CBE-A91F-8076F4F2F151}" type="slidenum">
              <a:rPr lang="en-US" smtClean="0"/>
              <a:t>7</a:t>
            </a:fld>
            <a:endParaRPr lang="en-US"/>
          </a:p>
        </p:txBody>
      </p:sp>
    </p:spTree>
    <p:extLst>
      <p:ext uri="{BB962C8B-B14F-4D97-AF65-F5344CB8AC3E}">
        <p14:creationId xmlns:p14="http://schemas.microsoft.com/office/powerpoint/2010/main" val="3213158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EF1F9-A15A-FDC7-B387-78B2B9C9FCA6}"/>
              </a:ext>
            </a:extLst>
          </p:cNvPr>
          <p:cNvSpPr>
            <a:spLocks noGrp="1"/>
          </p:cNvSpPr>
          <p:nvPr>
            <p:ph type="title"/>
          </p:nvPr>
        </p:nvSpPr>
        <p:spPr/>
        <p:txBody>
          <a:bodyPr/>
          <a:lstStyle/>
          <a:p>
            <a:r>
              <a:rPr lang="en-GB" b="1" dirty="0"/>
              <a:t>Core Stack Operations</a:t>
            </a:r>
            <a:endParaRPr lang="en-GB" dirty="0"/>
          </a:p>
        </p:txBody>
      </p:sp>
      <p:sp>
        <p:nvSpPr>
          <p:cNvPr id="3" name="Content Placeholder 2">
            <a:extLst>
              <a:ext uri="{FF2B5EF4-FFF2-40B4-BE49-F238E27FC236}">
                <a16:creationId xmlns:a16="http://schemas.microsoft.com/office/drawing/2014/main" id="{CBD2BD60-7406-058F-4C5D-DA2E2E384A91}"/>
              </a:ext>
            </a:extLst>
          </p:cNvPr>
          <p:cNvSpPr>
            <a:spLocks noGrp="1"/>
          </p:cNvSpPr>
          <p:nvPr>
            <p:ph idx="1"/>
          </p:nvPr>
        </p:nvSpPr>
        <p:spPr/>
        <p:txBody>
          <a:bodyPr/>
          <a:lstStyle/>
          <a:p>
            <a:r>
              <a:rPr lang="en-GB" dirty="0"/>
              <a:t>An ADT is defined by its operations. For a Stack, there are four main ones:</a:t>
            </a:r>
          </a:p>
          <a:p>
            <a:pPr lvl="1" fontAlgn="base"/>
            <a:r>
              <a:rPr lang="en-GB" dirty="0"/>
              <a:t>push(element): Adds an element to the </a:t>
            </a:r>
            <a:r>
              <a:rPr lang="en-GB" b="1" dirty="0"/>
              <a:t>top</a:t>
            </a:r>
            <a:r>
              <a:rPr lang="en-GB" dirty="0"/>
              <a:t> of the stack.</a:t>
            </a:r>
          </a:p>
          <a:p>
            <a:pPr lvl="1" fontAlgn="base"/>
            <a:r>
              <a:rPr lang="en-GB" dirty="0"/>
              <a:t>pop(): Removes and returns the element from the </a:t>
            </a:r>
            <a:r>
              <a:rPr lang="en-GB" b="1" dirty="0"/>
              <a:t>top</a:t>
            </a:r>
            <a:r>
              <a:rPr lang="en-GB" dirty="0"/>
              <a:t> of the stack.</a:t>
            </a:r>
          </a:p>
          <a:p>
            <a:pPr lvl="1" fontAlgn="base"/>
            <a:r>
              <a:rPr lang="en-GB" dirty="0"/>
              <a:t>peek() or top(): Returns the element at the </a:t>
            </a:r>
            <a:r>
              <a:rPr lang="en-GB" b="1" dirty="0"/>
              <a:t>top</a:t>
            </a:r>
            <a:r>
              <a:rPr lang="en-GB" dirty="0"/>
              <a:t> of the stack without removing it.</a:t>
            </a:r>
          </a:p>
          <a:p>
            <a:pPr lvl="1"/>
            <a:r>
              <a:rPr lang="en-GB" dirty="0" err="1"/>
              <a:t>isEmpty</a:t>
            </a:r>
            <a:r>
              <a:rPr lang="en-GB" dirty="0"/>
              <a:t>(): Checks if the stack is empty.</a:t>
            </a:r>
            <a:br>
              <a:rPr lang="en-GB" dirty="0"/>
            </a:br>
            <a:endParaRPr lang="en-GB" dirty="0"/>
          </a:p>
        </p:txBody>
      </p:sp>
      <p:sp>
        <p:nvSpPr>
          <p:cNvPr id="4" name="Footer Placeholder 3">
            <a:extLst>
              <a:ext uri="{FF2B5EF4-FFF2-40B4-BE49-F238E27FC236}">
                <a16:creationId xmlns:a16="http://schemas.microsoft.com/office/drawing/2014/main" id="{8B4B6906-A4E4-D9E7-BDF9-D0A7B1AC22BB}"/>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2B9C199F-10F9-8C9B-20D3-3A7D4DA603C0}"/>
              </a:ext>
            </a:extLst>
          </p:cNvPr>
          <p:cNvSpPr>
            <a:spLocks noGrp="1"/>
          </p:cNvSpPr>
          <p:nvPr>
            <p:ph type="sldNum" sz="quarter" idx="12"/>
          </p:nvPr>
        </p:nvSpPr>
        <p:spPr/>
        <p:txBody>
          <a:bodyPr/>
          <a:lstStyle/>
          <a:p>
            <a:fld id="{CA4F2B70-5880-4CBE-A91F-8076F4F2F151}" type="slidenum">
              <a:rPr lang="en-US" smtClean="0"/>
              <a:t>8</a:t>
            </a:fld>
            <a:endParaRPr lang="en-US"/>
          </a:p>
        </p:txBody>
      </p:sp>
    </p:spTree>
    <p:extLst>
      <p:ext uri="{BB962C8B-B14F-4D97-AF65-F5344CB8AC3E}">
        <p14:creationId xmlns:p14="http://schemas.microsoft.com/office/powerpoint/2010/main" val="758849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F571B-6B36-A6F0-0E55-69C4C56F1DE7}"/>
              </a:ext>
            </a:extLst>
          </p:cNvPr>
          <p:cNvSpPr>
            <a:spLocks noGrp="1"/>
          </p:cNvSpPr>
          <p:nvPr>
            <p:ph type="title"/>
          </p:nvPr>
        </p:nvSpPr>
        <p:spPr/>
        <p:txBody>
          <a:bodyPr/>
          <a:lstStyle/>
          <a:p>
            <a:r>
              <a:rPr lang="en-GB" b="1" dirty="0"/>
              <a:t>Visualizing Stack Operations: Walkthrough</a:t>
            </a:r>
            <a:endParaRPr lang="en-GB" dirty="0"/>
          </a:p>
        </p:txBody>
      </p:sp>
      <p:sp>
        <p:nvSpPr>
          <p:cNvPr id="3" name="Content Placeholder 2">
            <a:extLst>
              <a:ext uri="{FF2B5EF4-FFF2-40B4-BE49-F238E27FC236}">
                <a16:creationId xmlns:a16="http://schemas.microsoft.com/office/drawing/2014/main" id="{20608E5F-5020-F375-428F-CE5DE1684971}"/>
              </a:ext>
            </a:extLst>
          </p:cNvPr>
          <p:cNvSpPr>
            <a:spLocks noGrp="1"/>
          </p:cNvSpPr>
          <p:nvPr>
            <p:ph idx="1"/>
          </p:nvPr>
        </p:nvSpPr>
        <p:spPr/>
        <p:txBody>
          <a:bodyPr/>
          <a:lstStyle/>
          <a:p>
            <a:r>
              <a:rPr lang="en-GB" dirty="0"/>
              <a:t>Let's trace the operations on an initially empty stack.</a:t>
            </a:r>
          </a:p>
        </p:txBody>
      </p:sp>
      <p:sp>
        <p:nvSpPr>
          <p:cNvPr id="4" name="Footer Placeholder 3">
            <a:extLst>
              <a:ext uri="{FF2B5EF4-FFF2-40B4-BE49-F238E27FC236}">
                <a16:creationId xmlns:a16="http://schemas.microsoft.com/office/drawing/2014/main" id="{39DDEC92-587A-B360-19B6-01D6C675D26F}"/>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E06A876A-A233-9159-F45A-87987F8FA9FC}"/>
              </a:ext>
            </a:extLst>
          </p:cNvPr>
          <p:cNvSpPr>
            <a:spLocks noGrp="1"/>
          </p:cNvSpPr>
          <p:nvPr>
            <p:ph type="sldNum" sz="quarter" idx="12"/>
          </p:nvPr>
        </p:nvSpPr>
        <p:spPr/>
        <p:txBody>
          <a:bodyPr/>
          <a:lstStyle/>
          <a:p>
            <a:fld id="{CA4F2B70-5880-4CBE-A91F-8076F4F2F151}" type="slidenum">
              <a:rPr lang="en-US" smtClean="0"/>
              <a:t>9</a:t>
            </a:fld>
            <a:endParaRPr lang="en-US"/>
          </a:p>
        </p:txBody>
      </p:sp>
      <p:graphicFrame>
        <p:nvGraphicFramePr>
          <p:cNvPr id="8" name="Table 7">
            <a:extLst>
              <a:ext uri="{FF2B5EF4-FFF2-40B4-BE49-F238E27FC236}">
                <a16:creationId xmlns:a16="http://schemas.microsoft.com/office/drawing/2014/main" id="{57023570-37FD-D8FF-2515-4502052E9B69}"/>
              </a:ext>
            </a:extLst>
          </p:cNvPr>
          <p:cNvGraphicFramePr>
            <a:graphicFrameLocks noGrp="1"/>
          </p:cNvGraphicFramePr>
          <p:nvPr>
            <p:extLst>
              <p:ext uri="{D42A27DB-BD31-4B8C-83A1-F6EECF244321}">
                <p14:modId xmlns:p14="http://schemas.microsoft.com/office/powerpoint/2010/main" val="1863531833"/>
              </p:ext>
            </p:extLst>
          </p:nvPr>
        </p:nvGraphicFramePr>
        <p:xfrm>
          <a:off x="2151534" y="2097405"/>
          <a:ext cx="7172583" cy="3520440"/>
        </p:xfrm>
        <a:graphic>
          <a:graphicData uri="http://schemas.openxmlformats.org/drawingml/2006/table">
            <a:tbl>
              <a:tblPr/>
              <a:tblGrid>
                <a:gridCol w="2390861">
                  <a:extLst>
                    <a:ext uri="{9D8B030D-6E8A-4147-A177-3AD203B41FA5}">
                      <a16:colId xmlns:a16="http://schemas.microsoft.com/office/drawing/2014/main" val="3353128508"/>
                    </a:ext>
                  </a:extLst>
                </a:gridCol>
                <a:gridCol w="2390861">
                  <a:extLst>
                    <a:ext uri="{9D8B030D-6E8A-4147-A177-3AD203B41FA5}">
                      <a16:colId xmlns:a16="http://schemas.microsoft.com/office/drawing/2014/main" val="3512531305"/>
                    </a:ext>
                  </a:extLst>
                </a:gridCol>
                <a:gridCol w="2390861">
                  <a:extLst>
                    <a:ext uri="{9D8B030D-6E8A-4147-A177-3AD203B41FA5}">
                      <a16:colId xmlns:a16="http://schemas.microsoft.com/office/drawing/2014/main" val="4142325693"/>
                    </a:ext>
                  </a:extLst>
                </a:gridCol>
              </a:tblGrid>
              <a:tr h="0">
                <a:tc>
                  <a:txBody>
                    <a:bodyPr/>
                    <a:lstStyle/>
                    <a:p>
                      <a:pPr rtl="0" fontAlgn="t">
                        <a:spcBef>
                          <a:spcPts val="600"/>
                        </a:spcBef>
                        <a:spcAft>
                          <a:spcPts val="600"/>
                        </a:spcAft>
                        <a:buNone/>
                      </a:pPr>
                      <a:r>
                        <a:rPr lang="en-GB" sz="1100" b="0" i="0" u="none" strike="noStrike">
                          <a:solidFill>
                            <a:srgbClr val="1B1C1D"/>
                          </a:solidFill>
                          <a:effectLst/>
                          <a:latin typeface="Google Sans Text"/>
                        </a:rPr>
                        <a:t>Operation</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Stack State</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Return Value</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368795367"/>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isEmpty()</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 (empty)</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true</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701114744"/>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push(10)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[10]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void</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4001229858"/>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push(20)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[10, 20]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void</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2507850740"/>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push(30)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[10, 20, 30]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void</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2998501535"/>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peek()</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[10, 20, 30]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30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2385666788"/>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pop()</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[10, 20]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30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3822462911"/>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isEmpty()</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[10, 20]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false</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934689310"/>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pop()</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[10]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20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2764024293"/>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pop()</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10</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3583152790"/>
                  </a:ext>
                </a:extLst>
              </a:tr>
              <a:tr h="0">
                <a:tc>
                  <a:txBody>
                    <a:bodyPr/>
                    <a:lstStyle/>
                    <a:p>
                      <a:pPr rtl="0" fontAlgn="t">
                        <a:spcBef>
                          <a:spcPts val="600"/>
                        </a:spcBef>
                        <a:spcAft>
                          <a:spcPts val="600"/>
                        </a:spcAft>
                        <a:buNone/>
                      </a:pPr>
                      <a:r>
                        <a:rPr lang="en-GB" sz="1100" b="0" i="0" u="none" strike="noStrike">
                          <a:solidFill>
                            <a:srgbClr val="1B1C1D"/>
                          </a:solidFill>
                          <a:effectLst/>
                          <a:latin typeface="Google Sans Text"/>
                        </a:rPr>
                        <a:t>isEmpty()</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a:solidFill>
                            <a:srgbClr val="1B1C1D"/>
                          </a:solidFill>
                          <a:effectLst/>
                          <a:latin typeface="Google Sans Text"/>
                        </a:rPr>
                        <a:t>[]</a:t>
                      </a:r>
                      <a:endParaRPr lang="en-GB">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tc>
                  <a:txBody>
                    <a:bodyPr/>
                    <a:lstStyle/>
                    <a:p>
                      <a:pPr rtl="0" fontAlgn="t">
                        <a:spcBef>
                          <a:spcPts val="600"/>
                        </a:spcBef>
                        <a:spcAft>
                          <a:spcPts val="600"/>
                        </a:spcAft>
                        <a:buNone/>
                      </a:pPr>
                      <a:r>
                        <a:rPr lang="en-GB" sz="1100" b="0" i="0" u="none" strike="noStrike" dirty="0">
                          <a:solidFill>
                            <a:srgbClr val="1B1C1D"/>
                          </a:solidFill>
                          <a:effectLst/>
                          <a:latin typeface="Google Sans Text"/>
                        </a:rPr>
                        <a:t>true</a:t>
                      </a:r>
                      <a:endParaRPr lang="en-GB" dirty="0">
                        <a:effectLst/>
                      </a:endParaRPr>
                    </a:p>
                  </a:txBody>
                  <a:tcPr marL="114300" marR="114300" marT="76200" marB="762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D"/>
                    </a:solidFill>
                  </a:tcPr>
                </a:tc>
                <a:extLst>
                  <a:ext uri="{0D108BD9-81ED-4DB2-BD59-A6C34878D82A}">
                    <a16:rowId xmlns:a16="http://schemas.microsoft.com/office/drawing/2014/main" val="1519830696"/>
                  </a:ext>
                </a:extLst>
              </a:tr>
            </a:tbl>
          </a:graphicData>
        </a:graphic>
      </p:graphicFrame>
      <p:sp>
        <p:nvSpPr>
          <p:cNvPr id="9" name="Rectangle 2">
            <a:extLst>
              <a:ext uri="{FF2B5EF4-FFF2-40B4-BE49-F238E27FC236}">
                <a16:creationId xmlns:a16="http://schemas.microsoft.com/office/drawing/2014/main" id="{0B10B5A2-C278-90BF-1053-DC705010F16D}"/>
              </a:ext>
            </a:extLst>
          </p:cNvPr>
          <p:cNvSpPr>
            <a:spLocks noChangeArrowheads="1"/>
          </p:cNvSpPr>
          <p:nvPr/>
        </p:nvSpPr>
        <p:spPr bwMode="auto">
          <a:xfrm>
            <a:off x="1097280" y="2097088"/>
            <a:ext cx="1471299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395823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C1105-AFD3-D6D8-DE31-1B828E51677B}"/>
              </a:ext>
            </a:extLst>
          </p:cNvPr>
          <p:cNvSpPr>
            <a:spLocks noGrp="1"/>
          </p:cNvSpPr>
          <p:nvPr>
            <p:ph type="title"/>
          </p:nvPr>
        </p:nvSpPr>
        <p:spPr/>
        <p:txBody>
          <a:bodyPr/>
          <a:lstStyle/>
          <a:p>
            <a:r>
              <a:rPr lang="en-GB" b="1" dirty="0"/>
              <a:t>Applications of Stacks in Computing</a:t>
            </a:r>
            <a:endParaRPr lang="en-GB" dirty="0"/>
          </a:p>
        </p:txBody>
      </p:sp>
      <p:sp>
        <p:nvSpPr>
          <p:cNvPr id="3" name="Content Placeholder 2">
            <a:extLst>
              <a:ext uri="{FF2B5EF4-FFF2-40B4-BE49-F238E27FC236}">
                <a16:creationId xmlns:a16="http://schemas.microsoft.com/office/drawing/2014/main" id="{D1C698C0-CC33-8339-A225-A5EB3F336707}"/>
              </a:ext>
            </a:extLst>
          </p:cNvPr>
          <p:cNvSpPr>
            <a:spLocks noGrp="1"/>
          </p:cNvSpPr>
          <p:nvPr>
            <p:ph idx="1"/>
          </p:nvPr>
        </p:nvSpPr>
        <p:spPr/>
        <p:txBody>
          <a:bodyPr/>
          <a:lstStyle/>
          <a:p>
            <a:r>
              <a:rPr lang="en-GB" dirty="0"/>
              <a:t>Stacks aren't just a theoretical concept; they are fundamental to how computers work.</a:t>
            </a:r>
          </a:p>
          <a:p>
            <a:pPr fontAlgn="base"/>
            <a:r>
              <a:rPr lang="en-GB" b="1" dirty="0"/>
              <a:t>Function Call Management (The "Call Stack"):</a:t>
            </a:r>
            <a:r>
              <a:rPr lang="en-GB" dirty="0"/>
              <a:t> When you call a function, its local variables and return address are pushed onto the call stack. When the function returns, it's popped off.</a:t>
            </a:r>
          </a:p>
          <a:p>
            <a:pPr fontAlgn="base"/>
            <a:r>
              <a:rPr lang="en-GB" b="1" dirty="0"/>
              <a:t>Expression Evaluation:</a:t>
            </a:r>
            <a:r>
              <a:rPr lang="en-GB" dirty="0"/>
              <a:t> Converting infix expressions (like 5 * (6 + 2)) to postfix (5 6 2 + *) and evaluating them.</a:t>
            </a:r>
          </a:p>
          <a:p>
            <a:pPr fontAlgn="base"/>
            <a:r>
              <a:rPr lang="en-GB" b="1" dirty="0"/>
              <a:t>Syntax Parsing:</a:t>
            </a:r>
            <a:r>
              <a:rPr lang="en-GB" dirty="0"/>
              <a:t> Compilers use stacks to check if parentheses, brackets, and braces are balanced in your code.</a:t>
            </a:r>
          </a:p>
          <a:p>
            <a:r>
              <a:rPr lang="en-GB" b="1" dirty="0"/>
              <a:t>Backtracking Algorithms:</a:t>
            </a:r>
            <a:r>
              <a:rPr lang="en-GB" dirty="0"/>
              <a:t> Used in solving mazes or in game AI (like chess) to explore paths and backtrack if they lead to a dead end.</a:t>
            </a:r>
          </a:p>
        </p:txBody>
      </p:sp>
      <p:sp>
        <p:nvSpPr>
          <p:cNvPr id="4" name="Footer Placeholder 3">
            <a:extLst>
              <a:ext uri="{FF2B5EF4-FFF2-40B4-BE49-F238E27FC236}">
                <a16:creationId xmlns:a16="http://schemas.microsoft.com/office/drawing/2014/main" id="{EB42DAB1-F8A6-2947-23B5-C71527D6017E}"/>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49C766B5-25A4-B518-D0A2-92F295AB30E2}"/>
              </a:ext>
            </a:extLst>
          </p:cNvPr>
          <p:cNvSpPr>
            <a:spLocks noGrp="1"/>
          </p:cNvSpPr>
          <p:nvPr>
            <p:ph type="sldNum" sz="quarter" idx="12"/>
          </p:nvPr>
        </p:nvSpPr>
        <p:spPr/>
        <p:txBody>
          <a:bodyPr/>
          <a:lstStyle/>
          <a:p>
            <a:fld id="{CA4F2B70-5880-4CBE-A91F-8076F4F2F151}" type="slidenum">
              <a:rPr lang="en-US" smtClean="0"/>
              <a:t>10</a:t>
            </a:fld>
            <a:endParaRPr lang="en-US"/>
          </a:p>
        </p:txBody>
      </p:sp>
    </p:spTree>
    <p:extLst>
      <p:ext uri="{BB962C8B-B14F-4D97-AF65-F5344CB8AC3E}">
        <p14:creationId xmlns:p14="http://schemas.microsoft.com/office/powerpoint/2010/main" val="1668877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522FE-1E3F-0E28-3128-6E7FEC470CCD}"/>
              </a:ext>
            </a:extLst>
          </p:cNvPr>
          <p:cNvSpPr>
            <a:spLocks noGrp="1"/>
          </p:cNvSpPr>
          <p:nvPr>
            <p:ph type="title"/>
          </p:nvPr>
        </p:nvSpPr>
        <p:spPr/>
        <p:txBody>
          <a:bodyPr/>
          <a:lstStyle/>
          <a:p>
            <a:r>
              <a:rPr lang="en-GB" b="1" dirty="0"/>
              <a:t>Array-Based Stack Implementation</a:t>
            </a:r>
            <a:endParaRPr lang="en-GB" dirty="0"/>
          </a:p>
        </p:txBody>
      </p:sp>
      <p:sp>
        <p:nvSpPr>
          <p:cNvPr id="3" name="Content Placeholder 2">
            <a:extLst>
              <a:ext uri="{FF2B5EF4-FFF2-40B4-BE49-F238E27FC236}">
                <a16:creationId xmlns:a16="http://schemas.microsoft.com/office/drawing/2014/main" id="{94528220-66B4-4F0E-3701-3A9723036741}"/>
              </a:ext>
            </a:extLst>
          </p:cNvPr>
          <p:cNvSpPr>
            <a:spLocks noGrp="1"/>
          </p:cNvSpPr>
          <p:nvPr>
            <p:ph idx="1"/>
          </p:nvPr>
        </p:nvSpPr>
        <p:spPr/>
        <p:txBody>
          <a:bodyPr/>
          <a:lstStyle/>
          <a:p>
            <a:r>
              <a:rPr lang="en-GB" dirty="0"/>
              <a:t>Now we move from the </a:t>
            </a:r>
            <a:r>
              <a:rPr lang="en-GB" i="1" dirty="0"/>
              <a:t>what</a:t>
            </a:r>
            <a:r>
              <a:rPr lang="en-GB" dirty="0"/>
              <a:t> (ADT) to the </a:t>
            </a:r>
            <a:r>
              <a:rPr lang="en-GB" i="1" dirty="0"/>
              <a:t>how</a:t>
            </a:r>
            <a:r>
              <a:rPr lang="en-GB" dirty="0"/>
              <a:t> (implementation).</a:t>
            </a:r>
          </a:p>
          <a:p>
            <a:r>
              <a:rPr lang="en-GB" b="1" dirty="0"/>
              <a:t>Idea:</a:t>
            </a:r>
            <a:r>
              <a:rPr lang="en-GB" dirty="0"/>
              <a:t> We can use a simple array to store the stack's elements.</a:t>
            </a:r>
          </a:p>
          <a:p>
            <a:pPr lvl="1" fontAlgn="base"/>
            <a:r>
              <a:rPr lang="en-GB" dirty="0"/>
              <a:t>We'll need the array itself.</a:t>
            </a:r>
          </a:p>
          <a:p>
            <a:pPr lvl="1" fontAlgn="base"/>
            <a:r>
              <a:rPr lang="en-GB" dirty="0"/>
              <a:t>A fixed size (e.g., MAX_SIZE = 100).</a:t>
            </a:r>
          </a:p>
          <a:p>
            <a:pPr lvl="1" fontAlgn="base"/>
            <a:r>
              <a:rPr lang="en-GB" dirty="0"/>
              <a:t>An integer variable, top, to keep track of the index of the top element.</a:t>
            </a:r>
          </a:p>
          <a:p>
            <a:endParaRPr lang="en-GB" dirty="0"/>
          </a:p>
        </p:txBody>
      </p:sp>
      <p:sp>
        <p:nvSpPr>
          <p:cNvPr id="4" name="Footer Placeholder 3">
            <a:extLst>
              <a:ext uri="{FF2B5EF4-FFF2-40B4-BE49-F238E27FC236}">
                <a16:creationId xmlns:a16="http://schemas.microsoft.com/office/drawing/2014/main" id="{9E2757AC-5E3E-1082-322C-39BE6B0A1E20}"/>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C7FBFA7B-9F17-10FD-F383-AEAED74CD3CD}"/>
              </a:ext>
            </a:extLst>
          </p:cNvPr>
          <p:cNvSpPr>
            <a:spLocks noGrp="1"/>
          </p:cNvSpPr>
          <p:nvPr>
            <p:ph type="sldNum" sz="quarter" idx="12"/>
          </p:nvPr>
        </p:nvSpPr>
        <p:spPr/>
        <p:txBody>
          <a:bodyPr/>
          <a:lstStyle/>
          <a:p>
            <a:fld id="{CA4F2B70-5880-4CBE-A91F-8076F4F2F151}" type="slidenum">
              <a:rPr lang="en-US" smtClean="0"/>
              <a:t>11</a:t>
            </a:fld>
            <a:endParaRPr lang="en-US"/>
          </a:p>
        </p:txBody>
      </p:sp>
    </p:spTree>
    <p:extLst>
      <p:ext uri="{BB962C8B-B14F-4D97-AF65-F5344CB8AC3E}">
        <p14:creationId xmlns:p14="http://schemas.microsoft.com/office/powerpoint/2010/main" val="4040891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7654B-05B0-B02A-1C79-0750CC900DFF}"/>
              </a:ext>
            </a:extLst>
          </p:cNvPr>
          <p:cNvSpPr>
            <a:spLocks noGrp="1"/>
          </p:cNvSpPr>
          <p:nvPr>
            <p:ph type="title"/>
          </p:nvPr>
        </p:nvSpPr>
        <p:spPr/>
        <p:txBody>
          <a:bodyPr/>
          <a:lstStyle/>
          <a:p>
            <a:r>
              <a:rPr lang="en-GB" b="1" dirty="0"/>
              <a:t>The top Index</a:t>
            </a:r>
            <a:endParaRPr lang="en-GB" dirty="0"/>
          </a:p>
        </p:txBody>
      </p:sp>
      <p:sp>
        <p:nvSpPr>
          <p:cNvPr id="3" name="Content Placeholder 2">
            <a:extLst>
              <a:ext uri="{FF2B5EF4-FFF2-40B4-BE49-F238E27FC236}">
                <a16:creationId xmlns:a16="http://schemas.microsoft.com/office/drawing/2014/main" id="{CC57065C-A81C-0AC5-24BB-611C178122C5}"/>
              </a:ext>
            </a:extLst>
          </p:cNvPr>
          <p:cNvSpPr>
            <a:spLocks noGrp="1"/>
          </p:cNvSpPr>
          <p:nvPr>
            <p:ph idx="1"/>
          </p:nvPr>
        </p:nvSpPr>
        <p:spPr/>
        <p:txBody>
          <a:bodyPr/>
          <a:lstStyle/>
          <a:p>
            <a:r>
              <a:rPr lang="en-GB" dirty="0"/>
              <a:t>The top index is the key to managing the array-based stack.</a:t>
            </a:r>
          </a:p>
          <a:p>
            <a:pPr lvl="1" fontAlgn="base"/>
            <a:r>
              <a:rPr lang="en-GB" dirty="0"/>
              <a:t>When the stack is empty, we'll initialize top to -1.</a:t>
            </a:r>
          </a:p>
          <a:p>
            <a:pPr lvl="1" fontAlgn="base"/>
            <a:r>
              <a:rPr lang="en-GB" dirty="0"/>
              <a:t>When we </a:t>
            </a:r>
            <a:r>
              <a:rPr lang="en-GB" b="1" dirty="0"/>
              <a:t>push</a:t>
            </a:r>
            <a:r>
              <a:rPr lang="en-GB" dirty="0"/>
              <a:t> an element, we first increment top, then place the new element at </a:t>
            </a:r>
            <a:r>
              <a:rPr lang="en-GB" dirty="0" err="1"/>
              <a:t>arr</a:t>
            </a:r>
            <a:r>
              <a:rPr lang="en-GB" dirty="0"/>
              <a:t>[top].</a:t>
            </a:r>
          </a:p>
          <a:p>
            <a:pPr lvl="1" fontAlgn="base"/>
            <a:r>
              <a:rPr lang="en-GB" dirty="0"/>
              <a:t>When we </a:t>
            </a:r>
            <a:r>
              <a:rPr lang="en-GB" b="1" dirty="0"/>
              <a:t>pop</a:t>
            </a:r>
            <a:r>
              <a:rPr lang="en-GB" dirty="0"/>
              <a:t> an element, we just decrement top. (We don't need to erase the old data, it will be overwritten by the next push).</a:t>
            </a:r>
          </a:p>
          <a:p>
            <a:pPr lvl="1" fontAlgn="base"/>
            <a:r>
              <a:rPr lang="en-GB" dirty="0"/>
              <a:t>The stack is full when top is MAX_SIZE - 1.</a:t>
            </a:r>
          </a:p>
          <a:p>
            <a:endParaRPr lang="en-GB" dirty="0"/>
          </a:p>
        </p:txBody>
      </p:sp>
      <p:sp>
        <p:nvSpPr>
          <p:cNvPr id="4" name="Footer Placeholder 3">
            <a:extLst>
              <a:ext uri="{FF2B5EF4-FFF2-40B4-BE49-F238E27FC236}">
                <a16:creationId xmlns:a16="http://schemas.microsoft.com/office/drawing/2014/main" id="{06B2C313-C058-0E67-3E07-45C0F8DFBF4B}"/>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D75CF725-EBF5-4362-D816-9A3482BCA116}"/>
              </a:ext>
            </a:extLst>
          </p:cNvPr>
          <p:cNvSpPr>
            <a:spLocks noGrp="1"/>
          </p:cNvSpPr>
          <p:nvPr>
            <p:ph type="sldNum" sz="quarter" idx="12"/>
          </p:nvPr>
        </p:nvSpPr>
        <p:spPr/>
        <p:txBody>
          <a:bodyPr/>
          <a:lstStyle/>
          <a:p>
            <a:fld id="{CA4F2B70-5880-4CBE-A91F-8076F4F2F151}" type="slidenum">
              <a:rPr lang="en-US" smtClean="0"/>
              <a:t>12</a:t>
            </a:fld>
            <a:endParaRPr lang="en-US"/>
          </a:p>
        </p:txBody>
      </p:sp>
    </p:spTree>
    <p:extLst>
      <p:ext uri="{BB962C8B-B14F-4D97-AF65-F5344CB8AC3E}">
        <p14:creationId xmlns:p14="http://schemas.microsoft.com/office/powerpoint/2010/main" val="4236558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A36C8-D7DF-676F-D24F-28DE4F0A511C}"/>
              </a:ext>
            </a:extLst>
          </p:cNvPr>
          <p:cNvSpPr>
            <a:spLocks noGrp="1"/>
          </p:cNvSpPr>
          <p:nvPr>
            <p:ph type="title"/>
          </p:nvPr>
        </p:nvSpPr>
        <p:spPr/>
        <p:txBody>
          <a:bodyPr/>
          <a:lstStyle/>
          <a:p>
            <a:r>
              <a:rPr lang="en-GB" b="1" dirty="0"/>
              <a:t>Visualizing push in an Array Stack</a:t>
            </a:r>
            <a:endParaRPr lang="en-GB" dirty="0"/>
          </a:p>
        </p:txBody>
      </p:sp>
      <p:sp>
        <p:nvSpPr>
          <p:cNvPr id="3" name="Content Placeholder 2">
            <a:extLst>
              <a:ext uri="{FF2B5EF4-FFF2-40B4-BE49-F238E27FC236}">
                <a16:creationId xmlns:a16="http://schemas.microsoft.com/office/drawing/2014/main" id="{F83CAC57-227F-86FE-BA59-2C8CD951676A}"/>
              </a:ext>
            </a:extLst>
          </p:cNvPr>
          <p:cNvSpPr>
            <a:spLocks noGrp="1"/>
          </p:cNvSpPr>
          <p:nvPr>
            <p:ph idx="1"/>
          </p:nvPr>
        </p:nvSpPr>
        <p:spPr/>
        <p:txBody>
          <a:bodyPr>
            <a:normAutofit/>
          </a:bodyPr>
          <a:lstStyle/>
          <a:p>
            <a:r>
              <a:rPr lang="en-GB" dirty="0"/>
              <a:t>MAX_SIZE = 5, top = -1 (Empty)</a:t>
            </a:r>
          </a:p>
          <a:p>
            <a:r>
              <a:rPr lang="en-GB" dirty="0" err="1"/>
              <a:t>arr</a:t>
            </a:r>
            <a:r>
              <a:rPr lang="en-GB" dirty="0"/>
              <a:t>: [ , , , , ]</a:t>
            </a:r>
          </a:p>
          <a:p>
            <a:r>
              <a:rPr lang="en-GB" b="1" dirty="0"/>
              <a:t>push(10):</a:t>
            </a:r>
            <a:endParaRPr lang="en-GB" dirty="0"/>
          </a:p>
          <a:p>
            <a:pPr lvl="1" fontAlgn="base"/>
            <a:r>
              <a:rPr lang="en-GB" dirty="0"/>
              <a:t>Increment top to 0.</a:t>
            </a:r>
          </a:p>
          <a:p>
            <a:pPr lvl="1" fontAlgn="base"/>
            <a:r>
              <a:rPr lang="en-GB" dirty="0" err="1"/>
              <a:t>arr</a:t>
            </a:r>
            <a:r>
              <a:rPr lang="en-GB" dirty="0"/>
              <a:t>[0] = 10.</a:t>
            </a:r>
          </a:p>
          <a:p>
            <a:pPr lvl="1" fontAlgn="base"/>
            <a:r>
              <a:rPr lang="en-GB" dirty="0" err="1"/>
              <a:t>arr</a:t>
            </a:r>
            <a:r>
              <a:rPr lang="en-GB" dirty="0"/>
              <a:t>: [10, , , , ], top = 0</a:t>
            </a:r>
          </a:p>
          <a:p>
            <a:r>
              <a:rPr lang="en-GB" b="1" dirty="0"/>
              <a:t>push(20):</a:t>
            </a:r>
            <a:endParaRPr lang="en-GB" dirty="0"/>
          </a:p>
          <a:p>
            <a:pPr lvl="1" fontAlgn="base"/>
            <a:r>
              <a:rPr lang="en-GB" dirty="0"/>
              <a:t>Increment top to 1.</a:t>
            </a:r>
          </a:p>
          <a:p>
            <a:pPr lvl="1" fontAlgn="base"/>
            <a:r>
              <a:rPr lang="en-GB" dirty="0" err="1"/>
              <a:t>arr</a:t>
            </a:r>
            <a:r>
              <a:rPr lang="en-GB" dirty="0"/>
              <a:t>[1] = 20.</a:t>
            </a:r>
          </a:p>
          <a:p>
            <a:pPr lvl="1" fontAlgn="base"/>
            <a:r>
              <a:rPr lang="en-GB" dirty="0" err="1"/>
              <a:t>arr</a:t>
            </a:r>
            <a:r>
              <a:rPr lang="en-GB" dirty="0"/>
              <a:t>: [10, 20, , , ], top = 1</a:t>
            </a:r>
          </a:p>
          <a:p>
            <a:endParaRPr lang="en-GB" dirty="0"/>
          </a:p>
        </p:txBody>
      </p:sp>
      <p:sp>
        <p:nvSpPr>
          <p:cNvPr id="4" name="Footer Placeholder 3">
            <a:extLst>
              <a:ext uri="{FF2B5EF4-FFF2-40B4-BE49-F238E27FC236}">
                <a16:creationId xmlns:a16="http://schemas.microsoft.com/office/drawing/2014/main" id="{5DBB960D-FE8F-1814-12B8-53261A7EFE8A}"/>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05B1D5F0-DD1B-99DD-4811-8330D5158E3F}"/>
              </a:ext>
            </a:extLst>
          </p:cNvPr>
          <p:cNvSpPr>
            <a:spLocks noGrp="1"/>
          </p:cNvSpPr>
          <p:nvPr>
            <p:ph type="sldNum" sz="quarter" idx="12"/>
          </p:nvPr>
        </p:nvSpPr>
        <p:spPr/>
        <p:txBody>
          <a:bodyPr/>
          <a:lstStyle/>
          <a:p>
            <a:fld id="{CA4F2B70-5880-4CBE-A91F-8076F4F2F151}" type="slidenum">
              <a:rPr lang="en-US" smtClean="0"/>
              <a:t>13</a:t>
            </a:fld>
            <a:endParaRPr lang="en-US"/>
          </a:p>
        </p:txBody>
      </p:sp>
    </p:spTree>
    <p:extLst>
      <p:ext uri="{BB962C8B-B14F-4D97-AF65-F5344CB8AC3E}">
        <p14:creationId xmlns:p14="http://schemas.microsoft.com/office/powerpoint/2010/main" val="1282972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1F325-0BA8-FF9E-7F95-C09C159ADDE7}"/>
              </a:ext>
            </a:extLst>
          </p:cNvPr>
          <p:cNvSpPr>
            <a:spLocks noGrp="1"/>
          </p:cNvSpPr>
          <p:nvPr>
            <p:ph type="title"/>
          </p:nvPr>
        </p:nvSpPr>
        <p:spPr/>
        <p:txBody>
          <a:bodyPr/>
          <a:lstStyle/>
          <a:p>
            <a:r>
              <a:rPr lang="en-GB" b="1" dirty="0"/>
              <a:t>Visualizing pop in an Array Stack</a:t>
            </a:r>
            <a:endParaRPr lang="en-GB" dirty="0"/>
          </a:p>
        </p:txBody>
      </p:sp>
      <p:sp>
        <p:nvSpPr>
          <p:cNvPr id="3" name="Content Placeholder 2">
            <a:extLst>
              <a:ext uri="{FF2B5EF4-FFF2-40B4-BE49-F238E27FC236}">
                <a16:creationId xmlns:a16="http://schemas.microsoft.com/office/drawing/2014/main" id="{E5590181-0401-D0F2-CD42-DD93754240F6}"/>
              </a:ext>
            </a:extLst>
          </p:cNvPr>
          <p:cNvSpPr>
            <a:spLocks noGrp="1"/>
          </p:cNvSpPr>
          <p:nvPr>
            <p:ph idx="1"/>
          </p:nvPr>
        </p:nvSpPr>
        <p:spPr/>
        <p:txBody>
          <a:bodyPr/>
          <a:lstStyle/>
          <a:p>
            <a:r>
              <a:rPr lang="en-GB" dirty="0"/>
              <a:t>Current State: </a:t>
            </a:r>
            <a:r>
              <a:rPr lang="en-GB" dirty="0" err="1"/>
              <a:t>arr</a:t>
            </a:r>
            <a:r>
              <a:rPr lang="en-GB" dirty="0"/>
              <a:t>: [10, 20, 30, , ], top = 2</a:t>
            </a:r>
          </a:p>
          <a:p>
            <a:r>
              <a:rPr lang="en-GB" b="1" dirty="0"/>
              <a:t>pop():</a:t>
            </a:r>
            <a:endParaRPr lang="en-GB" dirty="0"/>
          </a:p>
          <a:p>
            <a:pPr lvl="1" fontAlgn="base"/>
            <a:r>
              <a:rPr lang="en-GB" dirty="0"/>
              <a:t>Retrieve the element at </a:t>
            </a:r>
            <a:r>
              <a:rPr lang="en-GB" dirty="0" err="1"/>
              <a:t>arr</a:t>
            </a:r>
            <a:r>
              <a:rPr lang="en-GB" dirty="0"/>
              <a:t>[top] (which is 30).</a:t>
            </a:r>
          </a:p>
          <a:p>
            <a:pPr lvl="1" fontAlgn="base"/>
            <a:r>
              <a:rPr lang="en-GB" dirty="0"/>
              <a:t>Decrement top to 1.</a:t>
            </a:r>
            <a:br>
              <a:rPr lang="en-GB" dirty="0"/>
            </a:br>
            <a:r>
              <a:rPr lang="en-GB" dirty="0" err="1"/>
              <a:t>arr</a:t>
            </a:r>
            <a:r>
              <a:rPr lang="en-GB" dirty="0"/>
              <a:t>: [10, 20, 30, , ], top = 1</a:t>
            </a:r>
          </a:p>
          <a:p>
            <a:r>
              <a:rPr lang="en-GB" b="1" dirty="0"/>
              <a:t>Note:</a:t>
            </a:r>
            <a:r>
              <a:rPr lang="en-GB" dirty="0"/>
              <a:t> The value 30 is still technically in the array, but it's now "dead" data. The stack logically only contains [10, 20]. The next push would overwrite 30.</a:t>
            </a:r>
          </a:p>
        </p:txBody>
      </p:sp>
      <p:sp>
        <p:nvSpPr>
          <p:cNvPr id="4" name="Footer Placeholder 3">
            <a:extLst>
              <a:ext uri="{FF2B5EF4-FFF2-40B4-BE49-F238E27FC236}">
                <a16:creationId xmlns:a16="http://schemas.microsoft.com/office/drawing/2014/main" id="{847CED07-1C1A-7496-B761-BDC98E97A971}"/>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15822384-94E5-75D1-6B10-CD1A93EB74D2}"/>
              </a:ext>
            </a:extLst>
          </p:cNvPr>
          <p:cNvSpPr>
            <a:spLocks noGrp="1"/>
          </p:cNvSpPr>
          <p:nvPr>
            <p:ph type="sldNum" sz="quarter" idx="12"/>
          </p:nvPr>
        </p:nvSpPr>
        <p:spPr/>
        <p:txBody>
          <a:bodyPr/>
          <a:lstStyle/>
          <a:p>
            <a:fld id="{CA4F2B70-5880-4CBE-A91F-8076F4F2F151}" type="slidenum">
              <a:rPr lang="en-US" smtClean="0"/>
              <a:t>14</a:t>
            </a:fld>
            <a:endParaRPr lang="en-US"/>
          </a:p>
        </p:txBody>
      </p:sp>
    </p:spTree>
    <p:extLst>
      <p:ext uri="{BB962C8B-B14F-4D97-AF65-F5344CB8AC3E}">
        <p14:creationId xmlns:p14="http://schemas.microsoft.com/office/powerpoint/2010/main" val="3714878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ABA44-0860-3A7A-16C8-3EB4F3F8527B}"/>
              </a:ext>
            </a:extLst>
          </p:cNvPr>
          <p:cNvSpPr>
            <a:spLocks noGrp="1"/>
          </p:cNvSpPr>
          <p:nvPr>
            <p:ph type="title"/>
          </p:nvPr>
        </p:nvSpPr>
        <p:spPr/>
        <p:txBody>
          <a:bodyPr/>
          <a:lstStyle/>
          <a:p>
            <a:r>
              <a:rPr lang="en-GB" b="1" dirty="0"/>
              <a:t>C++ Code: </a:t>
            </a:r>
            <a:r>
              <a:rPr lang="en-GB" b="1" dirty="0" err="1"/>
              <a:t>ArrayStack</a:t>
            </a:r>
            <a:r>
              <a:rPr lang="en-GB" b="1" dirty="0"/>
              <a:t> Class Structure</a:t>
            </a:r>
            <a:endParaRPr lang="en-GB" dirty="0"/>
          </a:p>
        </p:txBody>
      </p:sp>
      <p:sp>
        <p:nvSpPr>
          <p:cNvPr id="3" name="Content Placeholder 2">
            <a:extLst>
              <a:ext uri="{FF2B5EF4-FFF2-40B4-BE49-F238E27FC236}">
                <a16:creationId xmlns:a16="http://schemas.microsoft.com/office/drawing/2014/main" id="{EDA23D95-EBF4-F514-9D5E-B886B5997692}"/>
              </a:ext>
            </a:extLst>
          </p:cNvPr>
          <p:cNvSpPr>
            <a:spLocks noGrp="1"/>
          </p:cNvSpPr>
          <p:nvPr>
            <p:ph idx="1"/>
          </p:nvPr>
        </p:nvSpPr>
        <p:spPr/>
        <p:txBody>
          <a:bodyPr>
            <a:normAutofit fontScale="77500" lnSpcReduction="20000"/>
          </a:bodyPr>
          <a:lstStyle/>
          <a:p>
            <a:br>
              <a:rPr lang="en-GB" dirty="0"/>
            </a:br>
            <a:r>
              <a:rPr lang="en-GB" dirty="0"/>
              <a:t>#</a:t>
            </a:r>
            <a:r>
              <a:rPr lang="en-GB" b="1" dirty="0"/>
              <a:t>include</a:t>
            </a:r>
            <a:r>
              <a:rPr lang="en-GB" dirty="0"/>
              <a:t> &lt;iostream&gt;</a:t>
            </a:r>
            <a:br>
              <a:rPr lang="en-GB" dirty="0"/>
            </a:br>
            <a:r>
              <a:rPr lang="en-GB" dirty="0" err="1"/>
              <a:t>const</a:t>
            </a:r>
            <a:r>
              <a:rPr lang="en-GB" dirty="0"/>
              <a:t> int MAX_SIZE = 100;</a:t>
            </a:r>
            <a:br>
              <a:rPr lang="en-GB" dirty="0"/>
            </a:br>
            <a:br>
              <a:rPr lang="en-GB" dirty="0"/>
            </a:br>
            <a:r>
              <a:rPr lang="en-GB" dirty="0"/>
              <a:t>class </a:t>
            </a:r>
            <a:r>
              <a:rPr lang="en-GB" dirty="0" err="1"/>
              <a:t>ArrayStack</a:t>
            </a:r>
            <a:r>
              <a:rPr lang="en-GB" dirty="0"/>
              <a:t> {</a:t>
            </a:r>
            <a:br>
              <a:rPr lang="en-GB" dirty="0"/>
            </a:br>
            <a:r>
              <a:rPr lang="en-GB" dirty="0"/>
              <a:t>private:</a:t>
            </a:r>
            <a:br>
              <a:rPr lang="en-GB" dirty="0"/>
            </a:br>
            <a:r>
              <a:rPr lang="en-GB" dirty="0"/>
              <a:t>    int </a:t>
            </a:r>
            <a:r>
              <a:rPr lang="en-GB" dirty="0" err="1"/>
              <a:t>arr</a:t>
            </a:r>
            <a:r>
              <a:rPr lang="en-GB" dirty="0"/>
              <a:t>[MAX_SIZE];</a:t>
            </a:r>
            <a:br>
              <a:rPr lang="en-GB" dirty="0"/>
            </a:br>
            <a:r>
              <a:rPr lang="en-GB" dirty="0"/>
              <a:t>    int top;</a:t>
            </a:r>
            <a:br>
              <a:rPr lang="en-GB" dirty="0"/>
            </a:br>
            <a:br>
              <a:rPr lang="en-GB" dirty="0"/>
            </a:br>
            <a:r>
              <a:rPr lang="en-GB" dirty="0"/>
              <a:t>public:</a:t>
            </a:r>
            <a:br>
              <a:rPr lang="en-GB" dirty="0"/>
            </a:br>
            <a:r>
              <a:rPr lang="en-GB" dirty="0"/>
              <a:t>    // Constructor</a:t>
            </a:r>
            <a:br>
              <a:rPr lang="en-GB" dirty="0"/>
            </a:br>
            <a:r>
              <a:rPr lang="en-GB" dirty="0"/>
              <a:t>    </a:t>
            </a:r>
            <a:r>
              <a:rPr lang="en-GB" dirty="0" err="1"/>
              <a:t>ArrayStack</a:t>
            </a:r>
            <a:r>
              <a:rPr lang="en-GB" dirty="0"/>
              <a:t>() {</a:t>
            </a:r>
            <a:br>
              <a:rPr lang="en-GB" dirty="0"/>
            </a:br>
            <a:r>
              <a:rPr lang="en-GB" dirty="0"/>
              <a:t>        top = -1; // Initialize an empty stack</a:t>
            </a:r>
            <a:br>
              <a:rPr lang="en-GB" dirty="0"/>
            </a:br>
            <a:r>
              <a:rPr lang="en-GB" dirty="0"/>
              <a:t>    }</a:t>
            </a:r>
            <a:br>
              <a:rPr lang="en-GB" dirty="0"/>
            </a:br>
            <a:br>
              <a:rPr lang="en-GB" dirty="0"/>
            </a:br>
            <a:r>
              <a:rPr lang="en-GB" dirty="0"/>
              <a:t>    // Core Operations</a:t>
            </a:r>
            <a:br>
              <a:rPr lang="en-GB" dirty="0"/>
            </a:br>
            <a:r>
              <a:rPr lang="en-GB" dirty="0"/>
              <a:t>    void push(int value);</a:t>
            </a:r>
            <a:br>
              <a:rPr lang="en-GB" dirty="0"/>
            </a:br>
            <a:r>
              <a:rPr lang="en-GB" dirty="0"/>
              <a:t>    void pop();</a:t>
            </a:r>
            <a:br>
              <a:rPr lang="en-GB" dirty="0"/>
            </a:br>
            <a:r>
              <a:rPr lang="en-GB" dirty="0"/>
              <a:t>    int peek();</a:t>
            </a:r>
            <a:br>
              <a:rPr lang="en-GB" dirty="0"/>
            </a:br>
            <a:r>
              <a:rPr lang="en-GB" dirty="0"/>
              <a:t>    bool </a:t>
            </a:r>
            <a:r>
              <a:rPr lang="en-GB" dirty="0" err="1"/>
              <a:t>isEmpty</a:t>
            </a:r>
            <a:r>
              <a:rPr lang="en-GB" dirty="0"/>
              <a:t>();</a:t>
            </a:r>
            <a:br>
              <a:rPr lang="en-GB" dirty="0"/>
            </a:br>
            <a:r>
              <a:rPr lang="en-GB" dirty="0"/>
              <a:t>    bool </a:t>
            </a:r>
            <a:r>
              <a:rPr lang="en-GB" dirty="0" err="1"/>
              <a:t>isFull</a:t>
            </a:r>
            <a:r>
              <a:rPr lang="en-GB" dirty="0"/>
              <a:t>(); // A helper for array stacks</a:t>
            </a:r>
            <a:br>
              <a:rPr lang="en-GB" dirty="0"/>
            </a:br>
            <a:r>
              <a:rPr lang="en-GB" dirty="0"/>
              <a:t>};</a:t>
            </a:r>
          </a:p>
        </p:txBody>
      </p:sp>
      <p:sp>
        <p:nvSpPr>
          <p:cNvPr id="4" name="Footer Placeholder 3">
            <a:extLst>
              <a:ext uri="{FF2B5EF4-FFF2-40B4-BE49-F238E27FC236}">
                <a16:creationId xmlns:a16="http://schemas.microsoft.com/office/drawing/2014/main" id="{B5B980B9-8EE0-010D-306E-274E27333A50}"/>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BAF1EBAA-AA4B-42F6-FDF5-CB6387CC4E4A}"/>
              </a:ext>
            </a:extLst>
          </p:cNvPr>
          <p:cNvSpPr>
            <a:spLocks noGrp="1"/>
          </p:cNvSpPr>
          <p:nvPr>
            <p:ph type="sldNum" sz="quarter" idx="12"/>
          </p:nvPr>
        </p:nvSpPr>
        <p:spPr/>
        <p:txBody>
          <a:bodyPr/>
          <a:lstStyle/>
          <a:p>
            <a:fld id="{CA4F2B70-5880-4CBE-A91F-8076F4F2F151}" type="slidenum">
              <a:rPr lang="en-US" smtClean="0"/>
              <a:t>15</a:t>
            </a:fld>
            <a:endParaRPr lang="en-US"/>
          </a:p>
        </p:txBody>
      </p:sp>
    </p:spTree>
    <p:extLst>
      <p:ext uri="{BB962C8B-B14F-4D97-AF65-F5344CB8AC3E}">
        <p14:creationId xmlns:p14="http://schemas.microsoft.com/office/powerpoint/2010/main" val="2204886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E6F88-4976-BB01-8F5B-BCF2CCD8D821}"/>
              </a:ext>
            </a:extLst>
          </p:cNvPr>
          <p:cNvSpPr>
            <a:spLocks noGrp="1"/>
          </p:cNvSpPr>
          <p:nvPr>
            <p:ph type="title"/>
          </p:nvPr>
        </p:nvSpPr>
        <p:spPr/>
        <p:txBody>
          <a:bodyPr/>
          <a:lstStyle/>
          <a:p>
            <a:r>
              <a:rPr lang="en-GB" b="1" dirty="0"/>
              <a:t>C++ Code: push and pop</a:t>
            </a:r>
            <a:endParaRPr lang="en-GB" dirty="0"/>
          </a:p>
        </p:txBody>
      </p:sp>
      <p:sp>
        <p:nvSpPr>
          <p:cNvPr id="3" name="Content Placeholder 2">
            <a:extLst>
              <a:ext uri="{FF2B5EF4-FFF2-40B4-BE49-F238E27FC236}">
                <a16:creationId xmlns:a16="http://schemas.microsoft.com/office/drawing/2014/main" id="{00116E60-3BCC-9E0D-CBB5-FC0A69CDD6C0}"/>
              </a:ext>
            </a:extLst>
          </p:cNvPr>
          <p:cNvSpPr>
            <a:spLocks noGrp="1"/>
          </p:cNvSpPr>
          <p:nvPr>
            <p:ph idx="1"/>
          </p:nvPr>
        </p:nvSpPr>
        <p:spPr/>
        <p:txBody>
          <a:bodyPr>
            <a:normAutofit fontScale="92500" lnSpcReduction="20000"/>
          </a:bodyPr>
          <a:lstStyle/>
          <a:p>
            <a:r>
              <a:rPr lang="en-GB" dirty="0"/>
              <a:t>void </a:t>
            </a:r>
            <a:r>
              <a:rPr lang="en-GB" dirty="0" err="1"/>
              <a:t>ArrayStack</a:t>
            </a:r>
            <a:r>
              <a:rPr lang="en-GB" dirty="0"/>
              <a:t>::push(int value) {</a:t>
            </a:r>
            <a:br>
              <a:rPr lang="en-GB" dirty="0"/>
            </a:br>
            <a:r>
              <a:rPr lang="en-GB" dirty="0"/>
              <a:t>    if (</a:t>
            </a:r>
            <a:r>
              <a:rPr lang="en-GB" dirty="0" err="1"/>
              <a:t>isFull</a:t>
            </a:r>
            <a:r>
              <a:rPr lang="en-GB" dirty="0"/>
              <a:t>()) {</a:t>
            </a:r>
            <a:br>
              <a:rPr lang="en-GB" dirty="0"/>
            </a:br>
            <a:r>
              <a:rPr lang="en-GB" dirty="0"/>
              <a:t>        std::</a:t>
            </a:r>
            <a:r>
              <a:rPr lang="en-GB" dirty="0" err="1"/>
              <a:t>cout</a:t>
            </a:r>
            <a:r>
              <a:rPr lang="en-GB" dirty="0"/>
              <a:t> &lt;&lt; "Error: Stack Overflow!" &lt;&lt; std::</a:t>
            </a:r>
            <a:r>
              <a:rPr lang="en-GB" dirty="0" err="1"/>
              <a:t>endl</a:t>
            </a:r>
            <a:r>
              <a:rPr lang="en-GB" dirty="0"/>
              <a:t>;</a:t>
            </a:r>
            <a:br>
              <a:rPr lang="en-GB" dirty="0"/>
            </a:br>
            <a:r>
              <a:rPr lang="en-GB" dirty="0"/>
              <a:t>        return;</a:t>
            </a:r>
            <a:br>
              <a:rPr lang="en-GB" dirty="0"/>
            </a:br>
            <a:r>
              <a:rPr lang="en-GB" dirty="0"/>
              <a:t>    }</a:t>
            </a:r>
            <a:br>
              <a:rPr lang="en-GB" dirty="0"/>
            </a:br>
            <a:r>
              <a:rPr lang="en-GB" dirty="0"/>
              <a:t>    // Increment top, then insert</a:t>
            </a:r>
            <a:br>
              <a:rPr lang="en-GB" dirty="0"/>
            </a:br>
            <a:r>
              <a:rPr lang="en-GB" dirty="0"/>
              <a:t>    </a:t>
            </a:r>
            <a:r>
              <a:rPr lang="en-GB" dirty="0" err="1"/>
              <a:t>arr</a:t>
            </a:r>
            <a:r>
              <a:rPr lang="en-GB" dirty="0"/>
              <a:t>[++top] = value;</a:t>
            </a:r>
            <a:br>
              <a:rPr lang="en-GB" dirty="0"/>
            </a:br>
            <a:r>
              <a:rPr lang="en-GB" dirty="0"/>
              <a:t>}</a:t>
            </a:r>
            <a:br>
              <a:rPr lang="en-GB" dirty="0"/>
            </a:br>
            <a:br>
              <a:rPr lang="en-GB" dirty="0"/>
            </a:br>
            <a:r>
              <a:rPr lang="en-GB" dirty="0"/>
              <a:t>void </a:t>
            </a:r>
            <a:r>
              <a:rPr lang="en-GB" dirty="0" err="1"/>
              <a:t>ArrayStack</a:t>
            </a:r>
            <a:r>
              <a:rPr lang="en-GB" dirty="0"/>
              <a:t>::pop() {</a:t>
            </a:r>
            <a:br>
              <a:rPr lang="en-GB" dirty="0"/>
            </a:br>
            <a:r>
              <a:rPr lang="en-GB" dirty="0"/>
              <a:t>    if (</a:t>
            </a:r>
            <a:r>
              <a:rPr lang="en-GB" dirty="0" err="1"/>
              <a:t>isEmpty</a:t>
            </a:r>
            <a:r>
              <a:rPr lang="en-GB" dirty="0"/>
              <a:t>()) {</a:t>
            </a:r>
            <a:br>
              <a:rPr lang="en-GB" dirty="0"/>
            </a:br>
            <a:r>
              <a:rPr lang="en-GB" dirty="0"/>
              <a:t>        std::</a:t>
            </a:r>
            <a:r>
              <a:rPr lang="en-GB" dirty="0" err="1"/>
              <a:t>cout</a:t>
            </a:r>
            <a:r>
              <a:rPr lang="en-GB" dirty="0"/>
              <a:t> &lt;&lt; "Error: Stack Underflow!" &lt;&lt; std::</a:t>
            </a:r>
            <a:r>
              <a:rPr lang="en-GB" dirty="0" err="1"/>
              <a:t>endl</a:t>
            </a:r>
            <a:r>
              <a:rPr lang="en-GB" dirty="0"/>
              <a:t>;</a:t>
            </a:r>
            <a:br>
              <a:rPr lang="en-GB" dirty="0"/>
            </a:br>
            <a:r>
              <a:rPr lang="en-GB" dirty="0"/>
              <a:t>        return;</a:t>
            </a:r>
            <a:br>
              <a:rPr lang="en-GB" dirty="0"/>
            </a:br>
            <a:r>
              <a:rPr lang="en-GB" dirty="0"/>
              <a:t>    }</a:t>
            </a:r>
            <a:br>
              <a:rPr lang="en-GB" dirty="0"/>
            </a:br>
            <a:r>
              <a:rPr lang="en-GB" dirty="0"/>
              <a:t>    // Just decrement top</a:t>
            </a:r>
            <a:br>
              <a:rPr lang="en-GB" dirty="0"/>
            </a:br>
            <a:r>
              <a:rPr lang="en-GB" dirty="0"/>
              <a:t>    top--;</a:t>
            </a:r>
            <a:br>
              <a:rPr lang="en-GB" dirty="0"/>
            </a:br>
            <a:r>
              <a:rPr lang="en-GB" dirty="0"/>
              <a:t>}</a:t>
            </a:r>
          </a:p>
        </p:txBody>
      </p:sp>
      <p:sp>
        <p:nvSpPr>
          <p:cNvPr id="4" name="Footer Placeholder 3">
            <a:extLst>
              <a:ext uri="{FF2B5EF4-FFF2-40B4-BE49-F238E27FC236}">
                <a16:creationId xmlns:a16="http://schemas.microsoft.com/office/drawing/2014/main" id="{FF3FF469-14E2-C179-A707-98CB9D339D57}"/>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C377F25B-6ED3-C27E-339B-4C5C0B6B1E4D}"/>
              </a:ext>
            </a:extLst>
          </p:cNvPr>
          <p:cNvSpPr>
            <a:spLocks noGrp="1"/>
          </p:cNvSpPr>
          <p:nvPr>
            <p:ph type="sldNum" sz="quarter" idx="12"/>
          </p:nvPr>
        </p:nvSpPr>
        <p:spPr/>
        <p:txBody>
          <a:bodyPr/>
          <a:lstStyle/>
          <a:p>
            <a:fld id="{CA4F2B70-5880-4CBE-A91F-8076F4F2F151}" type="slidenum">
              <a:rPr lang="en-US" smtClean="0"/>
              <a:t>16</a:t>
            </a:fld>
            <a:endParaRPr lang="en-US"/>
          </a:p>
        </p:txBody>
      </p:sp>
    </p:spTree>
    <p:extLst>
      <p:ext uri="{BB962C8B-B14F-4D97-AF65-F5344CB8AC3E}">
        <p14:creationId xmlns:p14="http://schemas.microsoft.com/office/powerpoint/2010/main" val="3867574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0DF3C-C6D7-3CDE-5182-BF6B2CD7C7A3}"/>
              </a:ext>
            </a:extLst>
          </p:cNvPr>
          <p:cNvSpPr>
            <a:spLocks noGrp="1"/>
          </p:cNvSpPr>
          <p:nvPr>
            <p:ph type="title"/>
          </p:nvPr>
        </p:nvSpPr>
        <p:spPr/>
        <p:txBody>
          <a:bodyPr/>
          <a:lstStyle/>
          <a:p>
            <a:r>
              <a:rPr lang="en-GB" b="1" dirty="0"/>
              <a:t>C++ Code: peek, </a:t>
            </a:r>
            <a:r>
              <a:rPr lang="en-GB" b="1" dirty="0" err="1"/>
              <a:t>isEmpty</a:t>
            </a:r>
            <a:r>
              <a:rPr lang="en-GB" b="1" dirty="0"/>
              <a:t>, </a:t>
            </a:r>
            <a:r>
              <a:rPr lang="en-GB" b="1" dirty="0" err="1"/>
              <a:t>isFull</a:t>
            </a:r>
            <a:endParaRPr lang="en-GB" dirty="0"/>
          </a:p>
        </p:txBody>
      </p:sp>
      <p:sp>
        <p:nvSpPr>
          <p:cNvPr id="3" name="Content Placeholder 2">
            <a:extLst>
              <a:ext uri="{FF2B5EF4-FFF2-40B4-BE49-F238E27FC236}">
                <a16:creationId xmlns:a16="http://schemas.microsoft.com/office/drawing/2014/main" id="{2B63B587-2AC3-70E8-930B-A1B0EC96FB14}"/>
              </a:ext>
            </a:extLst>
          </p:cNvPr>
          <p:cNvSpPr>
            <a:spLocks noGrp="1"/>
          </p:cNvSpPr>
          <p:nvPr>
            <p:ph idx="1"/>
          </p:nvPr>
        </p:nvSpPr>
        <p:spPr/>
        <p:txBody>
          <a:bodyPr>
            <a:normAutofit lnSpcReduction="10000"/>
          </a:bodyPr>
          <a:lstStyle/>
          <a:p>
            <a:r>
              <a:rPr lang="en-GB" dirty="0"/>
              <a:t>int </a:t>
            </a:r>
            <a:r>
              <a:rPr lang="en-GB" dirty="0" err="1"/>
              <a:t>ArrayStack</a:t>
            </a:r>
            <a:r>
              <a:rPr lang="en-GB" dirty="0"/>
              <a:t>::peek() {</a:t>
            </a:r>
            <a:br>
              <a:rPr lang="en-GB" dirty="0"/>
            </a:br>
            <a:r>
              <a:rPr lang="en-GB" dirty="0"/>
              <a:t>    if (</a:t>
            </a:r>
            <a:r>
              <a:rPr lang="en-GB" dirty="0" err="1"/>
              <a:t>isEmpty</a:t>
            </a:r>
            <a:r>
              <a:rPr lang="en-GB" dirty="0"/>
              <a:t>()) {</a:t>
            </a:r>
            <a:br>
              <a:rPr lang="en-GB" dirty="0"/>
            </a:br>
            <a:r>
              <a:rPr lang="en-GB" dirty="0"/>
              <a:t>        std::</a:t>
            </a:r>
            <a:r>
              <a:rPr lang="en-GB" dirty="0" err="1"/>
              <a:t>cout</a:t>
            </a:r>
            <a:r>
              <a:rPr lang="en-GB" dirty="0"/>
              <a:t> &lt;&lt; "Error: Stack is empty!" &lt;&lt; std::</a:t>
            </a:r>
            <a:r>
              <a:rPr lang="en-GB" dirty="0" err="1"/>
              <a:t>endl</a:t>
            </a:r>
            <a:r>
              <a:rPr lang="en-GB" dirty="0"/>
              <a:t>;</a:t>
            </a:r>
            <a:br>
              <a:rPr lang="en-GB" dirty="0"/>
            </a:br>
            <a:r>
              <a:rPr lang="en-GB" dirty="0"/>
              <a:t>        return -1; // Or throw an exception</a:t>
            </a:r>
            <a:br>
              <a:rPr lang="en-GB" dirty="0"/>
            </a:br>
            <a:r>
              <a:rPr lang="en-GB" dirty="0"/>
              <a:t>    }</a:t>
            </a:r>
            <a:br>
              <a:rPr lang="en-GB" dirty="0"/>
            </a:br>
            <a:r>
              <a:rPr lang="en-GB" dirty="0"/>
              <a:t>    return </a:t>
            </a:r>
            <a:r>
              <a:rPr lang="en-GB" dirty="0" err="1"/>
              <a:t>arr</a:t>
            </a:r>
            <a:r>
              <a:rPr lang="en-GB" dirty="0"/>
              <a:t>[top];</a:t>
            </a:r>
            <a:br>
              <a:rPr lang="en-GB" dirty="0"/>
            </a:br>
            <a:r>
              <a:rPr lang="en-GB" dirty="0"/>
              <a:t>}</a:t>
            </a:r>
            <a:br>
              <a:rPr lang="en-GB" dirty="0"/>
            </a:br>
            <a:br>
              <a:rPr lang="en-GB" dirty="0"/>
            </a:br>
            <a:r>
              <a:rPr lang="en-GB" dirty="0"/>
              <a:t>bool </a:t>
            </a:r>
            <a:r>
              <a:rPr lang="en-GB" dirty="0" err="1"/>
              <a:t>ArrayStack</a:t>
            </a:r>
            <a:r>
              <a:rPr lang="en-GB" dirty="0"/>
              <a:t>::</a:t>
            </a:r>
            <a:r>
              <a:rPr lang="en-GB" dirty="0" err="1"/>
              <a:t>isEmpty</a:t>
            </a:r>
            <a:r>
              <a:rPr lang="en-GB" dirty="0"/>
              <a:t>() {</a:t>
            </a:r>
            <a:br>
              <a:rPr lang="en-GB" dirty="0"/>
            </a:br>
            <a:r>
              <a:rPr lang="en-GB" dirty="0"/>
              <a:t>    return top == -1;</a:t>
            </a:r>
            <a:br>
              <a:rPr lang="en-GB" dirty="0"/>
            </a:br>
            <a:r>
              <a:rPr lang="en-GB" dirty="0"/>
              <a:t>}</a:t>
            </a:r>
            <a:br>
              <a:rPr lang="en-GB" dirty="0"/>
            </a:br>
            <a:br>
              <a:rPr lang="en-GB" dirty="0"/>
            </a:br>
            <a:r>
              <a:rPr lang="en-GB" dirty="0"/>
              <a:t>bool </a:t>
            </a:r>
            <a:r>
              <a:rPr lang="en-GB" dirty="0" err="1"/>
              <a:t>ArrayStack</a:t>
            </a:r>
            <a:r>
              <a:rPr lang="en-GB" dirty="0"/>
              <a:t>::</a:t>
            </a:r>
            <a:r>
              <a:rPr lang="en-GB" dirty="0" err="1"/>
              <a:t>isFull</a:t>
            </a:r>
            <a:r>
              <a:rPr lang="en-GB" dirty="0"/>
              <a:t>() {</a:t>
            </a:r>
            <a:br>
              <a:rPr lang="en-GB" dirty="0"/>
            </a:br>
            <a:r>
              <a:rPr lang="en-GB" dirty="0"/>
              <a:t>    return top == MAX_SIZE - 1;</a:t>
            </a:r>
            <a:br>
              <a:rPr lang="en-GB" dirty="0"/>
            </a:br>
            <a:r>
              <a:rPr lang="en-GB" dirty="0"/>
              <a:t>}</a:t>
            </a:r>
          </a:p>
        </p:txBody>
      </p:sp>
      <p:sp>
        <p:nvSpPr>
          <p:cNvPr id="4" name="Footer Placeholder 3">
            <a:extLst>
              <a:ext uri="{FF2B5EF4-FFF2-40B4-BE49-F238E27FC236}">
                <a16:creationId xmlns:a16="http://schemas.microsoft.com/office/drawing/2014/main" id="{0F287F2A-AA0A-DC72-79D4-9E0ECE150213}"/>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F957C8E6-3B8E-EE80-DB5E-F10B99BB424F}"/>
              </a:ext>
            </a:extLst>
          </p:cNvPr>
          <p:cNvSpPr>
            <a:spLocks noGrp="1"/>
          </p:cNvSpPr>
          <p:nvPr>
            <p:ph type="sldNum" sz="quarter" idx="12"/>
          </p:nvPr>
        </p:nvSpPr>
        <p:spPr/>
        <p:txBody>
          <a:bodyPr/>
          <a:lstStyle/>
          <a:p>
            <a:fld id="{CA4F2B70-5880-4CBE-A91F-8076F4F2F151}" type="slidenum">
              <a:rPr lang="en-US" smtClean="0"/>
              <a:t>17</a:t>
            </a:fld>
            <a:endParaRPr lang="en-US"/>
          </a:p>
        </p:txBody>
      </p:sp>
    </p:spTree>
    <p:extLst>
      <p:ext uri="{BB962C8B-B14F-4D97-AF65-F5344CB8AC3E}">
        <p14:creationId xmlns:p14="http://schemas.microsoft.com/office/powerpoint/2010/main" val="168231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917A-3759-BDC5-2516-05AA60A29043}"/>
              </a:ext>
            </a:extLst>
          </p:cNvPr>
          <p:cNvSpPr>
            <a:spLocks noGrp="1"/>
          </p:cNvSpPr>
          <p:nvPr>
            <p:ph type="title"/>
          </p:nvPr>
        </p:nvSpPr>
        <p:spPr/>
        <p:txBody>
          <a:bodyPr/>
          <a:lstStyle/>
          <a:p>
            <a:r>
              <a:rPr lang="en-GB" b="1" dirty="0"/>
              <a:t>Stack Overflow and Underflow</a:t>
            </a:r>
            <a:endParaRPr lang="en-GB" dirty="0"/>
          </a:p>
        </p:txBody>
      </p:sp>
      <p:sp>
        <p:nvSpPr>
          <p:cNvPr id="3" name="Content Placeholder 2">
            <a:extLst>
              <a:ext uri="{FF2B5EF4-FFF2-40B4-BE49-F238E27FC236}">
                <a16:creationId xmlns:a16="http://schemas.microsoft.com/office/drawing/2014/main" id="{8C0CFF70-A5F3-85CB-10A2-AB3421E9F508}"/>
              </a:ext>
            </a:extLst>
          </p:cNvPr>
          <p:cNvSpPr>
            <a:spLocks noGrp="1"/>
          </p:cNvSpPr>
          <p:nvPr>
            <p:ph idx="1"/>
          </p:nvPr>
        </p:nvSpPr>
        <p:spPr/>
        <p:txBody>
          <a:bodyPr/>
          <a:lstStyle/>
          <a:p>
            <a:r>
              <a:rPr lang="en-GB" dirty="0"/>
              <a:t>These are two common error conditions for stacks:</a:t>
            </a:r>
          </a:p>
          <a:p>
            <a:pPr lvl="1" fontAlgn="base"/>
            <a:r>
              <a:rPr lang="en-GB" b="1" dirty="0"/>
              <a:t>Stack Overflow:</a:t>
            </a:r>
            <a:r>
              <a:rPr lang="en-GB" dirty="0"/>
              <a:t> Trying to push an element onto an already </a:t>
            </a:r>
            <a:r>
              <a:rPr lang="en-GB" b="1" dirty="0"/>
              <a:t>full</a:t>
            </a:r>
            <a:r>
              <a:rPr lang="en-GB" dirty="0"/>
              <a:t> stack. This is a major issue for fixed-size array implementations.</a:t>
            </a:r>
          </a:p>
          <a:p>
            <a:pPr lvl="1" fontAlgn="base"/>
            <a:r>
              <a:rPr lang="en-GB" b="1" dirty="0"/>
              <a:t>Stack Underflow:</a:t>
            </a:r>
            <a:r>
              <a:rPr lang="en-GB" dirty="0"/>
              <a:t> Trying to pop or peek from an </a:t>
            </a:r>
            <a:r>
              <a:rPr lang="en-GB" b="1" dirty="0"/>
              <a:t>empty</a:t>
            </a:r>
            <a:r>
              <a:rPr lang="en-GB" dirty="0"/>
              <a:t> stack. This can happen in any implementation.</a:t>
            </a:r>
          </a:p>
          <a:p>
            <a:r>
              <a:rPr lang="en-GB" dirty="0"/>
              <a:t>Our code handles these by printing an error message, but in real-world applications, you'd typically throw an exception.</a:t>
            </a:r>
          </a:p>
          <a:p>
            <a:br>
              <a:rPr lang="en-GB" dirty="0"/>
            </a:br>
            <a:endParaRPr lang="en-GB" dirty="0"/>
          </a:p>
        </p:txBody>
      </p:sp>
      <p:sp>
        <p:nvSpPr>
          <p:cNvPr id="4" name="Footer Placeholder 3">
            <a:extLst>
              <a:ext uri="{FF2B5EF4-FFF2-40B4-BE49-F238E27FC236}">
                <a16:creationId xmlns:a16="http://schemas.microsoft.com/office/drawing/2014/main" id="{DCC5A554-4132-EC95-2906-C0586761F8FC}"/>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6981EB9A-005E-E27E-5B52-02CDA1001447}"/>
              </a:ext>
            </a:extLst>
          </p:cNvPr>
          <p:cNvSpPr>
            <a:spLocks noGrp="1"/>
          </p:cNvSpPr>
          <p:nvPr>
            <p:ph type="sldNum" sz="quarter" idx="12"/>
          </p:nvPr>
        </p:nvSpPr>
        <p:spPr/>
        <p:txBody>
          <a:bodyPr/>
          <a:lstStyle/>
          <a:p>
            <a:fld id="{CA4F2B70-5880-4CBE-A91F-8076F4F2F151}" type="slidenum">
              <a:rPr lang="en-US" smtClean="0"/>
              <a:t>18</a:t>
            </a:fld>
            <a:endParaRPr lang="en-US"/>
          </a:p>
        </p:txBody>
      </p:sp>
    </p:spTree>
    <p:extLst>
      <p:ext uri="{BB962C8B-B14F-4D97-AF65-F5344CB8AC3E}">
        <p14:creationId xmlns:p14="http://schemas.microsoft.com/office/powerpoint/2010/main" val="1843015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58D7C-6674-A8BD-4FFE-22CEC8AA509D}"/>
              </a:ext>
            </a:extLst>
          </p:cNvPr>
          <p:cNvSpPr>
            <a:spLocks noGrp="1"/>
          </p:cNvSpPr>
          <p:nvPr>
            <p:ph type="title"/>
          </p:nvPr>
        </p:nvSpPr>
        <p:spPr/>
        <p:txBody>
          <a:bodyPr/>
          <a:lstStyle/>
          <a:p>
            <a:r>
              <a:rPr lang="en-GB" dirty="0"/>
              <a:t>Analysis of Array-Based Stack</a:t>
            </a:r>
          </a:p>
        </p:txBody>
      </p:sp>
      <p:sp>
        <p:nvSpPr>
          <p:cNvPr id="3" name="Content Placeholder 2">
            <a:extLst>
              <a:ext uri="{FF2B5EF4-FFF2-40B4-BE49-F238E27FC236}">
                <a16:creationId xmlns:a16="http://schemas.microsoft.com/office/drawing/2014/main" id="{43518310-36E1-1D26-A8BA-625DBE3E8E2B}"/>
              </a:ext>
            </a:extLst>
          </p:cNvPr>
          <p:cNvSpPr>
            <a:spLocks noGrp="1"/>
          </p:cNvSpPr>
          <p:nvPr>
            <p:ph idx="1"/>
          </p:nvPr>
        </p:nvSpPr>
        <p:spPr/>
        <p:txBody>
          <a:bodyPr/>
          <a:lstStyle/>
          <a:p>
            <a:r>
              <a:rPr lang="en-US" dirty="0"/>
              <a:t>L</a:t>
            </a:r>
            <a:r>
              <a:rPr lang="en-GB" dirty="0" err="1"/>
              <a:t>et's</a:t>
            </a:r>
            <a:r>
              <a:rPr lang="en-GB" dirty="0"/>
              <a:t> </a:t>
            </a:r>
            <a:r>
              <a:rPr lang="en-GB" dirty="0" err="1"/>
              <a:t>analyze</a:t>
            </a:r>
            <a:r>
              <a:rPr lang="en-GB" dirty="0"/>
              <a:t> the </a:t>
            </a:r>
            <a:r>
              <a:rPr lang="en-GB" b="1" dirty="0"/>
              <a:t>time complexity</a:t>
            </a:r>
            <a:r>
              <a:rPr lang="en-GB" dirty="0"/>
              <a:t> (Big-O) of each operation. How much work do they do as the number of elements, n, grows?</a:t>
            </a:r>
          </a:p>
          <a:p>
            <a:r>
              <a:rPr lang="en-GB" dirty="0"/>
              <a:t>push(value): Incrementing top and assigning a value to an array index are both single steps. </a:t>
            </a:r>
            <a:r>
              <a:rPr lang="en-GB" b="1" dirty="0"/>
              <a:t>O(1)</a:t>
            </a:r>
            <a:r>
              <a:rPr lang="en-GB" dirty="0"/>
              <a:t>.</a:t>
            </a:r>
          </a:p>
          <a:p>
            <a:r>
              <a:rPr lang="en-GB" dirty="0"/>
              <a:t>pop(): Decrementing top is a single step. </a:t>
            </a:r>
            <a:r>
              <a:rPr lang="en-GB" b="1" dirty="0"/>
              <a:t>O(1)</a:t>
            </a:r>
            <a:r>
              <a:rPr lang="en-GB" dirty="0"/>
              <a:t>.</a:t>
            </a:r>
          </a:p>
          <a:p>
            <a:r>
              <a:rPr lang="en-GB" dirty="0"/>
              <a:t>peek(): Accessing </a:t>
            </a:r>
            <a:r>
              <a:rPr lang="en-GB" dirty="0" err="1"/>
              <a:t>arr</a:t>
            </a:r>
            <a:r>
              <a:rPr lang="en-GB" dirty="0"/>
              <a:t>[top] is a single step. </a:t>
            </a:r>
            <a:r>
              <a:rPr lang="en-GB" b="1" dirty="0"/>
              <a:t>O(1)</a:t>
            </a:r>
            <a:r>
              <a:rPr lang="en-GB" dirty="0"/>
              <a:t>.</a:t>
            </a:r>
          </a:p>
          <a:p>
            <a:r>
              <a:rPr lang="en-GB" dirty="0" err="1"/>
              <a:t>isEmpty</a:t>
            </a:r>
            <a:r>
              <a:rPr lang="en-GB" dirty="0"/>
              <a:t>(): A single comparison. </a:t>
            </a:r>
            <a:r>
              <a:rPr lang="en-GB" b="1" dirty="0"/>
              <a:t>O(1)</a:t>
            </a:r>
            <a:r>
              <a:rPr lang="en-GB" dirty="0"/>
              <a:t>.</a:t>
            </a:r>
          </a:p>
          <a:p>
            <a:r>
              <a:rPr lang="en-GB" b="1" dirty="0"/>
              <a:t>This is fantastic! All core operations are constant time.</a:t>
            </a:r>
            <a:endParaRPr lang="en-GB" dirty="0"/>
          </a:p>
          <a:p>
            <a:endParaRPr lang="en-GB" dirty="0"/>
          </a:p>
        </p:txBody>
      </p:sp>
      <p:sp>
        <p:nvSpPr>
          <p:cNvPr id="4" name="Footer Placeholder 3">
            <a:extLst>
              <a:ext uri="{FF2B5EF4-FFF2-40B4-BE49-F238E27FC236}">
                <a16:creationId xmlns:a16="http://schemas.microsoft.com/office/drawing/2014/main" id="{D97BC052-EA97-2B61-E587-F7447334A95F}"/>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3D159785-98DD-9199-0ED5-6E1E8F0BE9BC}"/>
              </a:ext>
            </a:extLst>
          </p:cNvPr>
          <p:cNvSpPr>
            <a:spLocks noGrp="1"/>
          </p:cNvSpPr>
          <p:nvPr>
            <p:ph type="sldNum" sz="quarter" idx="12"/>
          </p:nvPr>
        </p:nvSpPr>
        <p:spPr/>
        <p:txBody>
          <a:bodyPr/>
          <a:lstStyle/>
          <a:p>
            <a:fld id="{CA4F2B70-5880-4CBE-A91F-8076F4F2F151}" type="slidenum">
              <a:rPr lang="en-US" smtClean="0"/>
              <a:t>19</a:t>
            </a:fld>
            <a:endParaRPr lang="en-US"/>
          </a:p>
        </p:txBody>
      </p:sp>
    </p:spTree>
    <p:extLst>
      <p:ext uri="{BB962C8B-B14F-4D97-AF65-F5344CB8AC3E}">
        <p14:creationId xmlns:p14="http://schemas.microsoft.com/office/powerpoint/2010/main" val="405078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48739-13EB-946C-051B-C56ECD1D3DA6}"/>
              </a:ext>
            </a:extLst>
          </p:cNvPr>
          <p:cNvSpPr>
            <a:spLocks noGrp="1"/>
          </p:cNvSpPr>
          <p:nvPr>
            <p:ph type="title"/>
          </p:nvPr>
        </p:nvSpPr>
        <p:spPr/>
        <p:txBody>
          <a:bodyPr/>
          <a:lstStyle/>
          <a:p>
            <a:r>
              <a:rPr lang="en-GB" dirty="0"/>
              <a:t>Space Complexity of Array-Based Stack</a:t>
            </a:r>
          </a:p>
        </p:txBody>
      </p:sp>
      <p:sp>
        <p:nvSpPr>
          <p:cNvPr id="3" name="Content Placeholder 2">
            <a:extLst>
              <a:ext uri="{FF2B5EF4-FFF2-40B4-BE49-F238E27FC236}">
                <a16:creationId xmlns:a16="http://schemas.microsoft.com/office/drawing/2014/main" id="{7B7095D8-A007-56F4-BEE2-6286A685EE02}"/>
              </a:ext>
            </a:extLst>
          </p:cNvPr>
          <p:cNvSpPr>
            <a:spLocks noGrp="1"/>
          </p:cNvSpPr>
          <p:nvPr>
            <p:ph idx="1"/>
          </p:nvPr>
        </p:nvSpPr>
        <p:spPr/>
        <p:txBody>
          <a:bodyPr/>
          <a:lstStyle/>
          <a:p>
            <a:r>
              <a:rPr lang="en-GB" dirty="0"/>
              <a:t>Space Complexity refers to how much memory the structure uses.</a:t>
            </a:r>
          </a:p>
          <a:p>
            <a:r>
              <a:rPr lang="en-GB" dirty="0"/>
              <a:t>Since we pre-allocate an array of MAX_SIZE, the space used is fixed.</a:t>
            </a:r>
          </a:p>
          <a:p>
            <a:r>
              <a:rPr lang="en-GB" dirty="0"/>
              <a:t>The space complexity is O(MAX_SIZE), or simply O(N) where N is the maximum capacity.</a:t>
            </a:r>
          </a:p>
          <a:p>
            <a:r>
              <a:rPr lang="en-GB" dirty="0"/>
              <a:t>This is true even if the stack only contains 3 elements. </a:t>
            </a:r>
          </a:p>
          <a:p>
            <a:r>
              <a:rPr lang="en-GB" dirty="0"/>
              <a:t>The memory for all 100 (or whatever MAX_SIZE is) has been reserved. This can be wasteful.</a:t>
            </a:r>
          </a:p>
        </p:txBody>
      </p:sp>
      <p:sp>
        <p:nvSpPr>
          <p:cNvPr id="4" name="Footer Placeholder 3">
            <a:extLst>
              <a:ext uri="{FF2B5EF4-FFF2-40B4-BE49-F238E27FC236}">
                <a16:creationId xmlns:a16="http://schemas.microsoft.com/office/drawing/2014/main" id="{E7C0021C-0D70-501F-C1CE-0F4FB25FBB45}"/>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FF454CE5-D242-7127-6ECB-9E7253F35AED}"/>
              </a:ext>
            </a:extLst>
          </p:cNvPr>
          <p:cNvSpPr>
            <a:spLocks noGrp="1"/>
          </p:cNvSpPr>
          <p:nvPr>
            <p:ph type="sldNum" sz="quarter" idx="12"/>
          </p:nvPr>
        </p:nvSpPr>
        <p:spPr/>
        <p:txBody>
          <a:bodyPr/>
          <a:lstStyle/>
          <a:p>
            <a:fld id="{CA4F2B70-5880-4CBE-A91F-8076F4F2F151}" type="slidenum">
              <a:rPr lang="en-US" smtClean="0"/>
              <a:t>20</a:t>
            </a:fld>
            <a:endParaRPr lang="en-US"/>
          </a:p>
        </p:txBody>
      </p:sp>
    </p:spTree>
    <p:extLst>
      <p:ext uri="{BB962C8B-B14F-4D97-AF65-F5344CB8AC3E}">
        <p14:creationId xmlns:p14="http://schemas.microsoft.com/office/powerpoint/2010/main" val="777396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72CCB-F5C2-0879-DD15-3FE27CFA6EF6}"/>
              </a:ext>
            </a:extLst>
          </p:cNvPr>
          <p:cNvSpPr>
            <a:spLocks noGrp="1"/>
          </p:cNvSpPr>
          <p:nvPr>
            <p:ph type="title"/>
          </p:nvPr>
        </p:nvSpPr>
        <p:spPr/>
        <p:txBody>
          <a:bodyPr/>
          <a:lstStyle/>
          <a:p>
            <a:r>
              <a:rPr lang="en-GB" dirty="0"/>
              <a:t>The Achilles' Heel: Fixed Size</a:t>
            </a:r>
          </a:p>
        </p:txBody>
      </p:sp>
      <p:sp>
        <p:nvSpPr>
          <p:cNvPr id="3" name="Content Placeholder 2">
            <a:extLst>
              <a:ext uri="{FF2B5EF4-FFF2-40B4-BE49-F238E27FC236}">
                <a16:creationId xmlns:a16="http://schemas.microsoft.com/office/drawing/2014/main" id="{1493C5F3-4D23-6C9A-7ECE-7B5CEBF7D1AC}"/>
              </a:ext>
            </a:extLst>
          </p:cNvPr>
          <p:cNvSpPr>
            <a:spLocks noGrp="1"/>
          </p:cNvSpPr>
          <p:nvPr>
            <p:ph idx="1"/>
          </p:nvPr>
        </p:nvSpPr>
        <p:spPr/>
        <p:txBody>
          <a:bodyPr/>
          <a:lstStyle/>
          <a:p>
            <a:r>
              <a:rPr lang="en-GB" dirty="0"/>
              <a:t>he array-based stack is simple and fast, but it has one major drawback:</a:t>
            </a:r>
          </a:p>
          <a:p>
            <a:r>
              <a:rPr lang="en-GB" b="1" dirty="0"/>
              <a:t>You must know the maximum possible size of the stack when you write the program.</a:t>
            </a:r>
            <a:endParaRPr lang="en-GB" dirty="0"/>
          </a:p>
          <a:p>
            <a:r>
              <a:rPr lang="en-GB" dirty="0"/>
              <a:t>What if you set MAX_SIZE to 100, but your application needs to store 101 items? </a:t>
            </a:r>
            <a:r>
              <a:rPr lang="en-GB" b="1" dirty="0"/>
              <a:t>Stack Overflow!</a:t>
            </a:r>
            <a:r>
              <a:rPr lang="en-GB" dirty="0"/>
              <a:t> 💥</a:t>
            </a:r>
          </a:p>
          <a:p>
            <a:r>
              <a:rPr lang="en-GB" dirty="0"/>
              <a:t>What if you set MAX_SIZE to 1,000,000 but usually only store 10 items? </a:t>
            </a:r>
            <a:r>
              <a:rPr lang="en-GB" b="1" dirty="0"/>
              <a:t>Wasted memory!</a:t>
            </a:r>
            <a:endParaRPr lang="en-GB" dirty="0"/>
          </a:p>
          <a:p>
            <a:endParaRPr lang="en-GB" dirty="0"/>
          </a:p>
        </p:txBody>
      </p:sp>
      <p:sp>
        <p:nvSpPr>
          <p:cNvPr id="4" name="Footer Placeholder 3">
            <a:extLst>
              <a:ext uri="{FF2B5EF4-FFF2-40B4-BE49-F238E27FC236}">
                <a16:creationId xmlns:a16="http://schemas.microsoft.com/office/drawing/2014/main" id="{25C18A9E-D398-AA05-7E09-612B89B0D36E}"/>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FE577038-8E46-2ACA-6937-10EEBEB80458}"/>
              </a:ext>
            </a:extLst>
          </p:cNvPr>
          <p:cNvSpPr>
            <a:spLocks noGrp="1"/>
          </p:cNvSpPr>
          <p:nvPr>
            <p:ph type="sldNum" sz="quarter" idx="12"/>
          </p:nvPr>
        </p:nvSpPr>
        <p:spPr/>
        <p:txBody>
          <a:bodyPr/>
          <a:lstStyle/>
          <a:p>
            <a:fld id="{CA4F2B70-5880-4CBE-A91F-8076F4F2F151}" type="slidenum">
              <a:rPr lang="en-US" smtClean="0"/>
              <a:t>21</a:t>
            </a:fld>
            <a:endParaRPr lang="en-US"/>
          </a:p>
        </p:txBody>
      </p:sp>
    </p:spTree>
    <p:extLst>
      <p:ext uri="{BB962C8B-B14F-4D97-AF65-F5344CB8AC3E}">
        <p14:creationId xmlns:p14="http://schemas.microsoft.com/office/powerpoint/2010/main" val="3252459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88E2-6597-C50E-CA05-F91DDC7D17D4}"/>
              </a:ext>
            </a:extLst>
          </p:cNvPr>
          <p:cNvSpPr>
            <a:spLocks noGrp="1"/>
          </p:cNvSpPr>
          <p:nvPr>
            <p:ph type="title"/>
          </p:nvPr>
        </p:nvSpPr>
        <p:spPr/>
        <p:txBody>
          <a:bodyPr/>
          <a:lstStyle/>
          <a:p>
            <a:r>
              <a:rPr lang="en-GB" dirty="0"/>
              <a:t>Discussion: Overcoming the Size Limit</a:t>
            </a:r>
          </a:p>
        </p:txBody>
      </p:sp>
      <p:sp>
        <p:nvSpPr>
          <p:cNvPr id="3" name="Content Placeholder 2">
            <a:extLst>
              <a:ext uri="{FF2B5EF4-FFF2-40B4-BE49-F238E27FC236}">
                <a16:creationId xmlns:a16="http://schemas.microsoft.com/office/drawing/2014/main" id="{E024BA8B-BCC5-CDB9-CEE1-66981864105D}"/>
              </a:ext>
            </a:extLst>
          </p:cNvPr>
          <p:cNvSpPr>
            <a:spLocks noGrp="1"/>
          </p:cNvSpPr>
          <p:nvPr>
            <p:ph idx="1"/>
          </p:nvPr>
        </p:nvSpPr>
        <p:spPr/>
        <p:txBody>
          <a:bodyPr/>
          <a:lstStyle/>
          <a:p>
            <a:r>
              <a:rPr lang="en-GB" dirty="0"/>
              <a:t>How could we design a stack that grows and shrinks as needed?</a:t>
            </a:r>
          </a:p>
          <a:p>
            <a:r>
              <a:rPr lang="en-GB" dirty="0"/>
              <a:t>What if, when the array gets full, we create a new, bigger array (e.g., double the size) and copy all the elements over? (This is a </a:t>
            </a:r>
            <a:r>
              <a:rPr lang="en-GB" b="1" dirty="0"/>
              <a:t>dynamic array</a:t>
            </a:r>
            <a:r>
              <a:rPr lang="en-GB" dirty="0"/>
              <a:t> or </a:t>
            </a:r>
            <a:r>
              <a:rPr lang="en-GB" b="1" dirty="0"/>
              <a:t>vector</a:t>
            </a:r>
            <a:r>
              <a:rPr lang="en-GB" dirty="0"/>
              <a:t>).</a:t>
            </a:r>
          </a:p>
          <a:p>
            <a:r>
              <a:rPr lang="en-GB" dirty="0"/>
              <a:t>What if we didn't use a contiguous block of memory at all? What if each element could be stored anywhere in memory and just knew where the next one was? (This leads us to our next implementation...).</a:t>
            </a:r>
          </a:p>
          <a:p>
            <a:endParaRPr lang="en-GB" dirty="0"/>
          </a:p>
        </p:txBody>
      </p:sp>
      <p:sp>
        <p:nvSpPr>
          <p:cNvPr id="4" name="Footer Placeholder 3">
            <a:extLst>
              <a:ext uri="{FF2B5EF4-FFF2-40B4-BE49-F238E27FC236}">
                <a16:creationId xmlns:a16="http://schemas.microsoft.com/office/drawing/2014/main" id="{B6B8C9C6-E05E-437C-4C40-D2DD1C1096E6}"/>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0C0FD9D9-D135-04F6-A553-9355097190A4}"/>
              </a:ext>
            </a:extLst>
          </p:cNvPr>
          <p:cNvSpPr>
            <a:spLocks noGrp="1"/>
          </p:cNvSpPr>
          <p:nvPr>
            <p:ph type="sldNum" sz="quarter" idx="12"/>
          </p:nvPr>
        </p:nvSpPr>
        <p:spPr/>
        <p:txBody>
          <a:bodyPr/>
          <a:lstStyle/>
          <a:p>
            <a:fld id="{CA4F2B70-5880-4CBE-A91F-8076F4F2F151}" type="slidenum">
              <a:rPr lang="en-US" smtClean="0"/>
              <a:t>22</a:t>
            </a:fld>
            <a:endParaRPr lang="en-US"/>
          </a:p>
        </p:txBody>
      </p:sp>
    </p:spTree>
    <p:extLst>
      <p:ext uri="{BB962C8B-B14F-4D97-AF65-F5344CB8AC3E}">
        <p14:creationId xmlns:p14="http://schemas.microsoft.com/office/powerpoint/2010/main" val="2641177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F6084-979F-3666-2714-0EA3969F9B55}"/>
              </a:ext>
            </a:extLst>
          </p:cNvPr>
          <p:cNvSpPr>
            <a:spLocks noGrp="1"/>
          </p:cNvSpPr>
          <p:nvPr>
            <p:ph type="title"/>
          </p:nvPr>
        </p:nvSpPr>
        <p:spPr/>
        <p:txBody>
          <a:bodyPr/>
          <a:lstStyle/>
          <a:p>
            <a:r>
              <a:rPr lang="en-GB" dirty="0"/>
              <a:t>Stacks in the C++ Standard Template Library (STL)</a:t>
            </a:r>
          </a:p>
        </p:txBody>
      </p:sp>
      <p:sp>
        <p:nvSpPr>
          <p:cNvPr id="3" name="Content Placeholder 2">
            <a:extLst>
              <a:ext uri="{FF2B5EF4-FFF2-40B4-BE49-F238E27FC236}">
                <a16:creationId xmlns:a16="http://schemas.microsoft.com/office/drawing/2014/main" id="{EF0692C0-3946-DDF3-A6AD-4B46D551335B}"/>
              </a:ext>
            </a:extLst>
          </p:cNvPr>
          <p:cNvSpPr>
            <a:spLocks noGrp="1"/>
          </p:cNvSpPr>
          <p:nvPr>
            <p:ph idx="1"/>
          </p:nvPr>
        </p:nvSpPr>
        <p:spPr/>
        <p:txBody>
          <a:bodyPr/>
          <a:lstStyle/>
          <a:p>
            <a:r>
              <a:rPr lang="en-GB" dirty="0"/>
              <a:t>You almost never need to build a stack from scratch in C++! The STL provides a ready-to-use template class: std::stack.</a:t>
            </a:r>
          </a:p>
          <a:p>
            <a:r>
              <a:rPr lang="en-GB" dirty="0"/>
              <a:t>It’s a </a:t>
            </a:r>
            <a:r>
              <a:rPr lang="en-GB" b="1" dirty="0"/>
              <a:t>container adapter</a:t>
            </a:r>
            <a:r>
              <a:rPr lang="en-GB" dirty="0"/>
              <a:t>, not a container itself.</a:t>
            </a:r>
          </a:p>
          <a:p>
            <a:r>
              <a:rPr lang="en-GB" dirty="0"/>
              <a:t>This means it doesn't actually store data. Instead, it provides a stack-like LIFO interface (push, pop, top, etc.) on top of an underlying container.</a:t>
            </a:r>
          </a:p>
          <a:p>
            <a:r>
              <a:rPr lang="en-GB" dirty="0"/>
              <a:t>By default, it uses std::deque (a double-ended queue), but you can also make it use std::vector or std::list.</a:t>
            </a:r>
          </a:p>
          <a:p>
            <a:endParaRPr lang="en-GB" dirty="0"/>
          </a:p>
        </p:txBody>
      </p:sp>
      <p:sp>
        <p:nvSpPr>
          <p:cNvPr id="4" name="Footer Placeholder 3">
            <a:extLst>
              <a:ext uri="{FF2B5EF4-FFF2-40B4-BE49-F238E27FC236}">
                <a16:creationId xmlns:a16="http://schemas.microsoft.com/office/drawing/2014/main" id="{D9FCE64E-1A00-C8BA-7406-7D8D2BF36018}"/>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E7C2B8C6-217E-A579-7E7E-DAE67A831F1B}"/>
              </a:ext>
            </a:extLst>
          </p:cNvPr>
          <p:cNvSpPr>
            <a:spLocks noGrp="1"/>
          </p:cNvSpPr>
          <p:nvPr>
            <p:ph type="sldNum" sz="quarter" idx="12"/>
          </p:nvPr>
        </p:nvSpPr>
        <p:spPr/>
        <p:txBody>
          <a:bodyPr/>
          <a:lstStyle/>
          <a:p>
            <a:fld id="{CA4F2B70-5880-4CBE-A91F-8076F4F2F151}" type="slidenum">
              <a:rPr lang="en-US" smtClean="0"/>
              <a:t>23</a:t>
            </a:fld>
            <a:endParaRPr lang="en-US"/>
          </a:p>
        </p:txBody>
      </p:sp>
    </p:spTree>
    <p:extLst>
      <p:ext uri="{BB962C8B-B14F-4D97-AF65-F5344CB8AC3E}">
        <p14:creationId xmlns:p14="http://schemas.microsoft.com/office/powerpoint/2010/main" val="2007447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744C5-1E71-1AA1-0E3D-C2D7F9213C6E}"/>
              </a:ext>
            </a:extLst>
          </p:cNvPr>
          <p:cNvSpPr>
            <a:spLocks noGrp="1"/>
          </p:cNvSpPr>
          <p:nvPr>
            <p:ph type="title"/>
          </p:nvPr>
        </p:nvSpPr>
        <p:spPr/>
        <p:txBody>
          <a:bodyPr/>
          <a:lstStyle/>
          <a:p>
            <a:r>
              <a:rPr lang="en-GB" dirty="0"/>
              <a:t>C++ Code Example: Using std::stack</a:t>
            </a:r>
          </a:p>
        </p:txBody>
      </p:sp>
      <p:sp>
        <p:nvSpPr>
          <p:cNvPr id="3" name="Content Placeholder 2">
            <a:extLst>
              <a:ext uri="{FF2B5EF4-FFF2-40B4-BE49-F238E27FC236}">
                <a16:creationId xmlns:a16="http://schemas.microsoft.com/office/drawing/2014/main" id="{62FD1FFF-F18D-DFCF-6AE9-BF022D5A3CF3}"/>
              </a:ext>
            </a:extLst>
          </p:cNvPr>
          <p:cNvSpPr>
            <a:spLocks noGrp="1"/>
          </p:cNvSpPr>
          <p:nvPr>
            <p:ph sz="half" idx="1"/>
          </p:nvPr>
        </p:nvSpPr>
        <p:spPr/>
        <p:txBody>
          <a:bodyPr>
            <a:normAutofit fontScale="47500" lnSpcReduction="20000"/>
          </a:bodyPr>
          <a:lstStyle/>
          <a:p>
            <a:r>
              <a:rPr lang="en-GB" dirty="0"/>
              <a:t>Using the STL stack is clean and simple. Notice the operations have slightly different names (top instead of peek, and pop is void).</a:t>
            </a:r>
          </a:p>
          <a:p>
            <a:endParaRPr lang="en-GB" dirty="0"/>
          </a:p>
        </p:txBody>
      </p:sp>
      <p:sp>
        <p:nvSpPr>
          <p:cNvPr id="4" name="Content Placeholder 3">
            <a:extLst>
              <a:ext uri="{FF2B5EF4-FFF2-40B4-BE49-F238E27FC236}">
                <a16:creationId xmlns:a16="http://schemas.microsoft.com/office/drawing/2014/main" id="{3D6F892C-D41C-45A3-4AA9-A42D5016BE7E}"/>
              </a:ext>
            </a:extLst>
          </p:cNvPr>
          <p:cNvSpPr>
            <a:spLocks noGrp="1"/>
          </p:cNvSpPr>
          <p:nvPr>
            <p:ph sz="half" idx="2"/>
          </p:nvPr>
        </p:nvSpPr>
        <p:spPr/>
        <p:txBody>
          <a:bodyPr>
            <a:normAutofit fontScale="47500" lnSpcReduction="20000"/>
          </a:bodyPr>
          <a:lstStyle/>
          <a:p>
            <a:r>
              <a:rPr lang="en-GB" dirty="0"/>
              <a:t>#include &lt;iostream&gt;</a:t>
            </a:r>
          </a:p>
          <a:p>
            <a:r>
              <a:rPr lang="en-GB" dirty="0"/>
              <a:t>#include &lt;stack&gt;</a:t>
            </a:r>
          </a:p>
          <a:p>
            <a:r>
              <a:rPr lang="en-GB" dirty="0"/>
              <a:t>int main() {</a:t>
            </a:r>
          </a:p>
          <a:p>
            <a:r>
              <a:rPr lang="en-GB" dirty="0"/>
              <a:t>    std::stack&lt;std::string&gt; books;</a:t>
            </a:r>
          </a:p>
          <a:p>
            <a:r>
              <a:rPr lang="en-GB" dirty="0"/>
              <a:t>    std::</a:t>
            </a:r>
            <a:r>
              <a:rPr lang="en-GB" dirty="0" err="1"/>
              <a:t>cout</a:t>
            </a:r>
            <a:r>
              <a:rPr lang="en-GB" dirty="0"/>
              <a:t> &lt;&lt; "Is the stack empty? " &lt;&lt; (</a:t>
            </a:r>
            <a:r>
              <a:rPr lang="en-GB" dirty="0" err="1"/>
              <a:t>books.empty</a:t>
            </a:r>
            <a:r>
              <a:rPr lang="en-GB" dirty="0"/>
              <a:t>() ? "Yes" : "No") &lt;&lt; std::</a:t>
            </a:r>
            <a:r>
              <a:rPr lang="en-GB" dirty="0" err="1"/>
              <a:t>endl</a:t>
            </a:r>
            <a:r>
              <a:rPr lang="en-GB" dirty="0"/>
              <a:t>;</a:t>
            </a:r>
          </a:p>
          <a:p>
            <a:r>
              <a:rPr lang="en-GB" dirty="0"/>
              <a:t>    </a:t>
            </a:r>
            <a:r>
              <a:rPr lang="en-GB" dirty="0" err="1"/>
              <a:t>books.push</a:t>
            </a:r>
            <a:r>
              <a:rPr lang="en-GB" dirty="0"/>
              <a:t>("The Lord of the Rings");</a:t>
            </a:r>
          </a:p>
          <a:p>
            <a:r>
              <a:rPr lang="en-GB" dirty="0"/>
              <a:t>    </a:t>
            </a:r>
            <a:r>
              <a:rPr lang="en-GB" dirty="0" err="1"/>
              <a:t>books.push</a:t>
            </a:r>
            <a:r>
              <a:rPr lang="en-GB" dirty="0"/>
              <a:t>("Dune");</a:t>
            </a:r>
          </a:p>
          <a:p>
            <a:r>
              <a:rPr lang="en-GB" dirty="0"/>
              <a:t>    </a:t>
            </a:r>
            <a:r>
              <a:rPr lang="en-GB" dirty="0" err="1"/>
              <a:t>books.push</a:t>
            </a:r>
            <a:r>
              <a:rPr lang="en-GB" dirty="0"/>
              <a:t>("Foundation");</a:t>
            </a:r>
          </a:p>
          <a:p>
            <a:r>
              <a:rPr lang="en-GB" dirty="0"/>
              <a:t>    std::</a:t>
            </a:r>
            <a:r>
              <a:rPr lang="en-GB" dirty="0" err="1"/>
              <a:t>cout</a:t>
            </a:r>
            <a:r>
              <a:rPr lang="en-GB" dirty="0"/>
              <a:t> &lt;&lt; "Top book is: " &lt;&lt; </a:t>
            </a:r>
            <a:r>
              <a:rPr lang="en-GB" dirty="0" err="1"/>
              <a:t>books.top</a:t>
            </a:r>
            <a:r>
              <a:rPr lang="en-GB" dirty="0"/>
              <a:t>() &lt;&lt; std::</a:t>
            </a:r>
            <a:r>
              <a:rPr lang="en-GB" dirty="0" err="1"/>
              <a:t>endl</a:t>
            </a:r>
            <a:r>
              <a:rPr lang="en-GB" dirty="0"/>
              <a:t>; // "Foundation"</a:t>
            </a:r>
          </a:p>
          <a:p>
            <a:r>
              <a:rPr lang="en-GB" dirty="0"/>
              <a:t>    std::</a:t>
            </a:r>
            <a:r>
              <a:rPr lang="en-GB" dirty="0" err="1"/>
              <a:t>cout</a:t>
            </a:r>
            <a:r>
              <a:rPr lang="en-GB" dirty="0"/>
              <a:t> &lt;&lt; "Stack size: " &lt;&lt; </a:t>
            </a:r>
            <a:r>
              <a:rPr lang="en-GB" dirty="0" err="1"/>
              <a:t>books.size</a:t>
            </a:r>
            <a:r>
              <a:rPr lang="en-GB" dirty="0"/>
              <a:t>() &lt;&lt; std::</a:t>
            </a:r>
            <a:r>
              <a:rPr lang="en-GB" dirty="0" err="1"/>
              <a:t>endl</a:t>
            </a:r>
            <a:r>
              <a:rPr lang="en-GB" dirty="0"/>
              <a:t>; // 3</a:t>
            </a:r>
          </a:p>
          <a:p>
            <a:r>
              <a:rPr lang="en-GB" dirty="0"/>
              <a:t>    </a:t>
            </a:r>
            <a:r>
              <a:rPr lang="en-GB" dirty="0" err="1"/>
              <a:t>books.pop</a:t>
            </a:r>
            <a:r>
              <a:rPr lang="en-GB" dirty="0"/>
              <a:t>(); // Removes "Foundation"</a:t>
            </a:r>
          </a:p>
          <a:p>
            <a:r>
              <a:rPr lang="en-GB" dirty="0"/>
              <a:t>    std::</a:t>
            </a:r>
            <a:r>
              <a:rPr lang="en-GB" dirty="0" err="1"/>
              <a:t>cout</a:t>
            </a:r>
            <a:r>
              <a:rPr lang="en-GB" dirty="0"/>
              <a:t> &lt;&lt; "Now the top book is: " &lt;&lt; </a:t>
            </a:r>
            <a:r>
              <a:rPr lang="en-GB" dirty="0" err="1"/>
              <a:t>books.top</a:t>
            </a:r>
            <a:r>
              <a:rPr lang="en-GB" dirty="0"/>
              <a:t>() &lt;&lt; std::</a:t>
            </a:r>
            <a:r>
              <a:rPr lang="en-GB" dirty="0" err="1"/>
              <a:t>endl</a:t>
            </a:r>
            <a:r>
              <a:rPr lang="en-GB" dirty="0"/>
              <a:t>; // "Dune"</a:t>
            </a:r>
          </a:p>
          <a:p>
            <a:r>
              <a:rPr lang="en-GB" dirty="0"/>
              <a:t>    return 0;</a:t>
            </a:r>
          </a:p>
          <a:p>
            <a:r>
              <a:rPr lang="en-GB" dirty="0"/>
              <a:t>}</a:t>
            </a:r>
          </a:p>
        </p:txBody>
      </p:sp>
      <p:sp>
        <p:nvSpPr>
          <p:cNvPr id="5" name="Footer Placeholder 4">
            <a:extLst>
              <a:ext uri="{FF2B5EF4-FFF2-40B4-BE49-F238E27FC236}">
                <a16:creationId xmlns:a16="http://schemas.microsoft.com/office/drawing/2014/main" id="{85502C64-1C7B-B8D1-E95A-43A85E4B6510}"/>
              </a:ext>
            </a:extLst>
          </p:cNvPr>
          <p:cNvSpPr>
            <a:spLocks noGrp="1"/>
          </p:cNvSpPr>
          <p:nvPr>
            <p:ph type="ftr" sz="quarter" idx="11"/>
          </p:nvPr>
        </p:nvSpPr>
        <p:spPr/>
        <p:txBody>
          <a:bodyPr/>
          <a:lstStyle/>
          <a:p>
            <a:r>
              <a:rPr lang="en-US"/>
              <a:t>CS210 - Data Structures</a:t>
            </a:r>
          </a:p>
        </p:txBody>
      </p:sp>
      <p:sp>
        <p:nvSpPr>
          <p:cNvPr id="6" name="Slide Number Placeholder 5">
            <a:extLst>
              <a:ext uri="{FF2B5EF4-FFF2-40B4-BE49-F238E27FC236}">
                <a16:creationId xmlns:a16="http://schemas.microsoft.com/office/drawing/2014/main" id="{FDFAE7E8-716C-8244-6E33-B56817E5550F}"/>
              </a:ext>
            </a:extLst>
          </p:cNvPr>
          <p:cNvSpPr>
            <a:spLocks noGrp="1"/>
          </p:cNvSpPr>
          <p:nvPr>
            <p:ph type="sldNum" sz="quarter" idx="12"/>
          </p:nvPr>
        </p:nvSpPr>
        <p:spPr/>
        <p:txBody>
          <a:bodyPr/>
          <a:lstStyle/>
          <a:p>
            <a:fld id="{CA4F2B70-5880-4CBE-A91F-8076F4F2F151}" type="slidenum">
              <a:rPr lang="en-US" smtClean="0"/>
              <a:t>24</a:t>
            </a:fld>
            <a:endParaRPr lang="en-US"/>
          </a:p>
        </p:txBody>
      </p:sp>
    </p:spTree>
    <p:extLst>
      <p:ext uri="{BB962C8B-B14F-4D97-AF65-F5344CB8AC3E}">
        <p14:creationId xmlns:p14="http://schemas.microsoft.com/office/powerpoint/2010/main" val="3700507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AFCF6-C869-9BA7-9110-70A118640C9B}"/>
              </a:ext>
            </a:extLst>
          </p:cNvPr>
          <p:cNvSpPr>
            <a:spLocks noGrp="1"/>
          </p:cNvSpPr>
          <p:nvPr>
            <p:ph type="title"/>
          </p:nvPr>
        </p:nvSpPr>
        <p:spPr/>
        <p:txBody>
          <a:bodyPr/>
          <a:lstStyle/>
          <a:p>
            <a:r>
              <a:rPr lang="en-GB" dirty="0"/>
              <a:t>The Call Stack Revisited</a:t>
            </a:r>
          </a:p>
        </p:txBody>
      </p:sp>
      <p:sp>
        <p:nvSpPr>
          <p:cNvPr id="3" name="Content Placeholder 2">
            <a:extLst>
              <a:ext uri="{FF2B5EF4-FFF2-40B4-BE49-F238E27FC236}">
                <a16:creationId xmlns:a16="http://schemas.microsoft.com/office/drawing/2014/main" id="{F0A69A13-F363-0C9F-5C50-6DA20A9FB6A1}"/>
              </a:ext>
            </a:extLst>
          </p:cNvPr>
          <p:cNvSpPr>
            <a:spLocks noGrp="1"/>
          </p:cNvSpPr>
          <p:nvPr>
            <p:ph idx="1"/>
          </p:nvPr>
        </p:nvSpPr>
        <p:spPr/>
        <p:txBody>
          <a:bodyPr/>
          <a:lstStyle/>
          <a:p>
            <a:r>
              <a:rPr lang="en-GB" dirty="0"/>
              <a:t>Remember when we said stacks manage function calls? Let's look closer. This is a crucial concept in programming.</a:t>
            </a:r>
          </a:p>
          <a:p>
            <a:r>
              <a:rPr lang="en-GB" dirty="0"/>
              <a:t>Every time you call a function, the system creates a </a:t>
            </a:r>
            <a:r>
              <a:rPr lang="en-GB" b="1" dirty="0"/>
              <a:t>stack frame</a:t>
            </a:r>
            <a:r>
              <a:rPr lang="en-GB" dirty="0"/>
              <a:t> and pushes it onto the </a:t>
            </a:r>
            <a:r>
              <a:rPr lang="en-GB" b="1" dirty="0"/>
              <a:t>call stack</a:t>
            </a:r>
            <a:r>
              <a:rPr lang="en-GB" dirty="0"/>
              <a:t>.</a:t>
            </a:r>
          </a:p>
          <a:p>
            <a:r>
              <a:rPr lang="en-GB" dirty="0"/>
              <a:t>This frame contains the function's parameters, local variables, and the return address (where to go back to when done).</a:t>
            </a:r>
          </a:p>
          <a:p>
            <a:r>
              <a:rPr lang="en-GB" dirty="0"/>
              <a:t>When a function finishes, its frame is </a:t>
            </a:r>
            <a:r>
              <a:rPr lang="en-GB" b="1" dirty="0"/>
              <a:t>popped</a:t>
            </a:r>
            <a:r>
              <a:rPr lang="en-GB" dirty="0"/>
              <a:t> off the stack, and execution returns to the saved address.</a:t>
            </a:r>
          </a:p>
          <a:p>
            <a:endParaRPr lang="en-GB" dirty="0"/>
          </a:p>
        </p:txBody>
      </p:sp>
      <p:sp>
        <p:nvSpPr>
          <p:cNvPr id="4" name="Footer Placeholder 3">
            <a:extLst>
              <a:ext uri="{FF2B5EF4-FFF2-40B4-BE49-F238E27FC236}">
                <a16:creationId xmlns:a16="http://schemas.microsoft.com/office/drawing/2014/main" id="{C64B6A54-14C3-4F0B-9D2F-196171D22E13}"/>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036230C2-CB24-8889-746D-409F1DDD0284}"/>
              </a:ext>
            </a:extLst>
          </p:cNvPr>
          <p:cNvSpPr>
            <a:spLocks noGrp="1"/>
          </p:cNvSpPr>
          <p:nvPr>
            <p:ph type="sldNum" sz="quarter" idx="12"/>
          </p:nvPr>
        </p:nvSpPr>
        <p:spPr/>
        <p:txBody>
          <a:bodyPr/>
          <a:lstStyle/>
          <a:p>
            <a:fld id="{CA4F2B70-5880-4CBE-A91F-8076F4F2F151}" type="slidenum">
              <a:rPr lang="en-US" smtClean="0"/>
              <a:t>25</a:t>
            </a:fld>
            <a:endParaRPr lang="en-US"/>
          </a:p>
        </p:txBody>
      </p:sp>
    </p:spTree>
    <p:extLst>
      <p:ext uri="{BB962C8B-B14F-4D97-AF65-F5344CB8AC3E}">
        <p14:creationId xmlns:p14="http://schemas.microsoft.com/office/powerpoint/2010/main" val="37362314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7E040-FB57-C382-089D-57C888F4A8CB}"/>
              </a:ext>
            </a:extLst>
          </p:cNvPr>
          <p:cNvSpPr>
            <a:spLocks noGrp="1"/>
          </p:cNvSpPr>
          <p:nvPr>
            <p:ph type="title"/>
          </p:nvPr>
        </p:nvSpPr>
        <p:spPr/>
        <p:txBody>
          <a:bodyPr/>
          <a:lstStyle/>
          <a:p>
            <a:r>
              <a:rPr lang="en-GB" dirty="0"/>
              <a:t>Visualizing Recursion with the Call Stack</a:t>
            </a:r>
          </a:p>
        </p:txBody>
      </p:sp>
      <p:sp>
        <p:nvSpPr>
          <p:cNvPr id="3" name="Content Placeholder 2">
            <a:extLst>
              <a:ext uri="{FF2B5EF4-FFF2-40B4-BE49-F238E27FC236}">
                <a16:creationId xmlns:a16="http://schemas.microsoft.com/office/drawing/2014/main" id="{0D5DFABE-4216-F4B9-39E2-6D1201F45553}"/>
              </a:ext>
            </a:extLst>
          </p:cNvPr>
          <p:cNvSpPr>
            <a:spLocks noGrp="1"/>
          </p:cNvSpPr>
          <p:nvPr>
            <p:ph idx="1"/>
          </p:nvPr>
        </p:nvSpPr>
        <p:spPr/>
        <p:txBody>
          <a:bodyPr/>
          <a:lstStyle/>
          <a:p>
            <a:r>
              <a:rPr lang="en-GB" dirty="0"/>
              <a:t>int factorial(int n) </a:t>
            </a:r>
          </a:p>
          <a:p>
            <a:r>
              <a:rPr lang="en-GB" dirty="0"/>
              <a:t>{ </a:t>
            </a:r>
          </a:p>
          <a:p>
            <a:r>
              <a:rPr lang="en-GB" dirty="0"/>
              <a:t>if (n == 0) return 1; // Base case </a:t>
            </a:r>
          </a:p>
          <a:p>
            <a:r>
              <a:rPr lang="en-GB" dirty="0"/>
              <a:t>return n * factorial(n - 1); // Recursive call </a:t>
            </a:r>
          </a:p>
          <a:p>
            <a:r>
              <a:rPr lang="en-GB" dirty="0"/>
              <a:t>} </a:t>
            </a:r>
          </a:p>
          <a:p>
            <a:r>
              <a:rPr lang="en-GB" dirty="0"/>
              <a:t>// main calls factorial(3)</a:t>
            </a:r>
          </a:p>
        </p:txBody>
      </p:sp>
      <p:sp>
        <p:nvSpPr>
          <p:cNvPr id="4" name="Footer Placeholder 3">
            <a:extLst>
              <a:ext uri="{FF2B5EF4-FFF2-40B4-BE49-F238E27FC236}">
                <a16:creationId xmlns:a16="http://schemas.microsoft.com/office/drawing/2014/main" id="{62E52556-8CCE-CDF2-973C-917AA06DF48F}"/>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C75D2C6E-8A00-B1AB-1E07-2DB7BACB42F3}"/>
              </a:ext>
            </a:extLst>
          </p:cNvPr>
          <p:cNvSpPr>
            <a:spLocks noGrp="1"/>
          </p:cNvSpPr>
          <p:nvPr>
            <p:ph type="sldNum" sz="quarter" idx="12"/>
          </p:nvPr>
        </p:nvSpPr>
        <p:spPr/>
        <p:txBody>
          <a:bodyPr/>
          <a:lstStyle/>
          <a:p>
            <a:fld id="{CA4F2B70-5880-4CBE-A91F-8076F4F2F151}" type="slidenum">
              <a:rPr lang="en-US" smtClean="0"/>
              <a:t>26</a:t>
            </a:fld>
            <a:endParaRPr lang="en-US"/>
          </a:p>
        </p:txBody>
      </p:sp>
    </p:spTree>
    <p:extLst>
      <p:ext uri="{BB962C8B-B14F-4D97-AF65-F5344CB8AC3E}">
        <p14:creationId xmlns:p14="http://schemas.microsoft.com/office/powerpoint/2010/main" val="1040061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49257-97DE-DCC1-1F44-5A8F9B77B799}"/>
              </a:ext>
            </a:extLst>
          </p:cNvPr>
          <p:cNvSpPr>
            <a:spLocks noGrp="1"/>
          </p:cNvSpPr>
          <p:nvPr>
            <p:ph type="title"/>
          </p:nvPr>
        </p:nvSpPr>
        <p:spPr/>
        <p:txBody>
          <a:bodyPr/>
          <a:lstStyle/>
          <a:p>
            <a:r>
              <a:rPr lang="en-GB" dirty="0"/>
              <a:t>Visualizing Recursion with the Call Stack</a:t>
            </a:r>
          </a:p>
        </p:txBody>
      </p:sp>
      <p:sp>
        <p:nvSpPr>
          <p:cNvPr id="4" name="Footer Placeholder 3">
            <a:extLst>
              <a:ext uri="{FF2B5EF4-FFF2-40B4-BE49-F238E27FC236}">
                <a16:creationId xmlns:a16="http://schemas.microsoft.com/office/drawing/2014/main" id="{199DB66D-0E4F-FFD7-261D-EDDD1E63B815}"/>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9115B76F-DBDF-99C6-1117-22886BF49F65}"/>
              </a:ext>
            </a:extLst>
          </p:cNvPr>
          <p:cNvSpPr>
            <a:spLocks noGrp="1"/>
          </p:cNvSpPr>
          <p:nvPr>
            <p:ph type="sldNum" sz="quarter" idx="12"/>
          </p:nvPr>
        </p:nvSpPr>
        <p:spPr/>
        <p:txBody>
          <a:bodyPr/>
          <a:lstStyle/>
          <a:p>
            <a:fld id="{CA4F2B70-5880-4CBE-A91F-8076F4F2F151}" type="slidenum">
              <a:rPr lang="en-US" smtClean="0"/>
              <a:t>27</a:t>
            </a:fld>
            <a:endParaRPr lang="en-US"/>
          </a:p>
        </p:txBody>
      </p:sp>
      <p:sp>
        <p:nvSpPr>
          <p:cNvPr id="7" name="Content Placeholder 6">
            <a:extLst>
              <a:ext uri="{FF2B5EF4-FFF2-40B4-BE49-F238E27FC236}">
                <a16:creationId xmlns:a16="http://schemas.microsoft.com/office/drawing/2014/main" id="{2CD4BC4A-6A0A-7028-BA1A-FD5933E1CA65}"/>
              </a:ext>
            </a:extLst>
          </p:cNvPr>
          <p:cNvSpPr>
            <a:spLocks noGrp="1"/>
          </p:cNvSpPr>
          <p:nvPr>
            <p:ph idx="1"/>
          </p:nvPr>
        </p:nvSpPr>
        <p:spPr/>
        <p:txBody>
          <a:bodyPr/>
          <a:lstStyle/>
          <a:p>
            <a:r>
              <a:rPr lang="en-GB" b="1" dirty="0"/>
              <a:t>What happens on the call stack:</a:t>
            </a:r>
            <a:endParaRPr lang="en-GB" dirty="0"/>
          </a:p>
          <a:p>
            <a:r>
              <a:rPr lang="en-GB" dirty="0"/>
              <a:t>factorial(3) is pushed. It needs factorial(2).</a:t>
            </a:r>
          </a:p>
          <a:p>
            <a:r>
              <a:rPr lang="en-GB" dirty="0"/>
              <a:t>factorial(2) is pushed. It needs factorial(1).</a:t>
            </a:r>
          </a:p>
          <a:p>
            <a:r>
              <a:rPr lang="en-GB" dirty="0"/>
              <a:t>factorial(1) is pushed. It needs factorial(0).</a:t>
            </a:r>
          </a:p>
          <a:p>
            <a:r>
              <a:rPr lang="en-GB" dirty="0"/>
              <a:t>factorial(0) is pushed. It hits the base case and returns 1.</a:t>
            </a:r>
          </a:p>
          <a:p>
            <a:r>
              <a:rPr lang="en-GB" dirty="0"/>
              <a:t>factorial(0) is popped.</a:t>
            </a:r>
          </a:p>
          <a:p>
            <a:r>
              <a:rPr lang="en-GB" dirty="0"/>
              <a:t>factorial(1) gets the result, returns 1 * 1 = 1, and is popped.</a:t>
            </a:r>
          </a:p>
          <a:p>
            <a:r>
              <a:rPr lang="en-GB" dirty="0"/>
              <a:t>factorial(2) gets the result, returns 2 * 1 = 2, and is popped.</a:t>
            </a:r>
          </a:p>
          <a:p>
            <a:r>
              <a:rPr lang="en-GB" dirty="0"/>
              <a:t>factorial(3) gets the result, returns 3 * 2 = 6, and is popped.</a:t>
            </a:r>
          </a:p>
        </p:txBody>
      </p:sp>
    </p:spTree>
    <p:extLst>
      <p:ext uri="{BB962C8B-B14F-4D97-AF65-F5344CB8AC3E}">
        <p14:creationId xmlns:p14="http://schemas.microsoft.com/office/powerpoint/2010/main" val="31891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CFF83-A340-E272-C7BE-B92C594FEBD7}"/>
              </a:ext>
            </a:extLst>
          </p:cNvPr>
          <p:cNvSpPr>
            <a:spLocks noGrp="1"/>
          </p:cNvSpPr>
          <p:nvPr>
            <p:ph type="title"/>
          </p:nvPr>
        </p:nvSpPr>
        <p:spPr/>
        <p:txBody>
          <a:bodyPr/>
          <a:lstStyle/>
          <a:p>
            <a:r>
              <a:rPr lang="en-GB" dirty="0"/>
              <a:t>Stack Overflow: The Dreaded Error</a:t>
            </a:r>
          </a:p>
        </p:txBody>
      </p:sp>
      <p:sp>
        <p:nvSpPr>
          <p:cNvPr id="3" name="Content Placeholder 2">
            <a:extLst>
              <a:ext uri="{FF2B5EF4-FFF2-40B4-BE49-F238E27FC236}">
                <a16:creationId xmlns:a16="http://schemas.microsoft.com/office/drawing/2014/main" id="{03E7EDCA-B531-D498-259E-7CE64FF80425}"/>
              </a:ext>
            </a:extLst>
          </p:cNvPr>
          <p:cNvSpPr>
            <a:spLocks noGrp="1"/>
          </p:cNvSpPr>
          <p:nvPr>
            <p:ph idx="1"/>
          </p:nvPr>
        </p:nvSpPr>
        <p:spPr/>
        <p:txBody>
          <a:bodyPr/>
          <a:lstStyle/>
          <a:p>
            <a:r>
              <a:rPr lang="en-GB" dirty="0"/>
              <a:t>What happens if a recursive function never hits its base case?</a:t>
            </a:r>
          </a:p>
          <a:p>
            <a:r>
              <a:rPr lang="en-GB" dirty="0"/>
              <a:t>void </a:t>
            </a:r>
            <a:r>
              <a:rPr lang="en-GB" dirty="0" err="1"/>
              <a:t>infinite_recursion</a:t>
            </a:r>
            <a:r>
              <a:rPr lang="en-GB" dirty="0"/>
              <a:t>() {</a:t>
            </a:r>
          </a:p>
          <a:p>
            <a:r>
              <a:rPr lang="en-GB" dirty="0"/>
              <a:t>    </a:t>
            </a:r>
            <a:r>
              <a:rPr lang="en-GB" dirty="0" err="1"/>
              <a:t>infinite_recursion</a:t>
            </a:r>
            <a:r>
              <a:rPr lang="en-GB" dirty="0"/>
              <a:t>();</a:t>
            </a:r>
          </a:p>
          <a:p>
            <a:r>
              <a:rPr lang="en-GB" dirty="0"/>
              <a:t>}</a:t>
            </a:r>
          </a:p>
          <a:p>
            <a:r>
              <a:rPr lang="en-GB" dirty="0"/>
              <a:t>Each call pushes a new frame onto the call stack.</a:t>
            </a:r>
          </a:p>
          <a:p>
            <a:r>
              <a:rPr lang="en-GB" dirty="0"/>
              <a:t>The stack has a fixed, finite amount of memory.</a:t>
            </a:r>
          </a:p>
          <a:p>
            <a:r>
              <a:rPr lang="en-GB" dirty="0"/>
              <a:t>Eventually, it runs out of space, and the program crashes with a </a:t>
            </a:r>
            <a:r>
              <a:rPr lang="en-GB" b="1" dirty="0"/>
              <a:t>stack overflow error</a:t>
            </a:r>
            <a:r>
              <a:rPr lang="en-GB" dirty="0"/>
              <a:t>.</a:t>
            </a:r>
          </a:p>
          <a:p>
            <a:r>
              <a:rPr lang="en-GB" dirty="0"/>
              <a:t>This is why your array-based stack's </a:t>
            </a:r>
            <a:r>
              <a:rPr lang="en-GB" dirty="0" err="1"/>
              <a:t>isFull</a:t>
            </a:r>
            <a:r>
              <a:rPr lang="en-GB" dirty="0"/>
              <a:t>() check is so important!</a:t>
            </a:r>
          </a:p>
          <a:p>
            <a:endParaRPr lang="en-GB" dirty="0"/>
          </a:p>
        </p:txBody>
      </p:sp>
      <p:sp>
        <p:nvSpPr>
          <p:cNvPr id="4" name="Footer Placeholder 3">
            <a:extLst>
              <a:ext uri="{FF2B5EF4-FFF2-40B4-BE49-F238E27FC236}">
                <a16:creationId xmlns:a16="http://schemas.microsoft.com/office/drawing/2014/main" id="{1B2AF74D-2278-3501-37CC-E44F013D412D}"/>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BBCE0416-7C7E-A6E7-F20D-29EE9894E47D}"/>
              </a:ext>
            </a:extLst>
          </p:cNvPr>
          <p:cNvSpPr>
            <a:spLocks noGrp="1"/>
          </p:cNvSpPr>
          <p:nvPr>
            <p:ph type="sldNum" sz="quarter" idx="12"/>
          </p:nvPr>
        </p:nvSpPr>
        <p:spPr/>
        <p:txBody>
          <a:bodyPr/>
          <a:lstStyle/>
          <a:p>
            <a:fld id="{CA4F2B70-5880-4CBE-A91F-8076F4F2F151}" type="slidenum">
              <a:rPr lang="en-US" smtClean="0"/>
              <a:t>28</a:t>
            </a:fld>
            <a:endParaRPr lang="en-US"/>
          </a:p>
        </p:txBody>
      </p:sp>
    </p:spTree>
    <p:extLst>
      <p:ext uri="{BB962C8B-B14F-4D97-AF65-F5344CB8AC3E}">
        <p14:creationId xmlns:p14="http://schemas.microsoft.com/office/powerpoint/2010/main" val="2054238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028CB-7971-3703-0EA9-858BD36ADDE8}"/>
              </a:ext>
            </a:extLst>
          </p:cNvPr>
          <p:cNvSpPr>
            <a:spLocks noGrp="1"/>
          </p:cNvSpPr>
          <p:nvPr>
            <p:ph type="title"/>
          </p:nvPr>
        </p:nvSpPr>
        <p:spPr/>
        <p:txBody>
          <a:bodyPr/>
          <a:lstStyle/>
          <a:p>
            <a:r>
              <a:rPr lang="en-GB" dirty="0"/>
              <a:t>Converting Recursion to Iteration</a:t>
            </a:r>
          </a:p>
        </p:txBody>
      </p:sp>
      <p:sp>
        <p:nvSpPr>
          <p:cNvPr id="3" name="Content Placeholder 2">
            <a:extLst>
              <a:ext uri="{FF2B5EF4-FFF2-40B4-BE49-F238E27FC236}">
                <a16:creationId xmlns:a16="http://schemas.microsoft.com/office/drawing/2014/main" id="{AED47B8E-7403-118C-5BE8-B1F403FDFACB}"/>
              </a:ext>
            </a:extLst>
          </p:cNvPr>
          <p:cNvSpPr>
            <a:spLocks noGrp="1"/>
          </p:cNvSpPr>
          <p:nvPr>
            <p:ph idx="1"/>
          </p:nvPr>
        </p:nvSpPr>
        <p:spPr/>
        <p:txBody>
          <a:bodyPr/>
          <a:lstStyle/>
          <a:p>
            <a:r>
              <a:rPr lang="en-GB" dirty="0"/>
              <a:t>An amazing fact: </a:t>
            </a:r>
            <a:r>
              <a:rPr lang="en-GB" b="1" dirty="0"/>
              <a:t>Any recursive algorithm can be rewritten as an iterative one using an explicit stack.</a:t>
            </a:r>
            <a:endParaRPr lang="en-GB" dirty="0"/>
          </a:p>
          <a:p>
            <a:r>
              <a:rPr lang="en-GB" dirty="0"/>
              <a:t>Instead of relying on the implicit call stack, you manage your own std::stack to keep track of the "work to be done."</a:t>
            </a:r>
          </a:p>
          <a:p>
            <a:r>
              <a:rPr lang="en-GB" b="1" dirty="0"/>
              <a:t>Why do this?</a:t>
            </a:r>
            <a:endParaRPr lang="en-GB" dirty="0"/>
          </a:p>
          <a:p>
            <a:r>
              <a:rPr lang="en-GB" dirty="0"/>
              <a:t>To avoid stack overflow errors with very deep recursion.</a:t>
            </a:r>
          </a:p>
          <a:p>
            <a:r>
              <a:rPr lang="en-GB" dirty="0"/>
              <a:t>Sometimes it can be more efficient or give you more control.</a:t>
            </a:r>
          </a:p>
          <a:p>
            <a:endParaRPr lang="en-GB" dirty="0"/>
          </a:p>
        </p:txBody>
      </p:sp>
      <p:sp>
        <p:nvSpPr>
          <p:cNvPr id="4" name="Footer Placeholder 3">
            <a:extLst>
              <a:ext uri="{FF2B5EF4-FFF2-40B4-BE49-F238E27FC236}">
                <a16:creationId xmlns:a16="http://schemas.microsoft.com/office/drawing/2014/main" id="{46893186-4A1D-3F30-61E6-272AB7A838B2}"/>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395AA5EA-9E87-AAC9-2507-8B30A61F276E}"/>
              </a:ext>
            </a:extLst>
          </p:cNvPr>
          <p:cNvSpPr>
            <a:spLocks noGrp="1"/>
          </p:cNvSpPr>
          <p:nvPr>
            <p:ph type="sldNum" sz="quarter" idx="12"/>
          </p:nvPr>
        </p:nvSpPr>
        <p:spPr/>
        <p:txBody>
          <a:bodyPr/>
          <a:lstStyle/>
          <a:p>
            <a:fld id="{CA4F2B70-5880-4CBE-A91F-8076F4F2F151}" type="slidenum">
              <a:rPr lang="en-US" smtClean="0"/>
              <a:t>29</a:t>
            </a:fld>
            <a:endParaRPr lang="en-US"/>
          </a:p>
        </p:txBody>
      </p:sp>
    </p:spTree>
    <p:extLst>
      <p:ext uri="{BB962C8B-B14F-4D97-AF65-F5344CB8AC3E}">
        <p14:creationId xmlns:p14="http://schemas.microsoft.com/office/powerpoint/2010/main" val="3426420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120D-B10A-7E12-EA15-0D000654CFDE}"/>
              </a:ext>
            </a:extLst>
          </p:cNvPr>
          <p:cNvSpPr>
            <a:spLocks noGrp="1"/>
          </p:cNvSpPr>
          <p:nvPr>
            <p:ph type="title"/>
          </p:nvPr>
        </p:nvSpPr>
        <p:spPr/>
        <p:txBody>
          <a:bodyPr/>
          <a:lstStyle/>
          <a:p>
            <a:r>
              <a:rPr lang="en-GB" dirty="0"/>
              <a:t>Example: Iterative Tree Traversal</a:t>
            </a:r>
            <a:endParaRPr lang="en-GB" b="1" dirty="0"/>
          </a:p>
        </p:txBody>
      </p:sp>
      <p:sp>
        <p:nvSpPr>
          <p:cNvPr id="3" name="Content Placeholder 2">
            <a:extLst>
              <a:ext uri="{FF2B5EF4-FFF2-40B4-BE49-F238E27FC236}">
                <a16:creationId xmlns:a16="http://schemas.microsoft.com/office/drawing/2014/main" id="{A70DD772-D3B5-35D1-B23F-E09427D5DC2F}"/>
              </a:ext>
            </a:extLst>
          </p:cNvPr>
          <p:cNvSpPr>
            <a:spLocks noGrp="1"/>
          </p:cNvSpPr>
          <p:nvPr>
            <p:ph idx="1"/>
          </p:nvPr>
        </p:nvSpPr>
        <p:spPr/>
        <p:txBody>
          <a:bodyPr/>
          <a:lstStyle/>
          <a:p>
            <a:r>
              <a:rPr lang="en-GB" dirty="0"/>
              <a:t>A classic example is Depth-First Search (DFS) on a tree or graph.</a:t>
            </a:r>
          </a:p>
          <a:p>
            <a:r>
              <a:rPr lang="en-GB" b="1" dirty="0"/>
              <a:t>Recursive DFS (uses call stack):</a:t>
            </a:r>
            <a:endParaRPr lang="en-GB" dirty="0"/>
          </a:p>
          <a:p>
            <a:r>
              <a:rPr lang="en-GB" dirty="0"/>
              <a:t>void </a:t>
            </a:r>
            <a:r>
              <a:rPr lang="en-GB" dirty="0" err="1"/>
              <a:t>recursive_dfs</a:t>
            </a:r>
            <a:r>
              <a:rPr lang="en-GB" dirty="0"/>
              <a:t>(Node* node) {</a:t>
            </a:r>
          </a:p>
          <a:p>
            <a:r>
              <a:rPr lang="en-GB" dirty="0"/>
              <a:t>    if (node == </a:t>
            </a:r>
            <a:r>
              <a:rPr lang="en-GB" dirty="0" err="1"/>
              <a:t>nullptr</a:t>
            </a:r>
            <a:r>
              <a:rPr lang="en-GB" dirty="0"/>
              <a:t>) return;</a:t>
            </a:r>
          </a:p>
          <a:p>
            <a:r>
              <a:rPr lang="en-GB" dirty="0"/>
              <a:t>    print(node-&gt;data);</a:t>
            </a:r>
          </a:p>
          <a:p>
            <a:r>
              <a:rPr lang="en-GB" dirty="0"/>
              <a:t>    </a:t>
            </a:r>
            <a:r>
              <a:rPr lang="en-GB" dirty="0" err="1"/>
              <a:t>recursive_dfs</a:t>
            </a:r>
            <a:r>
              <a:rPr lang="en-GB" dirty="0"/>
              <a:t>(node-&gt;left);</a:t>
            </a:r>
          </a:p>
          <a:p>
            <a:r>
              <a:rPr lang="en-GB" dirty="0"/>
              <a:t>    </a:t>
            </a:r>
            <a:r>
              <a:rPr lang="en-GB" dirty="0" err="1"/>
              <a:t>recursive_dfs</a:t>
            </a:r>
            <a:r>
              <a:rPr lang="en-GB" dirty="0"/>
              <a:t>(node-&gt;right);</a:t>
            </a:r>
          </a:p>
          <a:p>
            <a:r>
              <a:rPr lang="en-GB" dirty="0"/>
              <a:t>}</a:t>
            </a:r>
          </a:p>
        </p:txBody>
      </p:sp>
      <p:sp>
        <p:nvSpPr>
          <p:cNvPr id="4" name="Footer Placeholder 3">
            <a:extLst>
              <a:ext uri="{FF2B5EF4-FFF2-40B4-BE49-F238E27FC236}">
                <a16:creationId xmlns:a16="http://schemas.microsoft.com/office/drawing/2014/main" id="{933425B4-A347-30DD-D9B4-2B0E47C48E08}"/>
              </a:ext>
            </a:extLst>
          </p:cNvPr>
          <p:cNvSpPr>
            <a:spLocks noGrp="1"/>
          </p:cNvSpPr>
          <p:nvPr>
            <p:ph type="ftr" sz="quarter" idx="11"/>
          </p:nvPr>
        </p:nvSpPr>
        <p:spPr/>
        <p:txBody>
          <a:bodyPr/>
          <a:lstStyle/>
          <a:p>
            <a:r>
              <a:rPr lang="en-US"/>
              <a:t>CS210 - Data Structures</a:t>
            </a:r>
          </a:p>
        </p:txBody>
      </p:sp>
      <p:sp>
        <p:nvSpPr>
          <p:cNvPr id="5" name="Slide Number Placeholder 4">
            <a:extLst>
              <a:ext uri="{FF2B5EF4-FFF2-40B4-BE49-F238E27FC236}">
                <a16:creationId xmlns:a16="http://schemas.microsoft.com/office/drawing/2014/main" id="{2537098E-E61F-4359-7F56-AE3976EE1622}"/>
              </a:ext>
            </a:extLst>
          </p:cNvPr>
          <p:cNvSpPr>
            <a:spLocks noGrp="1"/>
          </p:cNvSpPr>
          <p:nvPr>
            <p:ph type="sldNum" sz="quarter" idx="12"/>
          </p:nvPr>
        </p:nvSpPr>
        <p:spPr/>
        <p:txBody>
          <a:bodyPr/>
          <a:lstStyle/>
          <a:p>
            <a:fld id="{CA4F2B70-5880-4CBE-A91F-8076F4F2F151}" type="slidenum">
              <a:rPr lang="en-US" smtClean="0"/>
              <a:t>30</a:t>
            </a:fld>
            <a:endParaRPr lang="en-US"/>
          </a:p>
        </p:txBody>
      </p:sp>
    </p:spTree>
    <p:extLst>
      <p:ext uri="{BB962C8B-B14F-4D97-AF65-F5344CB8AC3E}">
        <p14:creationId xmlns:p14="http://schemas.microsoft.com/office/powerpoint/2010/main" val="3112521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860AF-7C7A-EA64-3226-E441BA6A489A}"/>
              </a:ext>
            </a:extLst>
          </p:cNvPr>
          <p:cNvSpPr>
            <a:spLocks noGrp="1"/>
          </p:cNvSpPr>
          <p:nvPr>
            <p:ph type="title"/>
          </p:nvPr>
        </p:nvSpPr>
        <p:spPr/>
        <p:txBody>
          <a:bodyPr/>
          <a:lstStyle/>
          <a:p>
            <a:r>
              <a:rPr lang="en-GB"/>
              <a:t>Example: Iterative Tree Traversal</a:t>
            </a:r>
          </a:p>
        </p:txBody>
      </p:sp>
      <p:sp>
        <p:nvSpPr>
          <p:cNvPr id="3" name="Content Placeholder 2">
            <a:extLst>
              <a:ext uri="{FF2B5EF4-FFF2-40B4-BE49-F238E27FC236}">
                <a16:creationId xmlns:a16="http://schemas.microsoft.com/office/drawing/2014/main" id="{3A6F48B1-D8F7-B8BD-84D4-7E70B64D7769}"/>
              </a:ext>
            </a:extLst>
          </p:cNvPr>
          <p:cNvSpPr>
            <a:spLocks noGrp="1"/>
          </p:cNvSpPr>
          <p:nvPr>
            <p:ph sz="half" idx="1"/>
          </p:nvPr>
        </p:nvSpPr>
        <p:spPr/>
        <p:txBody>
          <a:bodyPr>
            <a:normAutofit fontScale="85000" lnSpcReduction="20000"/>
          </a:bodyPr>
          <a:lstStyle/>
          <a:p>
            <a:r>
              <a:rPr lang="en-GB" dirty="0"/>
              <a:t>A classic example is Depth-First Search (DFS) on a tree or graph.</a:t>
            </a:r>
          </a:p>
          <a:p>
            <a:r>
              <a:rPr lang="en-GB" dirty="0"/>
              <a:t>Iterative DFS (uses explicit stack):</a:t>
            </a:r>
          </a:p>
          <a:p>
            <a:endParaRPr lang="en-GB" dirty="0"/>
          </a:p>
        </p:txBody>
      </p:sp>
      <p:sp>
        <p:nvSpPr>
          <p:cNvPr id="4" name="Content Placeholder 3">
            <a:extLst>
              <a:ext uri="{FF2B5EF4-FFF2-40B4-BE49-F238E27FC236}">
                <a16:creationId xmlns:a16="http://schemas.microsoft.com/office/drawing/2014/main" id="{270A07C8-D8AF-E723-0DDE-62C283F2FE01}"/>
              </a:ext>
            </a:extLst>
          </p:cNvPr>
          <p:cNvSpPr>
            <a:spLocks noGrp="1"/>
          </p:cNvSpPr>
          <p:nvPr>
            <p:ph sz="half" idx="2"/>
          </p:nvPr>
        </p:nvSpPr>
        <p:spPr/>
        <p:txBody>
          <a:bodyPr>
            <a:normAutofit fontScale="85000" lnSpcReduction="20000"/>
          </a:bodyPr>
          <a:lstStyle/>
          <a:p>
            <a:r>
              <a:rPr lang="en-GB" b="1" dirty="0"/>
              <a:t>void </a:t>
            </a:r>
            <a:r>
              <a:rPr lang="en-GB" b="1" dirty="0" err="1"/>
              <a:t>iterative_dfs</a:t>
            </a:r>
            <a:r>
              <a:rPr lang="en-GB" b="1" dirty="0"/>
              <a:t>(Node* root) {</a:t>
            </a:r>
          </a:p>
          <a:p>
            <a:r>
              <a:rPr lang="en-GB" b="1" dirty="0"/>
              <a:t>    if (root == </a:t>
            </a:r>
            <a:r>
              <a:rPr lang="en-GB" b="1" dirty="0" err="1"/>
              <a:t>nullptr</a:t>
            </a:r>
            <a:r>
              <a:rPr lang="en-GB" b="1" dirty="0"/>
              <a:t>) return;</a:t>
            </a:r>
          </a:p>
          <a:p>
            <a:r>
              <a:rPr lang="en-GB" b="1" dirty="0"/>
              <a:t>    Stack </a:t>
            </a:r>
            <a:r>
              <a:rPr lang="en-GB" b="1" dirty="0" err="1"/>
              <a:t>stack</a:t>
            </a:r>
            <a:r>
              <a:rPr lang="en-GB" b="1" dirty="0"/>
              <a:t>;</a:t>
            </a:r>
          </a:p>
          <a:p>
            <a:r>
              <a:rPr lang="en-GB" b="1" dirty="0"/>
              <a:t>    </a:t>
            </a:r>
            <a:r>
              <a:rPr lang="en-GB" b="1" dirty="0" err="1"/>
              <a:t>stack.push</a:t>
            </a:r>
            <a:r>
              <a:rPr lang="en-GB" b="1" dirty="0"/>
              <a:t>(root);</a:t>
            </a:r>
          </a:p>
          <a:p>
            <a:r>
              <a:rPr lang="en-GB" b="1" dirty="0"/>
              <a:t>    while (!</a:t>
            </a:r>
            <a:r>
              <a:rPr lang="en-GB" b="1" dirty="0" err="1"/>
              <a:t>stack.isEmpty</a:t>
            </a:r>
            <a:r>
              <a:rPr lang="en-GB" b="1" dirty="0"/>
              <a:t>()) {</a:t>
            </a:r>
          </a:p>
          <a:p>
            <a:r>
              <a:rPr lang="en-GB" b="1" dirty="0"/>
              <a:t>        Node* current = </a:t>
            </a:r>
            <a:r>
              <a:rPr lang="en-GB" b="1" dirty="0" err="1"/>
              <a:t>stack.pop</a:t>
            </a:r>
            <a:r>
              <a:rPr lang="en-GB" b="1" dirty="0"/>
              <a:t>();</a:t>
            </a:r>
          </a:p>
          <a:p>
            <a:r>
              <a:rPr lang="en-GB" b="1" dirty="0"/>
              <a:t>        print(current-&gt;data);</a:t>
            </a:r>
          </a:p>
          <a:p>
            <a:r>
              <a:rPr lang="en-GB" b="1" dirty="0"/>
              <a:t>        if (current-&gt;right) </a:t>
            </a:r>
            <a:r>
              <a:rPr lang="en-GB" b="1" dirty="0" err="1"/>
              <a:t>stack.push</a:t>
            </a:r>
            <a:r>
              <a:rPr lang="en-GB" b="1" dirty="0"/>
              <a:t>(current-&gt;right);</a:t>
            </a:r>
          </a:p>
          <a:p>
            <a:r>
              <a:rPr lang="en-GB" b="1" dirty="0"/>
              <a:t>        if (current-&gt;left) </a:t>
            </a:r>
            <a:r>
              <a:rPr lang="en-GB" b="1" dirty="0" err="1"/>
              <a:t>stack.push</a:t>
            </a:r>
            <a:r>
              <a:rPr lang="en-GB" b="1" dirty="0"/>
              <a:t>(current-&gt;left);</a:t>
            </a:r>
          </a:p>
          <a:p>
            <a:r>
              <a:rPr lang="en-GB" b="1" dirty="0"/>
              <a:t>    }</a:t>
            </a:r>
          </a:p>
          <a:p>
            <a:r>
              <a:rPr lang="en-GB" b="1" dirty="0"/>
              <a:t>}</a:t>
            </a:r>
          </a:p>
          <a:p>
            <a:endParaRPr lang="en-GB" dirty="0"/>
          </a:p>
        </p:txBody>
      </p:sp>
      <p:sp>
        <p:nvSpPr>
          <p:cNvPr id="5" name="Footer Placeholder 4">
            <a:extLst>
              <a:ext uri="{FF2B5EF4-FFF2-40B4-BE49-F238E27FC236}">
                <a16:creationId xmlns:a16="http://schemas.microsoft.com/office/drawing/2014/main" id="{23F8C8D9-B207-D6A0-61A7-0ABC6ED69CC5}"/>
              </a:ext>
            </a:extLst>
          </p:cNvPr>
          <p:cNvSpPr>
            <a:spLocks noGrp="1"/>
          </p:cNvSpPr>
          <p:nvPr>
            <p:ph type="ftr" sz="quarter" idx="11"/>
          </p:nvPr>
        </p:nvSpPr>
        <p:spPr/>
        <p:txBody>
          <a:bodyPr/>
          <a:lstStyle/>
          <a:p>
            <a:r>
              <a:rPr lang="en-US"/>
              <a:t>CS210 - Data Structures</a:t>
            </a:r>
          </a:p>
        </p:txBody>
      </p:sp>
      <p:sp>
        <p:nvSpPr>
          <p:cNvPr id="6" name="Slide Number Placeholder 5">
            <a:extLst>
              <a:ext uri="{FF2B5EF4-FFF2-40B4-BE49-F238E27FC236}">
                <a16:creationId xmlns:a16="http://schemas.microsoft.com/office/drawing/2014/main" id="{E9441BA4-9120-CEFD-8ADE-B1C80EB64C99}"/>
              </a:ext>
            </a:extLst>
          </p:cNvPr>
          <p:cNvSpPr>
            <a:spLocks noGrp="1"/>
          </p:cNvSpPr>
          <p:nvPr>
            <p:ph type="sldNum" sz="quarter" idx="12"/>
          </p:nvPr>
        </p:nvSpPr>
        <p:spPr/>
        <p:txBody>
          <a:bodyPr/>
          <a:lstStyle/>
          <a:p>
            <a:fld id="{CA4F2B70-5880-4CBE-A91F-8076F4F2F151}" type="slidenum">
              <a:rPr lang="en-US" smtClean="0"/>
              <a:t>31</a:t>
            </a:fld>
            <a:endParaRPr lang="en-US"/>
          </a:p>
        </p:txBody>
      </p:sp>
    </p:spTree>
    <p:extLst>
      <p:ext uri="{BB962C8B-B14F-4D97-AF65-F5344CB8AC3E}">
        <p14:creationId xmlns:p14="http://schemas.microsoft.com/office/powerpoint/2010/main" val="198060160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268</TotalTime>
  <Words>2928</Words>
  <Application>Microsoft Office PowerPoint</Application>
  <PresentationFormat>Widescreen</PresentationFormat>
  <Paragraphs>293</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Google Sans Text</vt:lpstr>
      <vt:lpstr>Retrospect</vt:lpstr>
      <vt:lpstr>Data Structures</vt:lpstr>
      <vt:lpstr>Introduction to Stacks</vt:lpstr>
      <vt:lpstr>Topics to be covered</vt:lpstr>
      <vt:lpstr>What is an Abstract Data Type (ADT)?</vt:lpstr>
      <vt:lpstr>Linear vs. Non-Linear Data Structures</vt:lpstr>
      <vt:lpstr>The Stack ADT: Conceptual Model</vt:lpstr>
      <vt:lpstr>Real-World Analogies</vt:lpstr>
      <vt:lpstr>Core Stack Operations</vt:lpstr>
      <vt:lpstr>Visualizing Stack Operations: Walkthrough</vt:lpstr>
      <vt:lpstr>Applications of Stacks in Computing</vt:lpstr>
      <vt:lpstr>Array-Based Stack Implementation</vt:lpstr>
      <vt:lpstr>The top Index</vt:lpstr>
      <vt:lpstr>Visualizing push in an Array Stack</vt:lpstr>
      <vt:lpstr>Visualizing pop in an Array Stack</vt:lpstr>
      <vt:lpstr>C++ Code: ArrayStack Class Structure</vt:lpstr>
      <vt:lpstr>C++ Code: push and pop</vt:lpstr>
      <vt:lpstr>C++ Code: peek, isEmpty, isFull</vt:lpstr>
      <vt:lpstr>Stack Overflow and Underflow</vt:lpstr>
      <vt:lpstr>Analysis of Array-Based Stack</vt:lpstr>
      <vt:lpstr>Space Complexity of Array-Based Stack</vt:lpstr>
      <vt:lpstr>The Achilles' Heel: Fixed Size</vt:lpstr>
      <vt:lpstr>Discussion: Overcoming the Size Limit</vt:lpstr>
      <vt:lpstr>Stacks in the C++ Standard Template Library (STL)</vt:lpstr>
      <vt:lpstr>C++ Code Example: Using std::stack</vt:lpstr>
      <vt:lpstr>The Call Stack Revisited</vt:lpstr>
      <vt:lpstr>Visualizing Recursion with the Call Stack</vt:lpstr>
      <vt:lpstr>Visualizing Recursion with the Call Stack</vt:lpstr>
      <vt:lpstr>Stack Overflow: The Dreaded Error</vt:lpstr>
      <vt:lpstr>Converting Recursion to Iteration</vt:lpstr>
      <vt:lpstr>Example: Iterative Tree Traversal</vt:lpstr>
      <vt:lpstr>Example: Iterative Tree Traversal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dc:title>
  <dc:creator>Administrator</dc:creator>
  <cp:lastModifiedBy>Mehran Yousaf</cp:lastModifiedBy>
  <cp:revision>22</cp:revision>
  <dcterms:created xsi:type="dcterms:W3CDTF">2025-09-15T09:02:56Z</dcterms:created>
  <dcterms:modified xsi:type="dcterms:W3CDTF">2025-10-06T02:04:18Z</dcterms:modified>
</cp:coreProperties>
</file>