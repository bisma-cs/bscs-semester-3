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DC72F-581E-4F4A-9010-D01891AB7FC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8A3EB-13A6-4A6C-B559-6129DD955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9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53786-4DEC-4B83-B748-92ECD0CC9F44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71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D732-2237-4470-813A-BAF5B8FCCBA1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CE2-80DA-4A85-A992-62CC1AA7DAB6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7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D955-EFC5-4F4B-98BA-DDCBAE9F748C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4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08DC-B991-45C8-BE8E-03F626AC1B8B}" type="datetime1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F139-91AF-43E9-842C-050822666E1A}" type="datetime1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7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081F-C614-41E1-A2C0-4BADDE99BE3E}" type="datetime1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5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366D91-BCDA-4E5D-840E-36A2AEB35808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8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72-508B-4316-96A0-44422A762A58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82452-F982-435A-B65E-9011E64493A8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2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14ADF-2AD0-45DC-B864-3957ED39BB00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2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614BB1-5CBA-4BE0-8711-AACF380417F5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33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01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1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 smtClean="0"/>
              <a:t>Course Code:</a:t>
            </a:r>
            <a:r>
              <a:rPr lang="en-US" dirty="0" smtClean="0"/>
              <a:t> CS210</a:t>
            </a:r>
          </a:p>
          <a:p>
            <a:pPr lvl="0" fontAlgn="base"/>
            <a:r>
              <a:rPr lang="en-US" b="1" dirty="0" smtClean="0"/>
              <a:t>Title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/>
              <a:t>Data Structures</a:t>
            </a:r>
            <a:endParaRPr lang="en-US" dirty="0"/>
          </a:p>
          <a:p>
            <a:pPr lvl="0" fontAlgn="base"/>
            <a:r>
              <a:rPr lang="en-US" b="1" dirty="0"/>
              <a:t>Instructor:</a:t>
            </a:r>
            <a:r>
              <a:rPr lang="en-US" dirty="0"/>
              <a:t> </a:t>
            </a:r>
            <a:r>
              <a:rPr lang="en-US" dirty="0" smtClean="0"/>
              <a:t>Mehran </a:t>
            </a:r>
            <a:r>
              <a:rPr lang="en-US" dirty="0" err="1" smtClean="0"/>
              <a:t>Yousaf</a:t>
            </a:r>
            <a:endParaRPr lang="en-US" dirty="0" smtClean="0"/>
          </a:p>
          <a:p>
            <a:pPr lvl="0" fontAlgn="base"/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76918"/>
              </p:ext>
            </p:extLst>
          </p:nvPr>
        </p:nvGraphicFramePr>
        <p:xfrm>
          <a:off x="1724270" y="3251851"/>
          <a:ext cx="8128000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850544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00204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Assessment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Weightage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413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Assignments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0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Quizzes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960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Midterm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46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14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Final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098577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8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Topics to be covered…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Welcome!</a:t>
            </a:r>
            <a:r>
              <a:rPr lang="en-US" dirty="0"/>
              <a:t> Let's start our journey into how we build efficient and powerful software.</a:t>
            </a:r>
          </a:p>
          <a:p>
            <a:pPr fontAlgn="base"/>
            <a:r>
              <a:rPr lang="en-US" b="1" dirty="0" smtClean="0"/>
              <a:t>The </a:t>
            </a:r>
            <a:r>
              <a:rPr lang="en-US" b="1" dirty="0"/>
              <a:t>"What" - Abstract Data Types (ADTs)</a:t>
            </a:r>
            <a:endParaRPr lang="en-US" dirty="0"/>
          </a:p>
          <a:p>
            <a:pPr lvl="1" fontAlgn="base"/>
            <a:r>
              <a:rPr lang="en-US" dirty="0"/>
              <a:t>What are they and why do they matter?</a:t>
            </a:r>
          </a:p>
          <a:p>
            <a:pPr lvl="1" fontAlgn="base"/>
            <a:r>
              <a:rPr lang="en-US" dirty="0"/>
              <a:t>Exploring common ADTs: List, Stack, and Queue.</a:t>
            </a:r>
          </a:p>
          <a:p>
            <a:pPr fontAlgn="base"/>
            <a:r>
              <a:rPr lang="en-US" b="1" dirty="0" smtClean="0"/>
              <a:t>The </a:t>
            </a:r>
            <a:r>
              <a:rPr lang="en-US" b="1" dirty="0"/>
              <a:t>"How" - Data Structures</a:t>
            </a:r>
            <a:endParaRPr lang="en-US" dirty="0"/>
          </a:p>
          <a:p>
            <a:pPr lvl="1" fontAlgn="base"/>
            <a:r>
              <a:rPr lang="en-US" dirty="0"/>
              <a:t>The concrete implementation of ADTs.</a:t>
            </a:r>
          </a:p>
          <a:p>
            <a:pPr lvl="1" fontAlgn="base"/>
            <a:r>
              <a:rPr lang="en-US" dirty="0"/>
              <a:t>ADT vs. Data Structure: A crucial distinction.</a:t>
            </a:r>
          </a:p>
          <a:p>
            <a:pPr lvl="1" fontAlgn="base"/>
            <a:r>
              <a:rPr lang="en-US" dirty="0"/>
              <a:t>Implementing ADTs with Arrays.</a:t>
            </a:r>
          </a:p>
          <a:p>
            <a:pPr fontAlgn="base"/>
            <a:r>
              <a:rPr lang="en-US" b="1" dirty="0" smtClean="0"/>
              <a:t>The </a:t>
            </a:r>
            <a:r>
              <a:rPr lang="en-US" b="1" dirty="0"/>
              <a:t>"Where" - MVC Architecture</a:t>
            </a:r>
            <a:endParaRPr lang="en-US" dirty="0"/>
          </a:p>
          <a:p>
            <a:pPr lvl="1" fontAlgn="base"/>
            <a:r>
              <a:rPr lang="en-US" dirty="0"/>
              <a:t>Organizing our code for success.</a:t>
            </a:r>
          </a:p>
          <a:p>
            <a:pPr lvl="1" fontAlgn="base"/>
            <a:r>
              <a:rPr lang="en-US" dirty="0"/>
              <a:t>Understanding the Model, View, and Controller.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7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Fundamental Question: Why Care About Organizing Data?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Imagine a library with no catalog system and books just thrown in a giant pile. Finding a specific book would be a nightmare! chaos.</a:t>
            </a:r>
          </a:p>
          <a:p>
            <a:pPr lvl="0" fontAlgn="base"/>
            <a:r>
              <a:rPr lang="en-US" dirty="0"/>
              <a:t>Software is the same. The way we </a:t>
            </a:r>
            <a:r>
              <a:rPr lang="en-US" b="1" dirty="0"/>
              <a:t>organize</a:t>
            </a:r>
            <a:r>
              <a:rPr lang="en-US" dirty="0"/>
              <a:t> and </a:t>
            </a:r>
            <a:r>
              <a:rPr lang="en-US" b="1" dirty="0"/>
              <a:t>access</a:t>
            </a:r>
            <a:r>
              <a:rPr lang="en-US" dirty="0"/>
              <a:t> data is critical for:</a:t>
            </a:r>
          </a:p>
          <a:p>
            <a:pPr lvl="1" fontAlgn="base"/>
            <a:r>
              <a:rPr lang="en-US" b="1" dirty="0"/>
              <a:t>Performance:</a:t>
            </a:r>
            <a:r>
              <a:rPr lang="en-US" dirty="0"/>
              <a:t> How fast can we find, add, or delete information? (e.g., searching for a contact in your phone).</a:t>
            </a:r>
          </a:p>
          <a:p>
            <a:pPr lvl="1" fontAlgn="base"/>
            <a:r>
              <a:rPr lang="en-US" b="1" dirty="0"/>
              <a:t>Scalability:</a:t>
            </a:r>
            <a:r>
              <a:rPr lang="en-US" dirty="0"/>
              <a:t> Will our application crash when it goes from 100 users to 1 million?</a:t>
            </a:r>
          </a:p>
          <a:p>
            <a:pPr lvl="1" fontAlgn="base"/>
            <a:r>
              <a:rPr lang="en-US" b="1" dirty="0"/>
              <a:t>Maintainability:</a:t>
            </a:r>
            <a:r>
              <a:rPr lang="en-US" dirty="0"/>
              <a:t> Can other developers (or you, six months from now) understand and modify the code?</a:t>
            </a:r>
          </a:p>
          <a:p>
            <a:r>
              <a:rPr lang="en-US" b="1" dirty="0"/>
              <a:t>Data Structures are the "catalog systems" for our program's data.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46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Structures &amp; Algorithms: A Dynamic Duo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You'll always hear these two terms together. Here's why:</a:t>
            </a:r>
          </a:p>
          <a:p>
            <a:pPr lvl="0" fontAlgn="base"/>
            <a:r>
              <a:rPr lang="en-US" b="1" dirty="0"/>
              <a:t>Data Structure:</a:t>
            </a:r>
            <a:r>
              <a:rPr lang="en-US" dirty="0"/>
              <a:t> A way to store and organize data.</a:t>
            </a:r>
          </a:p>
          <a:p>
            <a:pPr lvl="1" fontAlgn="base"/>
            <a:r>
              <a:rPr lang="en-US" i="1" dirty="0"/>
              <a:t>Analogy:</a:t>
            </a:r>
            <a:r>
              <a:rPr lang="en-US" dirty="0"/>
              <a:t> A filing cabinet.</a:t>
            </a:r>
          </a:p>
          <a:p>
            <a:pPr lvl="0" fontAlgn="base"/>
            <a:r>
              <a:rPr lang="en-US" b="1" dirty="0"/>
              <a:t>Algorithm:</a:t>
            </a:r>
            <a:r>
              <a:rPr lang="en-US" dirty="0"/>
              <a:t> A step-by-step procedure to perform a task.</a:t>
            </a:r>
          </a:p>
          <a:p>
            <a:pPr lvl="1" fontAlgn="base"/>
            <a:r>
              <a:rPr lang="en-US" i="1" dirty="0"/>
              <a:t>Analogy:</a:t>
            </a:r>
            <a:r>
              <a:rPr lang="en-US" dirty="0"/>
              <a:t> The process you use to find a specific file in that cabinet.</a:t>
            </a:r>
          </a:p>
          <a:p>
            <a:r>
              <a:rPr lang="en-US" dirty="0"/>
              <a:t>The choice of data structure directly impacts the efficiency of your algorithms. A good filing system makes finding things fast!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54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Abstract Data Type (ADT)?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An ADT is a </a:t>
            </a:r>
            <a:r>
              <a:rPr lang="en-US" b="1" dirty="0"/>
              <a:t>logical description</a:t>
            </a:r>
            <a:r>
              <a:rPr lang="en-US" dirty="0"/>
              <a:t> or a </a:t>
            </a:r>
            <a:r>
              <a:rPr lang="en-US" b="1" dirty="0"/>
              <a:t>blueprint</a:t>
            </a:r>
            <a:r>
              <a:rPr lang="en-US" dirty="0"/>
              <a:t> for a data type.</a:t>
            </a:r>
          </a:p>
          <a:p>
            <a:pPr lvl="0" fontAlgn="base"/>
            <a:r>
              <a:rPr lang="en-US" dirty="0"/>
              <a:t>It defines </a:t>
            </a:r>
            <a:r>
              <a:rPr lang="en-US" b="1" dirty="0"/>
              <a:t>WHAT</a:t>
            </a:r>
            <a:r>
              <a:rPr lang="en-US" dirty="0"/>
              <a:t> a data type can do, but </a:t>
            </a:r>
            <a:r>
              <a:rPr lang="en-US" b="1" dirty="0"/>
              <a:t>NOT HOW</a:t>
            </a:r>
            <a:r>
              <a:rPr lang="en-US" dirty="0"/>
              <a:t> it does it.</a:t>
            </a:r>
          </a:p>
          <a:p>
            <a:pPr lvl="0" fontAlgn="base"/>
            <a:r>
              <a:rPr lang="en-US" b="1" dirty="0"/>
              <a:t>Key components of an ADT:</a:t>
            </a:r>
            <a:endParaRPr lang="en-US" dirty="0"/>
          </a:p>
          <a:p>
            <a:pPr lvl="1" fontAlgn="base"/>
            <a:r>
              <a:rPr lang="en-US" b="1" dirty="0"/>
              <a:t>Data:</a:t>
            </a:r>
            <a:r>
              <a:rPr lang="en-US" dirty="0"/>
              <a:t> A description of the information it holds (e.g., a collection of items).</a:t>
            </a:r>
          </a:p>
          <a:p>
            <a:pPr lvl="1" fontAlgn="base"/>
            <a:r>
              <a:rPr lang="en-US" b="1" dirty="0"/>
              <a:t>Operations:</a:t>
            </a:r>
            <a:r>
              <a:rPr lang="en-US" dirty="0"/>
              <a:t> A list of actions that can be performed on that data (e.g., add an item, remove an item).</a:t>
            </a:r>
          </a:p>
          <a:p>
            <a:r>
              <a:rPr lang="en-US" dirty="0"/>
              <a:t>Think of it as an </a:t>
            </a:r>
            <a:r>
              <a:rPr lang="en-US" b="1" dirty="0"/>
              <a:t>interface</a:t>
            </a:r>
            <a:r>
              <a:rPr lang="en-US" dirty="0"/>
              <a:t> or a </a:t>
            </a:r>
            <a:r>
              <a:rPr lang="en-US" b="1" dirty="0"/>
              <a:t>contract</a:t>
            </a:r>
            <a:r>
              <a:rPr lang="en-US" dirty="0"/>
              <a:t>. It makes a promise about the functionality it provides.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15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ADT Analogy: A Car's 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When you drive a car, you interact with its interface:</a:t>
            </a:r>
          </a:p>
          <a:p>
            <a:pPr lvl="1" fontAlgn="base"/>
            <a:r>
              <a:rPr lang="en-US" b="1" dirty="0"/>
              <a:t>Steering Wheel:</a:t>
            </a:r>
            <a:r>
              <a:rPr lang="en-US" dirty="0"/>
              <a:t> Operation to turn.</a:t>
            </a:r>
          </a:p>
          <a:p>
            <a:pPr lvl="1" fontAlgn="base"/>
            <a:r>
              <a:rPr lang="en-US" b="1" dirty="0"/>
              <a:t>Accelerator Pedal:</a:t>
            </a:r>
            <a:r>
              <a:rPr lang="en-US" dirty="0"/>
              <a:t> Operation to go faster.</a:t>
            </a:r>
          </a:p>
          <a:p>
            <a:pPr lvl="1" fontAlgn="base"/>
            <a:r>
              <a:rPr lang="en-US" b="1" dirty="0"/>
              <a:t>Brake Pedal:</a:t>
            </a:r>
            <a:r>
              <a:rPr lang="en-US" dirty="0"/>
              <a:t> Operation to slow down.</a:t>
            </a:r>
          </a:p>
          <a:p>
            <a:pPr lvl="0" fontAlgn="base"/>
            <a:r>
              <a:rPr lang="en-US" dirty="0"/>
              <a:t>You know </a:t>
            </a:r>
            <a:r>
              <a:rPr lang="en-US" b="1" dirty="0"/>
              <a:t>WHAT</a:t>
            </a:r>
            <a:r>
              <a:rPr lang="en-US" dirty="0"/>
              <a:t> these controls do. You don't need to know </a:t>
            </a:r>
            <a:r>
              <a:rPr lang="en-US" b="1" dirty="0"/>
              <a:t>HOW</a:t>
            </a:r>
            <a:r>
              <a:rPr lang="en-US" dirty="0"/>
              <a:t> the engine, transmission, or braking system works internally to drive the car.</a:t>
            </a:r>
          </a:p>
          <a:p>
            <a:r>
              <a:rPr lang="en-US" dirty="0"/>
              <a:t>The dashboard is the </a:t>
            </a:r>
            <a:r>
              <a:rPr lang="en-US" b="1" dirty="0"/>
              <a:t>ADT</a:t>
            </a:r>
            <a:r>
              <a:rPr lang="en-US" dirty="0"/>
              <a:t>. The engine's specific design (V6, electric, hybrid) is the </a:t>
            </a:r>
            <a:r>
              <a:rPr lang="en-US" b="1" dirty="0"/>
              <a:t>implementation (the data structure)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ADT Example 1: The List ADT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Concept:</a:t>
            </a:r>
            <a:r>
              <a:rPr lang="en-US" dirty="0"/>
              <a:t> An ordered collection of items.</a:t>
            </a:r>
          </a:p>
          <a:p>
            <a:pPr lvl="0" fontAlgn="base"/>
            <a:r>
              <a:rPr lang="en-US" b="1" dirty="0"/>
              <a:t>Data:</a:t>
            </a:r>
            <a:endParaRPr lang="en-US" dirty="0"/>
          </a:p>
          <a:p>
            <a:pPr lvl="1" fontAlgn="base"/>
            <a:r>
              <a:rPr lang="en-US" dirty="0"/>
              <a:t>A sequence of elements (e.g., a to-do list, a list of student names).</a:t>
            </a:r>
          </a:p>
          <a:p>
            <a:pPr lvl="0" fontAlgn="base"/>
            <a:r>
              <a:rPr lang="en-US" b="1" dirty="0"/>
              <a:t>Operations (The "What"):</a:t>
            </a:r>
            <a:endParaRPr lang="en-US" dirty="0"/>
          </a:p>
          <a:p>
            <a:pPr lvl="1" fontAlgn="base"/>
            <a:r>
              <a:rPr lang="en-US" dirty="0"/>
              <a:t>add(item): Adds an item to the list.</a:t>
            </a:r>
          </a:p>
          <a:p>
            <a:pPr lvl="1" fontAlgn="base"/>
            <a:r>
              <a:rPr lang="en-US" dirty="0"/>
              <a:t>remove(index): Removes the item at a specific position.</a:t>
            </a:r>
          </a:p>
          <a:p>
            <a:pPr lvl="1" fontAlgn="base"/>
            <a:r>
              <a:rPr lang="en-US" dirty="0"/>
              <a:t>get(index): Retrieves the item at a specific position.</a:t>
            </a:r>
          </a:p>
          <a:p>
            <a:pPr lvl="1" fontAlgn="base"/>
            <a:r>
              <a:rPr lang="en-US" dirty="0"/>
              <a:t>size(): Returns the number of items in the list.</a:t>
            </a:r>
          </a:p>
          <a:p>
            <a:pPr lvl="1" fontAlgn="base"/>
            <a:r>
              <a:rPr lang="en-US" dirty="0" err="1"/>
              <a:t>isEmpty</a:t>
            </a:r>
            <a:r>
              <a:rPr lang="en-US" dirty="0"/>
              <a:t>(): Checks if the list has any items.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9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ADT Example 2: The Stack ADT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Concept:</a:t>
            </a:r>
            <a:r>
              <a:rPr lang="en-US" dirty="0"/>
              <a:t> A </a:t>
            </a:r>
            <a:r>
              <a:rPr lang="en-US" b="1" dirty="0"/>
              <a:t>LIFO</a:t>
            </a:r>
            <a:r>
              <a:rPr lang="en-US" dirty="0"/>
              <a:t> (Last-In, First-Out) collection.</a:t>
            </a:r>
          </a:p>
          <a:p>
            <a:pPr lvl="0" fontAlgn="base"/>
            <a:r>
              <a:rPr lang="en-US" b="1" dirty="0"/>
              <a:t>Analogy:</a:t>
            </a:r>
            <a:r>
              <a:rPr lang="en-US" dirty="0"/>
              <a:t> A stack of plates. You add a new plate to the top and you take a plate from the top. The last plate you put on is the first one you take off.</a:t>
            </a:r>
          </a:p>
          <a:p>
            <a:pPr lvl="0" fontAlgn="base"/>
            <a:r>
              <a:rPr lang="en-US" b="1" dirty="0"/>
              <a:t>Data:</a:t>
            </a:r>
            <a:endParaRPr lang="en-US" dirty="0"/>
          </a:p>
          <a:p>
            <a:pPr lvl="1" fontAlgn="base"/>
            <a:r>
              <a:rPr lang="en-US" dirty="0"/>
              <a:t>An ordered collection of elements.</a:t>
            </a:r>
          </a:p>
          <a:p>
            <a:pPr lvl="0" fontAlgn="base"/>
            <a:r>
              <a:rPr lang="en-US" b="1" dirty="0"/>
              <a:t>Core Operations:</a:t>
            </a:r>
            <a:endParaRPr lang="en-US" dirty="0"/>
          </a:p>
          <a:p>
            <a:pPr lvl="1" fontAlgn="base"/>
            <a:r>
              <a:rPr lang="en-US" dirty="0"/>
              <a:t>push(item): Adds an item to the top of the stack.</a:t>
            </a:r>
          </a:p>
          <a:p>
            <a:pPr lvl="1" fontAlgn="base"/>
            <a:r>
              <a:rPr lang="en-US" dirty="0"/>
              <a:t>pop(): Removes and returns the item from the top of the stack.</a:t>
            </a:r>
          </a:p>
          <a:p>
            <a:pPr lvl="1" fontAlgn="base"/>
            <a:r>
              <a:rPr lang="en-US" dirty="0"/>
              <a:t>peek() (or top()): Returns the top item without removing it.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41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Visualizing the Stack ADT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Let's trace some operations:</a:t>
            </a:r>
          </a:p>
          <a:p>
            <a:pPr lvl="1" fontAlgn="base"/>
            <a:r>
              <a:rPr lang="en-US" b="1" dirty="0"/>
              <a:t>Initial:</a:t>
            </a:r>
            <a:r>
              <a:rPr lang="en-US" dirty="0"/>
              <a:t> [ ] (Empty Stack)</a:t>
            </a:r>
          </a:p>
          <a:p>
            <a:pPr lvl="1" fontAlgn="base"/>
            <a:r>
              <a:rPr lang="en-US" dirty="0"/>
              <a:t>push(10): [ 10 ] &lt;-- TOP</a:t>
            </a:r>
          </a:p>
          <a:p>
            <a:pPr lvl="1" fontAlgn="base"/>
            <a:r>
              <a:rPr lang="en-US" dirty="0"/>
              <a:t>push(20): [ 10, 20 ] &lt;-- TOP</a:t>
            </a:r>
          </a:p>
          <a:p>
            <a:pPr lvl="1" fontAlgn="base"/>
            <a:r>
              <a:rPr lang="en-US" dirty="0"/>
              <a:t>push(30): [ 10, 20, 30 ] &lt;-- TOP</a:t>
            </a:r>
          </a:p>
          <a:p>
            <a:pPr lvl="1" fontAlgn="base"/>
            <a:r>
              <a:rPr lang="en-US" dirty="0"/>
              <a:t>peek(): Returns 30. Stack is still [ 10, 20, 30 ].</a:t>
            </a:r>
          </a:p>
          <a:p>
            <a:pPr lvl="1" fontAlgn="base"/>
            <a:r>
              <a:rPr lang="en-US" dirty="0"/>
              <a:t>pop(): Returns 30. Stack is now [ 10, 20 ] &lt;-- TOP</a:t>
            </a:r>
          </a:p>
          <a:p>
            <a:r>
              <a:rPr lang="en-US" dirty="0"/>
              <a:t>pop(): Returns 20. Stack is now [ 10 ] &lt;-- TOP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8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are Stacks Used</a:t>
            </a:r>
            <a:r>
              <a:rPr lang="en-US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 smtClean="0"/>
              <a:t>Function </a:t>
            </a:r>
            <a:r>
              <a:rPr lang="en-US" b="1" dirty="0"/>
              <a:t>Calls:</a:t>
            </a:r>
            <a:r>
              <a:rPr lang="en-US" dirty="0"/>
              <a:t> When a function is called, it's "pushed" onto the call stack. When it returns, it's "popped" off. This is how your program knows where to return to!</a:t>
            </a:r>
          </a:p>
          <a:p>
            <a:pPr lvl="0" fontAlgn="base"/>
            <a:r>
              <a:rPr lang="en-US" b="1" dirty="0"/>
              <a:t>Undo/Redo Feature:</a:t>
            </a:r>
            <a:r>
              <a:rPr lang="en-US" dirty="0"/>
              <a:t> Each action (typing, deleting) is pushed onto a stack. "Undo" is simply a pop() operation.</a:t>
            </a:r>
          </a:p>
          <a:p>
            <a:pPr lvl="0" fontAlgn="base"/>
            <a:r>
              <a:rPr lang="en-US" b="1" dirty="0"/>
              <a:t>Expression Evaluation:</a:t>
            </a:r>
            <a:r>
              <a:rPr lang="en-US" dirty="0"/>
              <a:t> Converting infix expressions (like 3 + 4) to postfix (3 4 +) and evaluating them.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7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ADT Example 3: The Queue ADT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Concept:</a:t>
            </a:r>
            <a:r>
              <a:rPr lang="en-US" dirty="0"/>
              <a:t> A </a:t>
            </a:r>
            <a:r>
              <a:rPr lang="en-US" b="1" dirty="0"/>
              <a:t>FIFO</a:t>
            </a:r>
            <a:r>
              <a:rPr lang="en-US" dirty="0"/>
              <a:t> (First-In, First-Out) collection.</a:t>
            </a:r>
          </a:p>
          <a:p>
            <a:pPr lvl="0" fontAlgn="base"/>
            <a:r>
              <a:rPr lang="en-US" b="1" dirty="0"/>
              <a:t>Analogy:</a:t>
            </a:r>
            <a:r>
              <a:rPr lang="en-US" dirty="0"/>
              <a:t> A checkout line at a grocery store. The first person to get in line is the first person to be served.</a:t>
            </a:r>
          </a:p>
          <a:p>
            <a:pPr lvl="0" fontAlgn="base"/>
            <a:r>
              <a:rPr lang="en-US" b="1" dirty="0"/>
              <a:t>Data:</a:t>
            </a:r>
            <a:endParaRPr lang="en-US" dirty="0"/>
          </a:p>
          <a:p>
            <a:pPr lvl="1" fontAlgn="base"/>
            <a:r>
              <a:rPr lang="en-US" dirty="0"/>
              <a:t>An ordered collection of elements with a </a:t>
            </a:r>
            <a:r>
              <a:rPr lang="en-US" b="1" dirty="0"/>
              <a:t>front</a:t>
            </a:r>
            <a:r>
              <a:rPr lang="en-US" dirty="0"/>
              <a:t> and a </a:t>
            </a:r>
            <a:r>
              <a:rPr lang="en-US" b="1" dirty="0"/>
              <a:t>rear</a:t>
            </a:r>
            <a:r>
              <a:rPr lang="en-US" dirty="0"/>
              <a:t>.</a:t>
            </a:r>
          </a:p>
          <a:p>
            <a:pPr lvl="0" fontAlgn="base"/>
            <a:r>
              <a:rPr lang="en-US" b="1" dirty="0"/>
              <a:t>Core Operations:</a:t>
            </a:r>
            <a:endParaRPr lang="en-US" dirty="0"/>
          </a:p>
          <a:p>
            <a:pPr lvl="1" fontAlgn="base"/>
            <a:r>
              <a:rPr lang="en-US" dirty="0" err="1"/>
              <a:t>enqueue</a:t>
            </a:r>
            <a:r>
              <a:rPr lang="en-US" dirty="0"/>
              <a:t>(item): Adds an item to the </a:t>
            </a:r>
            <a:r>
              <a:rPr lang="en-US" b="1" dirty="0"/>
              <a:t>rear</a:t>
            </a:r>
            <a:r>
              <a:rPr lang="en-US" dirty="0"/>
              <a:t> of the queue.</a:t>
            </a:r>
          </a:p>
          <a:p>
            <a:pPr lvl="1" fontAlgn="base"/>
            <a:r>
              <a:rPr lang="en-US" dirty="0" err="1"/>
              <a:t>dequeue</a:t>
            </a:r>
            <a:r>
              <a:rPr lang="en-US" dirty="0"/>
              <a:t>(): Removes and returns the item from the </a:t>
            </a:r>
            <a:r>
              <a:rPr lang="en-US" b="1" dirty="0"/>
              <a:t>front</a:t>
            </a:r>
            <a:r>
              <a:rPr lang="en-US" dirty="0"/>
              <a:t> of the queue.</a:t>
            </a:r>
          </a:p>
          <a:p>
            <a:r>
              <a:rPr lang="en-US" dirty="0"/>
              <a:t>front(): Returns the front item without removing it.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58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Visualizing the Queue ADT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Let's trace some operations:</a:t>
            </a:r>
          </a:p>
          <a:p>
            <a:pPr lvl="1" fontAlgn="base"/>
            <a:r>
              <a:rPr lang="en-US" b="1" dirty="0"/>
              <a:t>Initial:</a:t>
            </a:r>
            <a:r>
              <a:rPr lang="en-US" dirty="0"/>
              <a:t> FRONT [ ] REAR (Empty Queue)</a:t>
            </a:r>
          </a:p>
          <a:p>
            <a:pPr lvl="1" fontAlgn="base"/>
            <a:r>
              <a:rPr lang="en-US" dirty="0" err="1"/>
              <a:t>enqueue</a:t>
            </a:r>
            <a:r>
              <a:rPr lang="en-US" dirty="0"/>
              <a:t>(A): FRONT [ A ] REAR</a:t>
            </a:r>
          </a:p>
          <a:p>
            <a:pPr lvl="1" fontAlgn="base"/>
            <a:r>
              <a:rPr lang="en-US" dirty="0" err="1"/>
              <a:t>enqueue</a:t>
            </a:r>
            <a:r>
              <a:rPr lang="en-US" dirty="0"/>
              <a:t>(B): FRONT [ A, B ] REAR</a:t>
            </a:r>
          </a:p>
          <a:p>
            <a:pPr lvl="1" fontAlgn="base"/>
            <a:r>
              <a:rPr lang="en-US" dirty="0" err="1"/>
              <a:t>enqueue</a:t>
            </a:r>
            <a:r>
              <a:rPr lang="en-US" dirty="0"/>
              <a:t>(C): FRONT [ A, B, C ] REAR</a:t>
            </a:r>
          </a:p>
          <a:p>
            <a:pPr lvl="1" fontAlgn="base"/>
            <a:r>
              <a:rPr lang="en-US" dirty="0"/>
              <a:t>front(): Returns 'A'. Queue is still [ A, B, C ].</a:t>
            </a:r>
          </a:p>
          <a:p>
            <a:pPr lvl="1" fontAlgn="base"/>
            <a:r>
              <a:rPr lang="en-US" dirty="0" err="1"/>
              <a:t>dequeue</a:t>
            </a:r>
            <a:r>
              <a:rPr lang="en-US" dirty="0"/>
              <a:t>(): Returns 'A'. Queue is now FRONT [ B, C ] REAR.</a:t>
            </a:r>
          </a:p>
          <a:p>
            <a:r>
              <a:rPr lang="en-US" dirty="0" err="1"/>
              <a:t>dequeue</a:t>
            </a:r>
            <a:r>
              <a:rPr lang="en-US" dirty="0"/>
              <a:t>(): Returns 'B'. Queue is now FRONT [ C ] REAR.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30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are Queues Used?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Printers:</a:t>
            </a:r>
            <a:r>
              <a:rPr lang="en-US" dirty="0"/>
              <a:t> Print jobs are added to a queue and printed in the order they were received.</a:t>
            </a:r>
          </a:p>
          <a:p>
            <a:pPr lvl="0" fontAlgn="base"/>
            <a:r>
              <a:rPr lang="en-US" b="1" dirty="0"/>
              <a:t>Operating Systems:</a:t>
            </a:r>
            <a:r>
              <a:rPr lang="en-US" dirty="0"/>
              <a:t> Managing access to shared resources like CPUs. Processes wait in a queue for their turn.</a:t>
            </a:r>
          </a:p>
          <a:p>
            <a:pPr lvl="0" fontAlgn="base"/>
            <a:r>
              <a:rPr lang="en-US" b="1" dirty="0"/>
              <a:t>Customer Service:</a:t>
            </a:r>
            <a:r>
              <a:rPr lang="en-US" dirty="0"/>
              <a:t> "Your call is important to us. You are currently number 5 in the queue."</a:t>
            </a:r>
          </a:p>
          <a:p>
            <a:r>
              <a:rPr lang="en-US" b="1" dirty="0"/>
              <a:t>Networking:</a:t>
            </a:r>
            <a:r>
              <a:rPr lang="en-US" dirty="0"/>
              <a:t> Data packets often wait in a queue before being transmitted.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19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ADT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ADTs focus on the </a:t>
            </a:r>
            <a:r>
              <a:rPr lang="en-US" b="1" dirty="0"/>
              <a:t>logical level</a:t>
            </a:r>
            <a:r>
              <a:rPr lang="en-US" dirty="0"/>
              <a:t>: What operations are available? What are the rules (e.g., LIFO, FIFO)?</a:t>
            </a:r>
          </a:p>
          <a:p>
            <a:pPr lvl="0" fontAlgn="base"/>
            <a:r>
              <a:rPr lang="en-US" dirty="0"/>
              <a:t>They provide </a:t>
            </a:r>
            <a:r>
              <a:rPr lang="en-US" b="1" dirty="0"/>
              <a:t>abstraction</a:t>
            </a:r>
            <a:r>
              <a:rPr lang="en-US" dirty="0"/>
              <a:t>, hiding the messy details of implementation.</a:t>
            </a:r>
          </a:p>
          <a:p>
            <a:pPr lvl="0" fontAlgn="base"/>
            <a:r>
              <a:rPr lang="en-US" dirty="0"/>
              <a:t>This separation allows us to change the underlying implementation without breaking the code that uses it.</a:t>
            </a:r>
          </a:p>
          <a:p>
            <a:r>
              <a:rPr lang="en-US" b="1" dirty="0"/>
              <a:t>Next up:</a:t>
            </a:r>
            <a:r>
              <a:rPr lang="en-US" dirty="0"/>
              <a:t> How do we actually </a:t>
            </a:r>
            <a:r>
              <a:rPr lang="en-US" i="1" dirty="0"/>
              <a:t>build</a:t>
            </a:r>
            <a:r>
              <a:rPr lang="en-US" dirty="0"/>
              <a:t> these ADTs?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22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Data Structure?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A Data Structure is a </a:t>
            </a:r>
            <a:r>
              <a:rPr lang="en-US" b="1" dirty="0"/>
              <a:t>concrete implementation</a:t>
            </a:r>
            <a:r>
              <a:rPr lang="en-US" dirty="0"/>
              <a:t> of an ADT.</a:t>
            </a:r>
          </a:p>
          <a:p>
            <a:pPr fontAlgn="base"/>
            <a:r>
              <a:rPr lang="en-US" dirty="0"/>
              <a:t>It's the </a:t>
            </a:r>
            <a:r>
              <a:rPr lang="en-US" b="1" dirty="0"/>
              <a:t>HOW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It's a specific way of organizing data in a computer's memory to allow for efficient access and modification.</a:t>
            </a:r>
          </a:p>
          <a:p>
            <a:pPr fontAlgn="base"/>
            <a:r>
              <a:rPr lang="en-US" b="1" dirty="0"/>
              <a:t>Examples:</a:t>
            </a:r>
            <a:r>
              <a:rPr lang="en-US" dirty="0"/>
              <a:t> Arrays, Linked Lists, Trees, Hash Tables, Graphs.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ADT vs. Data Structure: The Key Difference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413930"/>
              </p:ext>
            </p:extLst>
          </p:nvPr>
        </p:nvGraphicFramePr>
        <p:xfrm>
          <a:off x="1556239" y="1890346"/>
          <a:ext cx="8634045" cy="42642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8015">
                  <a:extLst>
                    <a:ext uri="{9D8B030D-6E8A-4147-A177-3AD203B41FA5}">
                      <a16:colId xmlns:a16="http://schemas.microsoft.com/office/drawing/2014/main" val="561527438"/>
                    </a:ext>
                  </a:extLst>
                </a:gridCol>
                <a:gridCol w="2878015">
                  <a:extLst>
                    <a:ext uri="{9D8B030D-6E8A-4147-A177-3AD203B41FA5}">
                      <a16:colId xmlns:a16="http://schemas.microsoft.com/office/drawing/2014/main" val="2256468665"/>
                    </a:ext>
                  </a:extLst>
                </a:gridCol>
                <a:gridCol w="2878015">
                  <a:extLst>
                    <a:ext uri="{9D8B030D-6E8A-4147-A177-3AD203B41FA5}">
                      <a16:colId xmlns:a16="http://schemas.microsoft.com/office/drawing/2014/main" val="4273780009"/>
                    </a:ext>
                  </a:extLst>
                </a:gridCol>
              </a:tblGrid>
              <a:tr h="48010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Feature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Abstract Data Type (ADT)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Data Structure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772492677"/>
                  </a:ext>
                </a:extLst>
              </a:tr>
              <a:tr h="480100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Level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Logical / Conceptual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Physical / Concrete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811678932"/>
                  </a:ext>
                </a:extLst>
              </a:tr>
              <a:tr h="756834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Focus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What operations are supported (The Interface)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How the operations are implemented (The Engine)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28332857"/>
                  </a:ext>
                </a:extLst>
              </a:tr>
              <a:tr h="1033566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Concern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External view, behavior, contract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Internal representation, memory usage, algorithm efficiency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3741003754"/>
                  </a:ext>
                </a:extLst>
              </a:tr>
              <a:tr h="756834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Example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The List ADT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An Array or a Linked List used to build a list.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750034954"/>
                  </a:ext>
                </a:extLst>
              </a:tr>
              <a:tr h="756834"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Analogy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A car's dashboard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The V6 engine vs. the electric motor.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519097903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08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ADTs: The Choices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An ADT is just a concept. To use it, we must choose a data structure to implement it.</a:t>
            </a:r>
          </a:p>
          <a:p>
            <a:pPr lvl="0" fontAlgn="base"/>
            <a:r>
              <a:rPr lang="en-US" dirty="0"/>
              <a:t>Let's take the </a:t>
            </a:r>
            <a:r>
              <a:rPr lang="en-US" b="1" dirty="0"/>
              <a:t>List ADT</a:t>
            </a:r>
            <a:r>
              <a:rPr lang="en-US" dirty="0"/>
              <a:t>. We can implement it using:</a:t>
            </a:r>
          </a:p>
          <a:p>
            <a:pPr lvl="1" fontAlgn="base"/>
            <a:r>
              <a:rPr lang="en-US" b="1" dirty="0"/>
              <a:t>An Array:</a:t>
            </a:r>
            <a:r>
              <a:rPr lang="en-US" dirty="0"/>
              <a:t> A contiguous block of memory.</a:t>
            </a:r>
          </a:p>
          <a:p>
            <a:pPr lvl="1" fontAlgn="base"/>
            <a:r>
              <a:rPr lang="en-US" b="1" dirty="0"/>
              <a:t>A Linked List:</a:t>
            </a:r>
            <a:r>
              <a:rPr lang="en-US" dirty="0"/>
              <a:t> A series of nodes pointing to each other.</a:t>
            </a:r>
          </a:p>
          <a:p>
            <a:pPr lvl="0" fontAlgn="base"/>
            <a:r>
              <a:rPr lang="en-US" dirty="0"/>
              <a:t>The choice of data structure has </a:t>
            </a:r>
            <a:r>
              <a:rPr lang="en-US" b="1" dirty="0"/>
              <a:t>performance implications!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76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 1: The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What is it?</a:t>
            </a:r>
            <a:r>
              <a:rPr lang="en-US" dirty="0"/>
              <a:t> A fixed-size, contiguous block of memory where elements are stored one after another.</a:t>
            </a:r>
          </a:p>
          <a:p>
            <a:pPr lvl="0" fontAlgn="base"/>
            <a:r>
              <a:rPr lang="en-US" b="1" dirty="0"/>
              <a:t>Key Feature:</a:t>
            </a:r>
            <a:r>
              <a:rPr lang="en-US" dirty="0"/>
              <a:t> Elements are accessed by their </a:t>
            </a:r>
            <a:r>
              <a:rPr lang="en-US" b="1" dirty="0"/>
              <a:t>index</a:t>
            </a:r>
            <a:r>
              <a:rPr lang="en-US" dirty="0"/>
              <a:t> (e.g., </a:t>
            </a:r>
            <a:r>
              <a:rPr lang="en-US" dirty="0" err="1"/>
              <a:t>myArray</a:t>
            </a:r>
            <a:r>
              <a:rPr lang="en-US" dirty="0"/>
              <a:t>[0], </a:t>
            </a:r>
            <a:r>
              <a:rPr lang="en-US" dirty="0" err="1"/>
              <a:t>myArray</a:t>
            </a:r>
            <a:r>
              <a:rPr lang="en-US" dirty="0"/>
              <a:t>[4]). This access is extremely fast! O(1) time complexity.</a:t>
            </a:r>
            <a:br>
              <a:rPr lang="en-US" dirty="0"/>
            </a:br>
            <a:r>
              <a:rPr lang="en-US" dirty="0"/>
              <a:t>Index: 0 1 2 3 4</a:t>
            </a:r>
            <a:br>
              <a:rPr lang="en-US" dirty="0"/>
            </a:br>
            <a:r>
              <a:rPr lang="en-US" dirty="0"/>
              <a:t>Value: [A][B][C][D][E]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14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the List ADT with an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Let's build our List ADT using a simple array.</a:t>
            </a:r>
          </a:p>
          <a:p>
            <a:pPr lvl="0" fontAlgn="base"/>
            <a:r>
              <a:rPr lang="en-US" b="1" dirty="0"/>
              <a:t>get(index):</a:t>
            </a:r>
            <a:r>
              <a:rPr lang="en-US" dirty="0"/>
              <a:t> Super fast! Just go directly to array[index].</a:t>
            </a:r>
          </a:p>
          <a:p>
            <a:pPr lvl="0" fontAlgn="base"/>
            <a:r>
              <a:rPr lang="en-US" b="1" dirty="0"/>
              <a:t>add(item) at the end:</a:t>
            </a:r>
            <a:r>
              <a:rPr lang="en-US" dirty="0"/>
              <a:t> Easy, if there's space. Just put it in the next available slot.</a:t>
            </a:r>
          </a:p>
          <a:p>
            <a:pPr lvl="0" fontAlgn="base"/>
            <a:r>
              <a:rPr lang="en-US" b="1" dirty="0"/>
              <a:t>But what about adding to the </a:t>
            </a:r>
            <a:r>
              <a:rPr lang="en-US" b="1" i="1" dirty="0"/>
              <a:t>middle</a:t>
            </a:r>
            <a:r>
              <a:rPr lang="en-US" b="1" dirty="0"/>
              <a:t>?</a:t>
            </a:r>
            <a:endParaRPr lang="en-US" dirty="0"/>
          </a:p>
          <a:p>
            <a:pPr lvl="1" fontAlgn="base"/>
            <a:r>
              <a:rPr lang="en-US" dirty="0"/>
              <a:t>If we want to add 'X' at index 2:</a:t>
            </a:r>
          </a:p>
          <a:p>
            <a:pPr lvl="1" fontAlgn="base"/>
            <a:r>
              <a:rPr lang="en-US" dirty="0"/>
              <a:t>Before: [A][B][C][D][E]</a:t>
            </a:r>
          </a:p>
          <a:p>
            <a:pPr lvl="1" fontAlgn="base"/>
            <a:r>
              <a:rPr lang="en-US" dirty="0"/>
              <a:t>We have to </a:t>
            </a:r>
            <a:r>
              <a:rPr lang="en-US" b="1" dirty="0"/>
              <a:t>shift</a:t>
            </a:r>
            <a:r>
              <a:rPr lang="en-US" dirty="0"/>
              <a:t> everything from index 2 onwards to the right to make space!</a:t>
            </a:r>
          </a:p>
          <a:p>
            <a:pPr lvl="1" fontAlgn="base"/>
            <a:r>
              <a:rPr lang="en-US" dirty="0"/>
              <a:t>After: [A][B][X][C][D][E]</a:t>
            </a:r>
          </a:p>
          <a:p>
            <a:pPr lvl="1" fontAlgn="base"/>
            <a:r>
              <a:rPr lang="en-US" b="1" dirty="0"/>
              <a:t>This can be slow if the array is large!</a:t>
            </a:r>
            <a:r>
              <a:rPr lang="en-US" dirty="0"/>
              <a:t> The same problem happens when we remove from the middle.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26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the Stack ADT with an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This is a very natural fit!</a:t>
            </a:r>
          </a:p>
          <a:p>
            <a:pPr lvl="0" fontAlgn="base"/>
            <a:r>
              <a:rPr lang="en-US" dirty="0"/>
              <a:t>We can use an array and a variable called top that keeps track of the index of the top element.</a:t>
            </a:r>
          </a:p>
          <a:p>
            <a:pPr lvl="0" fontAlgn="base"/>
            <a:r>
              <a:rPr lang="en-US" b="1" dirty="0"/>
              <a:t>push(item):</a:t>
            </a:r>
            <a:endParaRPr lang="en-US" dirty="0"/>
          </a:p>
          <a:p>
            <a:pPr lvl="1" fontAlgn="base"/>
            <a:r>
              <a:rPr lang="en-US" dirty="0"/>
              <a:t>Increment top.</a:t>
            </a:r>
          </a:p>
          <a:p>
            <a:pPr lvl="1" fontAlgn="base"/>
            <a:r>
              <a:rPr lang="en-US" dirty="0"/>
              <a:t>Set array[top] = item.</a:t>
            </a:r>
          </a:p>
          <a:p>
            <a:pPr lvl="0" fontAlgn="base"/>
            <a:r>
              <a:rPr lang="en-US" b="1" dirty="0"/>
              <a:t>pop():</a:t>
            </a:r>
            <a:endParaRPr lang="en-US" dirty="0"/>
          </a:p>
          <a:p>
            <a:pPr lvl="1" fontAlgn="base"/>
            <a:r>
              <a:rPr lang="en-US" dirty="0"/>
              <a:t>Get the item at array[top].</a:t>
            </a:r>
          </a:p>
          <a:p>
            <a:pPr lvl="1" fontAlgn="base"/>
            <a:r>
              <a:rPr lang="en-US" dirty="0"/>
              <a:t>Decrement top.</a:t>
            </a:r>
          </a:p>
          <a:p>
            <a:pPr lvl="1" fontAlgn="base"/>
            <a:r>
              <a:rPr lang="en-US" dirty="0"/>
              <a:t>Return the item.</a:t>
            </a:r>
          </a:p>
          <a:p>
            <a:pPr lvl="0" fontAlgn="base"/>
            <a:r>
              <a:rPr lang="en-US" b="1" dirty="0"/>
              <a:t>This is extremely efficient!</a:t>
            </a:r>
            <a:r>
              <a:rPr lang="en-US" dirty="0"/>
              <a:t> Both operations are very fast.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65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Visualizing an Array-Based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top = -1, array = [ , , , , ] (size 5)</a:t>
            </a:r>
          </a:p>
          <a:p>
            <a:pPr lvl="0" fontAlgn="base"/>
            <a:r>
              <a:rPr lang="en-US" b="1" dirty="0"/>
              <a:t>push(10):</a:t>
            </a:r>
            <a:r>
              <a:rPr lang="en-US" dirty="0"/>
              <a:t> top = 0, array = [10, , , , ]</a:t>
            </a:r>
          </a:p>
          <a:p>
            <a:pPr lvl="0" fontAlgn="base"/>
            <a:r>
              <a:rPr lang="en-US" b="1" dirty="0"/>
              <a:t>push(20):</a:t>
            </a:r>
            <a:r>
              <a:rPr lang="en-US" dirty="0"/>
              <a:t> top = 1, array = [10, 20, , , ]</a:t>
            </a:r>
          </a:p>
          <a:p>
            <a:r>
              <a:rPr lang="en-US" b="1" dirty="0"/>
              <a:t>pop():</a:t>
            </a:r>
            <a:r>
              <a:rPr lang="en-US" dirty="0"/>
              <a:t> returns 20. top = 0. array = [10, 20, , , ] (value 20 is still there but inaccessible)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54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the Queue ADT with an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This is a bit trickier. Let's try the naive approach first.</a:t>
            </a:r>
          </a:p>
          <a:p>
            <a:pPr lvl="0" fontAlgn="base"/>
            <a:r>
              <a:rPr lang="en-US" dirty="0"/>
              <a:t>We can use front and rear indices.</a:t>
            </a:r>
          </a:p>
          <a:p>
            <a:pPr lvl="0" fontAlgn="base"/>
            <a:r>
              <a:rPr lang="en-US" dirty="0" err="1"/>
              <a:t>enqueue</a:t>
            </a:r>
            <a:r>
              <a:rPr lang="en-US" dirty="0"/>
              <a:t>(item): Increment rear, add item at array[rear].</a:t>
            </a:r>
          </a:p>
          <a:p>
            <a:pPr lvl="0" fontAlgn="base"/>
            <a:r>
              <a:rPr lang="en-US" dirty="0" err="1"/>
              <a:t>dequeue</a:t>
            </a:r>
            <a:r>
              <a:rPr lang="en-US" dirty="0"/>
              <a:t>(): Get item from array[front], increment front.</a:t>
            </a:r>
          </a:p>
          <a:p>
            <a:pPr lvl="0" fontAlgn="base"/>
            <a:r>
              <a:rPr lang="en-US" b="1" dirty="0"/>
              <a:t>The Problem:</a:t>
            </a:r>
            <a:endParaRPr lang="en-US" dirty="0"/>
          </a:p>
          <a:p>
            <a:pPr lvl="1" fontAlgn="base"/>
            <a:r>
              <a:rPr lang="en-US" dirty="0"/>
              <a:t>Initial: [ , , , , ] front=0, rear=-1</a:t>
            </a:r>
          </a:p>
          <a:p>
            <a:pPr lvl="1" fontAlgn="base"/>
            <a:r>
              <a:rPr lang="en-US" dirty="0" err="1"/>
              <a:t>enqueue</a:t>
            </a:r>
            <a:r>
              <a:rPr lang="en-US" dirty="0"/>
              <a:t>(A), </a:t>
            </a:r>
            <a:r>
              <a:rPr lang="en-US" dirty="0" err="1"/>
              <a:t>enqueue</a:t>
            </a:r>
            <a:r>
              <a:rPr lang="en-US" dirty="0"/>
              <a:t>(B): [A, B, , , ] front=0, rear=1</a:t>
            </a:r>
          </a:p>
          <a:p>
            <a:pPr lvl="1" fontAlgn="base"/>
            <a:r>
              <a:rPr lang="en-US" dirty="0" err="1"/>
              <a:t>dequeue</a:t>
            </a:r>
            <a:r>
              <a:rPr lang="en-US" dirty="0"/>
              <a:t>(): returns A. [A, B, , , ] front=1, rear=1</a:t>
            </a:r>
          </a:p>
          <a:p>
            <a:pPr lvl="1" fontAlgn="base"/>
            <a:r>
              <a:rPr lang="en-US" dirty="0"/>
              <a:t>The array slot at index 0 is now wasted! This is called "array drift." Eventually, rear hits the end of the array even if there is empty space at the beginning.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96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Better Way: The Circular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To solve the wasted space problem, we treat the array as a circle. When rear or front reaches the end, it "wraps around" to the beginning.</a:t>
            </a:r>
          </a:p>
          <a:p>
            <a:pPr lvl="0" fontAlgn="base"/>
            <a:r>
              <a:rPr lang="en-US" dirty="0"/>
              <a:t>We use the modulo operator (%) to achieve this.</a:t>
            </a:r>
          </a:p>
          <a:p>
            <a:pPr lvl="0" fontAlgn="base"/>
            <a:r>
              <a:rPr lang="en-US" dirty="0"/>
              <a:t>rear = (rear + 1) % </a:t>
            </a:r>
            <a:r>
              <a:rPr lang="en-US" dirty="0" err="1"/>
              <a:t>array_size</a:t>
            </a:r>
            <a:endParaRPr lang="en-US" dirty="0"/>
          </a:p>
          <a:p>
            <a:pPr lvl="0" fontAlgn="base"/>
            <a:r>
              <a:rPr lang="en-US" dirty="0"/>
              <a:t>front = (front + 1) % </a:t>
            </a:r>
            <a:r>
              <a:rPr lang="en-US" dirty="0" err="1"/>
              <a:t>array_size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57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Structure </a:t>
            </a:r>
            <a:r>
              <a:rPr lang="en-US" b="1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Data structures are the concrete tools we use to build ADTs.</a:t>
            </a:r>
          </a:p>
          <a:p>
            <a:pPr lvl="0" fontAlgn="base"/>
            <a:r>
              <a:rPr lang="en-US" dirty="0"/>
              <a:t>The choice of data structure (e.g., Array vs. Linked List) is a critical design decision that affects the </a:t>
            </a:r>
            <a:r>
              <a:rPr lang="en-US" b="1" dirty="0"/>
              <a:t>performance</a:t>
            </a:r>
            <a:r>
              <a:rPr lang="en-US" dirty="0"/>
              <a:t> of our ADT's operations.</a:t>
            </a:r>
          </a:p>
          <a:p>
            <a:pPr lvl="0" fontAlgn="base"/>
            <a:r>
              <a:rPr lang="en-US" dirty="0"/>
              <a:t>There's no single "best" data structure. It's always a trade-off based on what operations you need to be fast.</a:t>
            </a:r>
          </a:p>
          <a:p>
            <a:pPr lvl="0" fontAlgn="base"/>
            <a:r>
              <a:rPr lang="en-US" b="1" dirty="0"/>
              <a:t>Next:</a:t>
            </a:r>
            <a:r>
              <a:rPr lang="en-US" dirty="0"/>
              <a:t> How do we organize these data structures within a larger application?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99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Model-View-Controller (MVC) - Organizing The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Problem: "</a:t>
            </a:r>
            <a:r>
              <a:rPr lang="en-US" b="1" dirty="0" smtClean="0"/>
              <a:t>Spaghetti Code“</a:t>
            </a:r>
          </a:p>
          <a:p>
            <a:pPr lvl="0" fontAlgn="base"/>
            <a:r>
              <a:rPr lang="en-US" dirty="0"/>
              <a:t>In small programs, it's tempting to mix everything together:</a:t>
            </a:r>
          </a:p>
          <a:p>
            <a:pPr lvl="1" fontAlgn="base"/>
            <a:r>
              <a:rPr lang="en-US" dirty="0"/>
              <a:t>Data handling (e.g., lists of users).</a:t>
            </a:r>
          </a:p>
          <a:p>
            <a:pPr lvl="1" fontAlgn="base"/>
            <a:r>
              <a:rPr lang="en-US" dirty="0"/>
              <a:t>Display logic (e.g., HTML, GUI buttons).</a:t>
            </a:r>
          </a:p>
          <a:p>
            <a:pPr lvl="1" fontAlgn="base"/>
            <a:r>
              <a:rPr lang="en-US" dirty="0"/>
              <a:t>User input handling (e.g., button clicks).</a:t>
            </a:r>
          </a:p>
          <a:p>
            <a:pPr lvl="0" fontAlgn="base"/>
            <a:r>
              <a:rPr lang="en-US" dirty="0"/>
              <a:t>This quickly becomes a tangled mess, known as </a:t>
            </a:r>
            <a:r>
              <a:rPr lang="en-US" b="1" dirty="0"/>
              <a:t>spaghetti code</a:t>
            </a:r>
            <a:r>
              <a:rPr lang="en-US" dirty="0"/>
              <a:t>.</a:t>
            </a:r>
          </a:p>
          <a:p>
            <a:pPr lvl="1" fontAlgn="base"/>
            <a:r>
              <a:rPr lang="en-US" dirty="0"/>
              <a:t>Hard to debug.</a:t>
            </a:r>
          </a:p>
          <a:p>
            <a:pPr lvl="1" fontAlgn="base"/>
            <a:r>
              <a:rPr lang="en-US" dirty="0"/>
              <a:t>Hard to update (changing the UI might break the data logic).</a:t>
            </a:r>
          </a:p>
          <a:p>
            <a:r>
              <a:rPr lang="en-US" dirty="0"/>
              <a:t>Hard to reuse components.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19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Solution: Separation of Concerns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Principle:</a:t>
            </a:r>
            <a:r>
              <a:rPr lang="en-US" dirty="0"/>
              <a:t> A program should be divided into distinct sections, and each section should have a specific responsibility.</a:t>
            </a:r>
          </a:p>
          <a:p>
            <a:pPr lvl="0" fontAlgn="base"/>
            <a:r>
              <a:rPr lang="en-US" dirty="0"/>
              <a:t>Don't put your data logic in the same file as your button designs!</a:t>
            </a:r>
          </a:p>
          <a:p>
            <a:pPr lvl="0" fontAlgn="base"/>
            <a:r>
              <a:rPr lang="en-US" b="1" dirty="0"/>
              <a:t>MVC</a:t>
            </a:r>
            <a:r>
              <a:rPr lang="en-US" dirty="0"/>
              <a:t> is an </a:t>
            </a:r>
            <a:r>
              <a:rPr lang="en-US" b="1" dirty="0"/>
              <a:t>architectural pattern</a:t>
            </a:r>
            <a:r>
              <a:rPr lang="en-US" dirty="0"/>
              <a:t> that enforces this principle. It's a proven way to structure applications.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04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MVC?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MVC divides an application into three interconnected components:</a:t>
            </a:r>
          </a:p>
          <a:p>
            <a:pPr lvl="1" fontAlgn="base"/>
            <a:r>
              <a:rPr lang="en-US" b="1" dirty="0"/>
              <a:t>Model:</a:t>
            </a:r>
            <a:r>
              <a:rPr lang="en-US" dirty="0"/>
              <a:t> The Data and the Rules.</a:t>
            </a:r>
          </a:p>
          <a:p>
            <a:pPr lvl="1" fontAlgn="base"/>
            <a:r>
              <a:rPr lang="en-US" b="1" dirty="0"/>
              <a:t>View:</a:t>
            </a:r>
            <a:r>
              <a:rPr lang="en-US" dirty="0"/>
              <a:t> The Presentation.</a:t>
            </a:r>
          </a:p>
          <a:p>
            <a:pPr lvl="1" fontAlgn="base"/>
            <a:r>
              <a:rPr lang="en-US" b="1" dirty="0"/>
              <a:t>Controller:</a:t>
            </a:r>
            <a:r>
              <a:rPr lang="en-US" dirty="0"/>
              <a:t> The Coordinator.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1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Model: The Brains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Responsibility:</a:t>
            </a:r>
            <a:r>
              <a:rPr lang="en-US" dirty="0"/>
              <a:t> Manages the application's data and business logic.</a:t>
            </a:r>
          </a:p>
          <a:p>
            <a:pPr lvl="0" fontAlgn="base"/>
            <a:r>
              <a:rPr lang="en-US" b="1" dirty="0"/>
              <a:t>What it does:</a:t>
            </a:r>
            <a:endParaRPr lang="en-US" dirty="0"/>
          </a:p>
          <a:p>
            <a:pPr lvl="1" fontAlgn="base"/>
            <a:r>
              <a:rPr lang="en-US" dirty="0"/>
              <a:t>Holds the actual data (e.g., a list of Product objects, user information). This is where our </a:t>
            </a:r>
            <a:r>
              <a:rPr lang="en-US" b="1" dirty="0"/>
              <a:t>Data Structures</a:t>
            </a:r>
            <a:r>
              <a:rPr lang="en-US" dirty="0"/>
              <a:t> live!</a:t>
            </a:r>
          </a:p>
          <a:p>
            <a:pPr lvl="1" fontAlgn="base"/>
            <a:r>
              <a:rPr lang="en-US" dirty="0"/>
              <a:t>Contains the rules for how that data can be changed (e.g., "product price cannot be negative").</a:t>
            </a:r>
          </a:p>
          <a:p>
            <a:pPr lvl="1" fontAlgn="base"/>
            <a:r>
              <a:rPr lang="en-US" dirty="0"/>
              <a:t>It is </a:t>
            </a:r>
            <a:r>
              <a:rPr lang="en-US" b="1" dirty="0"/>
              <a:t>UI-independent</a:t>
            </a:r>
            <a:r>
              <a:rPr lang="en-US" dirty="0"/>
              <a:t>. The Model doesn't know or care if the data is displayed in a web page, a desktop app, or a mobile app.</a:t>
            </a:r>
          </a:p>
          <a:p>
            <a:pPr lvl="1" fontAlgn="base"/>
            <a:r>
              <a:rPr lang="en-US" dirty="0"/>
              <a:t>Notifies the View when data has changed.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44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View: The 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Responsibility:</a:t>
            </a:r>
            <a:r>
              <a:rPr lang="en-US" dirty="0"/>
              <a:t> Displays the Model's data to the user.</a:t>
            </a:r>
          </a:p>
          <a:p>
            <a:pPr lvl="0" fontAlgn="base"/>
            <a:r>
              <a:rPr lang="en-US" b="1" dirty="0"/>
              <a:t>What it does:</a:t>
            </a:r>
            <a:endParaRPr lang="en-US" dirty="0"/>
          </a:p>
          <a:p>
            <a:pPr lvl="1" fontAlgn="base"/>
            <a:r>
              <a:rPr lang="en-US" dirty="0"/>
              <a:t>Presents the user interface (UI).</a:t>
            </a:r>
          </a:p>
          <a:p>
            <a:pPr lvl="1" fontAlgn="base"/>
            <a:r>
              <a:rPr lang="en-US" dirty="0"/>
              <a:t>It's what the user </a:t>
            </a:r>
            <a:r>
              <a:rPr lang="en-US" b="1" dirty="0"/>
              <a:t>sees and interacts with</a:t>
            </a:r>
            <a:r>
              <a:rPr lang="en-US" dirty="0"/>
              <a:t> (buttons, forms, charts).</a:t>
            </a:r>
          </a:p>
          <a:p>
            <a:pPr lvl="1" fontAlgn="base"/>
            <a:r>
              <a:rPr lang="en-US" dirty="0"/>
              <a:t>The View's job is to make the data look good. It does </a:t>
            </a:r>
            <a:r>
              <a:rPr lang="en-US" b="1" dirty="0"/>
              <a:t>not</a:t>
            </a:r>
            <a:r>
              <a:rPr lang="en-US" dirty="0"/>
              <a:t> contain business logic.</a:t>
            </a:r>
          </a:p>
          <a:p>
            <a:pPr lvl="1" fontAlgn="base"/>
            <a:r>
              <a:rPr lang="en-US" dirty="0"/>
              <a:t>It sends user actions (like a button click) to the Controller.</a:t>
            </a:r>
          </a:p>
          <a:p>
            <a:pPr lvl="1" fontAlgn="base"/>
            <a:r>
              <a:rPr lang="en-US" dirty="0"/>
              <a:t>It updates itself when the Model tells it that data has changed.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95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Controller: The Traffic Cop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Responsibility:</a:t>
            </a:r>
            <a:r>
              <a:rPr lang="en-US" dirty="0"/>
              <a:t> Handles user input and coordinates between the Model and the View.</a:t>
            </a:r>
          </a:p>
          <a:p>
            <a:pPr lvl="0" fontAlgn="base"/>
            <a:r>
              <a:rPr lang="en-US" b="1" dirty="0"/>
              <a:t>What it does:</a:t>
            </a:r>
            <a:endParaRPr lang="en-US" dirty="0"/>
          </a:p>
          <a:p>
            <a:pPr lvl="1" fontAlgn="base"/>
            <a:r>
              <a:rPr lang="en-US" dirty="0"/>
              <a:t>Receives input from the user (via the View). For example, "the user clicked the 'Add to Cart' button."</a:t>
            </a:r>
          </a:p>
          <a:p>
            <a:pPr lvl="1" fontAlgn="base"/>
            <a:r>
              <a:rPr lang="en-US" dirty="0"/>
              <a:t>It translates this input into commands for the Model. For example, it might tell the Model: </a:t>
            </a:r>
            <a:r>
              <a:rPr lang="en-US" dirty="0" err="1"/>
              <a:t>shoppingCart.addProduct</a:t>
            </a:r>
            <a:r>
              <a:rPr lang="en-US" dirty="0"/>
              <a:t>(</a:t>
            </a:r>
            <a:r>
              <a:rPr lang="en-US" dirty="0" err="1"/>
              <a:t>productID</a:t>
            </a:r>
            <a:r>
              <a:rPr lang="en-US" dirty="0"/>
              <a:t>).</a:t>
            </a:r>
          </a:p>
          <a:p>
            <a:pPr lvl="1" fontAlgn="base"/>
            <a:r>
              <a:rPr lang="en-US" dirty="0"/>
              <a:t>It might also tell the View to change, like navigating to a "Checkout" screen.</a:t>
            </a:r>
          </a:p>
          <a:p>
            <a:r>
              <a:rPr lang="en-US" dirty="0"/>
              <a:t>The Controller is the glue that binds the Model and View together.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39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MVC Flow: Step-by-Step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Let's trace a simple user action: Changing your username on a profile page.</a:t>
            </a:r>
          </a:p>
          <a:p>
            <a:pPr lvl="1" fontAlgn="base"/>
            <a:r>
              <a:rPr lang="en-US" b="1" dirty="0"/>
              <a:t>User Action:</a:t>
            </a:r>
            <a:r>
              <a:rPr lang="en-US" dirty="0"/>
              <a:t> The user types their new username into a text field in the </a:t>
            </a:r>
            <a:r>
              <a:rPr lang="en-US" b="1" dirty="0"/>
              <a:t>View</a:t>
            </a:r>
            <a:r>
              <a:rPr lang="en-US" dirty="0"/>
              <a:t> and clicks "Save".</a:t>
            </a:r>
          </a:p>
          <a:p>
            <a:pPr lvl="1" fontAlgn="base"/>
            <a:r>
              <a:rPr lang="en-US" b="1" dirty="0"/>
              <a:t>Controller Notified:</a:t>
            </a:r>
            <a:r>
              <a:rPr lang="en-US" dirty="0"/>
              <a:t> The </a:t>
            </a:r>
            <a:r>
              <a:rPr lang="en-US" b="1" dirty="0"/>
              <a:t>View</a:t>
            </a:r>
            <a:r>
              <a:rPr lang="en-US" dirty="0"/>
              <a:t> doesn't update the data itself. It tells the </a:t>
            </a:r>
            <a:r>
              <a:rPr lang="en-US" b="1" dirty="0"/>
              <a:t>Controller</a:t>
            </a:r>
            <a:r>
              <a:rPr lang="en-US" dirty="0"/>
              <a:t>, "Hey, the user clicked 'Save' and the new username is '</a:t>
            </a:r>
            <a:r>
              <a:rPr lang="en-US" dirty="0" err="1"/>
              <a:t>GeminiUser</a:t>
            </a:r>
            <a:r>
              <a:rPr lang="en-US" dirty="0"/>
              <a:t>'".</a:t>
            </a:r>
          </a:p>
          <a:p>
            <a:pPr lvl="1" fontAlgn="base"/>
            <a:r>
              <a:rPr lang="en-US" b="1" dirty="0"/>
              <a:t>Model Updated:</a:t>
            </a:r>
            <a:r>
              <a:rPr lang="en-US" dirty="0"/>
              <a:t> The </a:t>
            </a:r>
            <a:r>
              <a:rPr lang="en-US" b="1" dirty="0"/>
              <a:t>Controller</a:t>
            </a:r>
            <a:r>
              <a:rPr lang="en-US" dirty="0"/>
              <a:t> receives this information and calls the appropriate method on the </a:t>
            </a:r>
            <a:r>
              <a:rPr lang="en-US" b="1" dirty="0"/>
              <a:t>Model</a:t>
            </a:r>
            <a:r>
              <a:rPr lang="en-US" dirty="0"/>
              <a:t>, like </a:t>
            </a:r>
            <a:r>
              <a:rPr lang="en-US" dirty="0" err="1"/>
              <a:t>userModel.setUsername</a:t>
            </a:r>
            <a:r>
              <a:rPr lang="en-US" dirty="0"/>
              <a:t>('</a:t>
            </a:r>
            <a:r>
              <a:rPr lang="en-US" dirty="0" err="1"/>
              <a:t>GeminiUser</a:t>
            </a:r>
            <a:r>
              <a:rPr lang="en-US" dirty="0"/>
              <a:t>').</a:t>
            </a:r>
          </a:p>
          <a:p>
            <a:pPr lvl="1" fontAlgn="base"/>
            <a:r>
              <a:rPr lang="en-US" b="1" dirty="0"/>
              <a:t>Model Logic:</a:t>
            </a:r>
            <a:r>
              <a:rPr lang="en-US" dirty="0"/>
              <a:t> The </a:t>
            </a:r>
            <a:r>
              <a:rPr lang="en-US" b="1" dirty="0"/>
              <a:t>Model</a:t>
            </a:r>
            <a:r>
              <a:rPr lang="en-US" dirty="0"/>
              <a:t> receives the request. It might run validation logic (e.g., "is the username long enough?"). If it's valid, it updates its internal data.</a:t>
            </a:r>
          </a:p>
          <a:p>
            <a:pPr lvl="1" fontAlgn="base"/>
            <a:r>
              <a:rPr lang="en-US" b="1" dirty="0"/>
              <a:t>View Notified:</a:t>
            </a:r>
            <a:r>
              <a:rPr lang="en-US" dirty="0"/>
              <a:t> After updating, the </a:t>
            </a:r>
            <a:r>
              <a:rPr lang="en-US" b="1" dirty="0"/>
              <a:t>Model</a:t>
            </a:r>
            <a:r>
              <a:rPr lang="en-US" dirty="0"/>
              <a:t> notifies any interested </a:t>
            </a:r>
            <a:r>
              <a:rPr lang="en-US" b="1" dirty="0"/>
              <a:t>Views</a:t>
            </a:r>
            <a:r>
              <a:rPr lang="en-US" dirty="0"/>
              <a:t> that a change has occurred. (This is often done using an "Observer" pattern).</a:t>
            </a:r>
          </a:p>
          <a:p>
            <a:pPr lvl="1"/>
            <a:r>
              <a:rPr lang="en-US" b="1" dirty="0"/>
              <a:t>View Refreshes:</a:t>
            </a:r>
            <a:r>
              <a:rPr lang="en-US" dirty="0"/>
              <a:t> The </a:t>
            </a:r>
            <a:r>
              <a:rPr lang="en-US" b="1" dirty="0"/>
              <a:t>View</a:t>
            </a:r>
            <a:r>
              <a:rPr lang="en-US" dirty="0"/>
              <a:t> receives the notification. It asks the </a:t>
            </a:r>
            <a:r>
              <a:rPr lang="en-US" b="1" dirty="0"/>
              <a:t>Model</a:t>
            </a:r>
            <a:r>
              <a:rPr lang="en-US" dirty="0"/>
              <a:t> for the latest data (</a:t>
            </a:r>
            <a:r>
              <a:rPr lang="en-US" dirty="0" err="1"/>
              <a:t>userModel.getUsername</a:t>
            </a:r>
            <a:r>
              <a:rPr lang="en-US" dirty="0"/>
              <a:t>()) and updates the display to show "</a:t>
            </a:r>
            <a:r>
              <a:rPr lang="en-US" dirty="0" err="1"/>
              <a:t>GeminiUser</a:t>
            </a:r>
            <a:r>
              <a:rPr lang="en-US" dirty="0"/>
              <a:t>".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75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MVC? The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Organization:</a:t>
            </a:r>
            <a:r>
              <a:rPr lang="en-US" dirty="0"/>
              <a:t> Everyone knows where to find things. UI code is in the View, data code is in the Model.</a:t>
            </a:r>
          </a:p>
          <a:p>
            <a:pPr lvl="0" fontAlgn="base"/>
            <a:r>
              <a:rPr lang="en-US" b="1" dirty="0"/>
              <a:t>Parallel Development:</a:t>
            </a:r>
            <a:r>
              <a:rPr lang="en-US" dirty="0"/>
              <a:t> UI designers can work on the View while backend developers work on the Model, as long as they agree on the data format.</a:t>
            </a:r>
          </a:p>
          <a:p>
            <a:pPr lvl="0" fontAlgn="base"/>
            <a:r>
              <a:rPr lang="en-US" b="1" dirty="0"/>
              <a:t>Reusability:</a:t>
            </a:r>
            <a:r>
              <a:rPr lang="en-US" dirty="0"/>
              <a:t> You can create multiple different Views for the same Model. For example, the same sales data (Model) can be shown as a pie chart or a data table (two different Views).</a:t>
            </a:r>
          </a:p>
          <a:p>
            <a:r>
              <a:rPr lang="en-US" b="1" dirty="0"/>
              <a:t>Easier to Test and Maintain:</a:t>
            </a:r>
            <a:r>
              <a:rPr lang="en-US" dirty="0"/>
              <a:t> You can test your business logic (Model) without needing to run the entire user interface.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08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MVC is a Pattern, Not a Strict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You will see many variations of MVC: MVP (Model-View-Presenter), MVVM (Model-View-</a:t>
            </a:r>
            <a:r>
              <a:rPr lang="en-US" dirty="0" err="1"/>
              <a:t>ViewModel</a:t>
            </a:r>
            <a:r>
              <a:rPr lang="en-US" dirty="0"/>
              <a:t>), and others.</a:t>
            </a:r>
          </a:p>
          <a:p>
            <a:pPr lvl="0" fontAlgn="base"/>
            <a:r>
              <a:rPr lang="en-US" dirty="0"/>
              <a:t>The core principle is always the same: </a:t>
            </a:r>
            <a:r>
              <a:rPr lang="en-US" b="1" dirty="0"/>
              <a:t>Separate your concerns!</a:t>
            </a:r>
            <a:endParaRPr lang="en-US" dirty="0"/>
          </a:p>
          <a:p>
            <a:pPr lvl="0" fontAlgn="base"/>
            <a:r>
              <a:rPr lang="en-US" dirty="0"/>
              <a:t>Don't mix your data, your display, and your control logic into one giant file.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27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of Key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Abstract Data Type (ADT):</a:t>
            </a:r>
            <a:r>
              <a:rPr lang="en-US" dirty="0"/>
              <a:t> A logical blueprint defining </a:t>
            </a:r>
            <a:r>
              <a:rPr lang="en-US" b="1" dirty="0"/>
              <a:t>what</a:t>
            </a:r>
            <a:r>
              <a:rPr lang="en-US" dirty="0"/>
              <a:t> operations a data type supports. It's a contract. (e.g., Stack, Queue).</a:t>
            </a:r>
          </a:p>
          <a:p>
            <a:pPr lvl="0" fontAlgn="base"/>
            <a:r>
              <a:rPr lang="en-US" b="1" dirty="0"/>
              <a:t>Data Structure:</a:t>
            </a:r>
            <a:r>
              <a:rPr lang="en-US" dirty="0"/>
              <a:t> A concrete implementation of an ADT, defining </a:t>
            </a:r>
            <a:r>
              <a:rPr lang="en-US" b="1" dirty="0"/>
              <a:t>how</a:t>
            </a:r>
            <a:r>
              <a:rPr lang="en-US" dirty="0"/>
              <a:t> data is stored and operations are performed. (e.g., Array, Linked List).</a:t>
            </a:r>
          </a:p>
          <a:p>
            <a:pPr lvl="0" fontAlgn="base"/>
            <a:r>
              <a:rPr lang="en-US" b="1" dirty="0"/>
              <a:t>The Trade-off:</a:t>
            </a:r>
            <a:r>
              <a:rPr lang="en-US" dirty="0"/>
              <a:t> The choice of data structure impacts the performance of your ADT's operations.</a:t>
            </a:r>
          </a:p>
          <a:p>
            <a:r>
              <a:rPr lang="en-US" b="1" dirty="0"/>
              <a:t>MVC Pattern:</a:t>
            </a:r>
            <a:r>
              <a:rPr lang="en-US" dirty="0"/>
              <a:t> A way to organize your application code by separating the </a:t>
            </a:r>
            <a:r>
              <a:rPr lang="en-US" b="1" dirty="0"/>
              <a:t>Model</a:t>
            </a:r>
            <a:r>
              <a:rPr lang="en-US" dirty="0"/>
              <a:t> (data), </a:t>
            </a:r>
            <a:r>
              <a:rPr lang="en-US" b="1" dirty="0"/>
              <a:t>View</a:t>
            </a:r>
            <a:r>
              <a:rPr lang="en-US" dirty="0"/>
              <a:t> (UI), and </a:t>
            </a:r>
            <a:r>
              <a:rPr lang="en-US" b="1" dirty="0"/>
              <a:t>Controller</a:t>
            </a:r>
            <a:r>
              <a:rPr lang="en-US" dirty="0"/>
              <a:t> (logic) to improve maintainability and scalability.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50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Connecting it 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Your application is structured using the </a:t>
            </a:r>
            <a:r>
              <a:rPr lang="en-US" b="1" dirty="0"/>
              <a:t>MVC</a:t>
            </a:r>
            <a:r>
              <a:rPr lang="en-US" dirty="0"/>
              <a:t> pattern.</a:t>
            </a:r>
          </a:p>
          <a:p>
            <a:pPr lvl="0" fontAlgn="base"/>
            <a:r>
              <a:rPr lang="en-US" dirty="0"/>
              <a:t>The </a:t>
            </a:r>
            <a:r>
              <a:rPr lang="en-US" b="1" dirty="0"/>
              <a:t>Model</a:t>
            </a:r>
            <a:r>
              <a:rPr lang="en-US" dirty="0"/>
              <a:t> part of your MVC application contains your business logic and data.</a:t>
            </a:r>
          </a:p>
          <a:p>
            <a:pPr lvl="0" fontAlgn="base"/>
            <a:r>
              <a:rPr lang="en-US" dirty="0"/>
              <a:t>That data is stored in </a:t>
            </a:r>
            <a:r>
              <a:rPr lang="en-US" b="1" dirty="0"/>
              <a:t>Data Structures</a:t>
            </a:r>
            <a:r>
              <a:rPr lang="en-US" dirty="0"/>
              <a:t> (like Arrays).</a:t>
            </a:r>
          </a:p>
          <a:p>
            <a:pPr lvl="0" fontAlgn="base"/>
            <a:r>
              <a:rPr lang="en-US" dirty="0"/>
              <a:t>Those Data Structures are chosen because they are efficient implementations of the </a:t>
            </a:r>
            <a:r>
              <a:rPr lang="en-US" b="1" dirty="0"/>
              <a:t>ADTs</a:t>
            </a:r>
            <a:r>
              <a:rPr lang="en-US" dirty="0"/>
              <a:t> (like Lists or Queues) that you logically need for your application.</a:t>
            </a:r>
            <a:br>
              <a:rPr lang="en-US" dirty="0"/>
            </a:br>
            <a:r>
              <a:rPr lang="en-US" b="1" dirty="0"/>
              <a:t>MVC -&gt; Model -&gt; Data Structures -&gt; ADTs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50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Week: Diving Deeper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Topic:</a:t>
            </a:r>
            <a:r>
              <a:rPr lang="en-US" dirty="0"/>
              <a:t> Algorithm Analysis &amp; Big O Notation</a:t>
            </a:r>
          </a:p>
          <a:p>
            <a:pPr lvl="0" fontAlgn="base"/>
            <a:r>
              <a:rPr lang="en-US" b="1" dirty="0"/>
              <a:t>What we'll answer:</a:t>
            </a:r>
            <a:endParaRPr lang="en-US" dirty="0"/>
          </a:p>
          <a:p>
            <a:pPr lvl="1" fontAlgn="base"/>
            <a:r>
              <a:rPr lang="en-US" dirty="0"/>
              <a:t>How do we formally measure the efficiency of our code?</a:t>
            </a:r>
          </a:p>
          <a:p>
            <a:pPr lvl="1" fontAlgn="base"/>
            <a:r>
              <a:rPr lang="en-US" dirty="0"/>
              <a:t>What does O(1), O(n), or O(log n) actually mean?</a:t>
            </a:r>
          </a:p>
          <a:p>
            <a:r>
              <a:rPr lang="en-US" dirty="0"/>
              <a:t>How to analyze the trade-offs between different data structures (e.g., Array vs. Linked List for insertion).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CS210 - Data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17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79</TotalTime>
  <Words>3349</Words>
  <Application>Microsoft Office PowerPoint</Application>
  <PresentationFormat>Widescreen</PresentationFormat>
  <Paragraphs>345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Retrospect</vt:lpstr>
      <vt:lpstr>Data Structures</vt:lpstr>
      <vt:lpstr>Course Details</vt:lpstr>
      <vt:lpstr>Topics to be covered…</vt:lpstr>
      <vt:lpstr>The Fundamental Question: Why Care About Organizing Data?</vt:lpstr>
      <vt:lpstr>Data Structures &amp; Algorithms: A Dynamic Duo</vt:lpstr>
      <vt:lpstr>What is an Abstract Data Type (ADT)?</vt:lpstr>
      <vt:lpstr>ADT Analogy: A Car's Dashboard</vt:lpstr>
      <vt:lpstr>ADT Example 1: The List ADT</vt:lpstr>
      <vt:lpstr>ADT Example 2: The Stack ADT</vt:lpstr>
      <vt:lpstr>Visualizing the Stack ADT</vt:lpstr>
      <vt:lpstr>Where are Stacks Used?</vt:lpstr>
      <vt:lpstr>ADT Example 3: The Queue ADT</vt:lpstr>
      <vt:lpstr>Visualizing the Queue ADT</vt:lpstr>
      <vt:lpstr>Where are Queues Used?</vt:lpstr>
      <vt:lpstr>ADT Summary</vt:lpstr>
      <vt:lpstr>What is a Data Structure?</vt:lpstr>
      <vt:lpstr>ADT vs. Data Structure: The Key Difference</vt:lpstr>
      <vt:lpstr>Implementing ADTs: The Choices</vt:lpstr>
      <vt:lpstr>Implementation 1: The Array</vt:lpstr>
      <vt:lpstr>Implementing the List ADT with an Array</vt:lpstr>
      <vt:lpstr>Implementing the Stack ADT with an Array</vt:lpstr>
      <vt:lpstr>Visualizing an Array-Based Stack</vt:lpstr>
      <vt:lpstr>Implementing the Queue ADT with an Array</vt:lpstr>
      <vt:lpstr>A Better Way: The Circular Array</vt:lpstr>
      <vt:lpstr>Data Structure Summary</vt:lpstr>
      <vt:lpstr>Model-View-Controller (MVC) - Organizing The Code</vt:lpstr>
      <vt:lpstr>The Solution: Separation of Concerns</vt:lpstr>
      <vt:lpstr>What is MVC?</vt:lpstr>
      <vt:lpstr>The Model: The Brains</vt:lpstr>
      <vt:lpstr>The View: The Face</vt:lpstr>
      <vt:lpstr>The Controller: The Traffic Cop</vt:lpstr>
      <vt:lpstr>The MVC Flow: Step-by-Step</vt:lpstr>
      <vt:lpstr>Why Use MVC? The Benefits</vt:lpstr>
      <vt:lpstr>MVC is a Pattern, Not a Strict Law</vt:lpstr>
      <vt:lpstr>Summary of Key Concepts</vt:lpstr>
      <vt:lpstr>Connecting it All</vt:lpstr>
      <vt:lpstr>Next Week: Diving Deeper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Administrator</dc:creator>
  <cp:lastModifiedBy>Administrator</cp:lastModifiedBy>
  <cp:revision>7</cp:revision>
  <dcterms:created xsi:type="dcterms:W3CDTF">2025-09-15T09:02:56Z</dcterms:created>
  <dcterms:modified xsi:type="dcterms:W3CDTF">2025-09-15T10:22:03Z</dcterms:modified>
</cp:coreProperties>
</file>