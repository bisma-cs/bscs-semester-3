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8"/>
  </p:notes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5" r:id="rId15"/>
    <p:sldId id="304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DC72F-581E-4F4A-9010-D01891AB7FC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8A3EB-13A6-4A6C-B559-6129DD955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9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53786-4DEC-4B83-B748-92ECD0CC9F44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71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D732-2237-4470-813A-BAF5B8FCCBA1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CE2-80DA-4A85-A992-62CC1AA7DAB6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7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D955-EFC5-4F4B-98BA-DDCBAE9F748C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4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08DC-B991-45C8-BE8E-03F626AC1B8B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F139-91AF-43E9-842C-050822666E1A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7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081F-C614-41E1-A2C0-4BADDE99BE3E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5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366D91-BCDA-4E5D-840E-36A2AEB35808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8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72-508B-4316-96A0-44422A762A58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82452-F982-435A-B65E-9011E64493A8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2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14ADF-2AD0-45DC-B864-3957ED39BB00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2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614BB1-5CBA-4BE0-8711-AACF380417F5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33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02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1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to be covered…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fontAlgn="base"/>
            <a:r>
              <a:rPr lang="en-US" dirty="0"/>
              <a:t>Last week, we learned about the "what" (ADTs) and the "how" (Data Structures). Today, we learn how to choose the </a:t>
            </a:r>
            <a:r>
              <a:rPr lang="en-US" i="1" dirty="0"/>
              <a:t>best</a:t>
            </a:r>
            <a:r>
              <a:rPr lang="en-US" dirty="0"/>
              <a:t> "how."</a:t>
            </a:r>
          </a:p>
          <a:p>
            <a:pPr fontAlgn="base"/>
            <a:r>
              <a:rPr lang="en-US" b="1" dirty="0"/>
              <a:t>Hour 1: The Need for Speed</a:t>
            </a:r>
            <a:endParaRPr lang="en-US" dirty="0"/>
          </a:p>
          <a:p>
            <a:pPr lvl="1" fontAlgn="base"/>
            <a:r>
              <a:rPr lang="en-US" dirty="0"/>
              <a:t>Why does performance matter?</a:t>
            </a:r>
          </a:p>
          <a:p>
            <a:pPr lvl="1" fontAlgn="base"/>
            <a:r>
              <a:rPr lang="en-US" dirty="0"/>
              <a:t>Why a stopwatch is a bad tool for measuring code speed.</a:t>
            </a:r>
          </a:p>
          <a:p>
            <a:pPr lvl="1" fontAlgn="base"/>
            <a:r>
              <a:rPr lang="en-US" dirty="0"/>
              <a:t>A better way: Counting operations.</a:t>
            </a:r>
          </a:p>
          <a:p>
            <a:pPr fontAlgn="base"/>
            <a:r>
              <a:rPr lang="en-US" b="1" dirty="0"/>
              <a:t>Hour 2: Introducing the Language of Performance - Big O</a:t>
            </a:r>
            <a:endParaRPr lang="en-US" dirty="0"/>
          </a:p>
          <a:p>
            <a:pPr lvl="1" fontAlgn="base"/>
            <a:r>
              <a:rPr lang="en-US" dirty="0"/>
              <a:t>Asymptotic Analysis: Focusing on what matters.</a:t>
            </a:r>
          </a:p>
          <a:p>
            <a:pPr lvl="1" fontAlgn="base"/>
            <a:r>
              <a:rPr lang="en-US" dirty="0"/>
              <a:t>Defining Big O Notation.</a:t>
            </a:r>
          </a:p>
          <a:p>
            <a:pPr lvl="1" fontAlgn="base"/>
            <a:r>
              <a:rPr lang="en-US" dirty="0"/>
              <a:t>Rules for simplifying complexity.</a:t>
            </a:r>
          </a:p>
          <a:p>
            <a:pPr fontAlgn="base"/>
            <a:r>
              <a:rPr lang="en-US" b="1" dirty="0"/>
              <a:t>Hour 3: Common Complexity Classes</a:t>
            </a:r>
            <a:endParaRPr lang="en-US" dirty="0"/>
          </a:p>
          <a:p>
            <a:pPr lvl="1" fontAlgn="base"/>
            <a:r>
              <a:rPr lang="en-US" dirty="0"/>
              <a:t>From blazing fast O(1) to dangerously slow O(2ⁿ).</a:t>
            </a:r>
          </a:p>
          <a:p>
            <a:pPr lvl="1" fontAlgn="base"/>
            <a:r>
              <a:rPr lang="en-US" dirty="0"/>
              <a:t>Analyzing real code examples for each class.</a:t>
            </a:r>
          </a:p>
          <a:p>
            <a:pPr lvl="1"/>
            <a:r>
              <a:rPr lang="en-US" dirty="0"/>
              <a:t>Best, Average, and Worst-Case scenarios.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Recap: ADTs vs. 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Remember the </a:t>
            </a:r>
            <a:r>
              <a:rPr lang="en-US" b="1" dirty="0"/>
              <a:t>List ADT</a:t>
            </a:r>
            <a:r>
              <a:rPr lang="en-US" dirty="0"/>
              <a:t>? It defines operations like add, remove, and get.</a:t>
            </a:r>
          </a:p>
          <a:p>
            <a:pPr lvl="0" fontAlgn="base"/>
            <a:r>
              <a:rPr lang="en-US" dirty="0"/>
              <a:t>We can </a:t>
            </a:r>
            <a:r>
              <a:rPr lang="en-US" i="1" dirty="0"/>
              <a:t>implement</a:t>
            </a:r>
            <a:r>
              <a:rPr lang="en-US" dirty="0"/>
              <a:t> this ADT with different </a:t>
            </a:r>
            <a:r>
              <a:rPr lang="en-US" b="1" dirty="0"/>
              <a:t>Data Structures</a:t>
            </a:r>
            <a:r>
              <a:rPr lang="en-US" dirty="0"/>
              <a:t>:</a:t>
            </a:r>
          </a:p>
          <a:p>
            <a:pPr lvl="1" fontAlgn="base"/>
            <a:r>
              <a:rPr lang="en-US" dirty="0"/>
              <a:t>An </a:t>
            </a:r>
            <a:r>
              <a:rPr lang="en-US" b="1" dirty="0"/>
              <a:t>Array</a:t>
            </a:r>
            <a:endParaRPr lang="en-US" dirty="0"/>
          </a:p>
          <a:p>
            <a:pPr lvl="1" fontAlgn="base"/>
            <a:r>
              <a:rPr lang="en-US" dirty="0"/>
              <a:t>A </a:t>
            </a:r>
            <a:r>
              <a:rPr lang="en-US" b="1" dirty="0"/>
              <a:t>Linked List</a:t>
            </a:r>
            <a:r>
              <a:rPr lang="en-US" dirty="0"/>
              <a:t> (we'll cover this soon!)</a:t>
            </a:r>
          </a:p>
          <a:p>
            <a:r>
              <a:rPr lang="en-US" b="1" dirty="0"/>
              <a:t>The Central Question:</a:t>
            </a:r>
            <a:r>
              <a:rPr lang="en-US" dirty="0"/>
              <a:t> If we have multiple ways to implement an ADT, which one is </a:t>
            </a:r>
            <a:r>
              <a:rPr lang="en-US" b="1" dirty="0"/>
              <a:t>better</a:t>
            </a:r>
            <a:r>
              <a:rPr lang="en-US" dirty="0"/>
              <a:t>? Which one is more </a:t>
            </a:r>
            <a:r>
              <a:rPr lang="en-US" b="1" dirty="0"/>
              <a:t>efficient</a:t>
            </a:r>
            <a:r>
              <a:rPr lang="en-US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19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Does Efficiency Matter?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It's not just about showing off. Efficiency has real-world consequences:</a:t>
            </a:r>
          </a:p>
          <a:p>
            <a:pPr lvl="1" fontAlgn="base"/>
            <a:r>
              <a:rPr lang="en-US" b="1" dirty="0"/>
              <a:t>User Experience:</a:t>
            </a:r>
            <a:r>
              <a:rPr lang="en-US" dirty="0"/>
              <a:t> No one wants to wait 10 seconds for a search result to appear. A slow website or app loses users.</a:t>
            </a:r>
          </a:p>
          <a:p>
            <a:pPr lvl="1" fontAlgn="base"/>
            <a:r>
              <a:rPr lang="en-US" b="1" dirty="0"/>
              <a:t>Scalability:</a:t>
            </a:r>
            <a:r>
              <a:rPr lang="en-US" dirty="0"/>
              <a:t> An algorithm that's fast for 100 users might take hours for 1 million users. Google Search has to be incredibly efficient to handle billions of queries.</a:t>
            </a:r>
          </a:p>
          <a:p>
            <a:pPr lvl="1"/>
            <a:r>
              <a:rPr lang="en-US" b="1" dirty="0"/>
              <a:t>Cost:</a:t>
            </a:r>
            <a:r>
              <a:rPr lang="en-US" dirty="0"/>
              <a:t> In cloud computing, you often pay for CPU time. A more efficient algorithm can directly save a company thousands or millions of dollars in server costs.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4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</a:t>
            </a:r>
            <a:r>
              <a:rPr lang="en-US" b="1" i="1" dirty="0"/>
              <a:t>Not</a:t>
            </a:r>
            <a:r>
              <a:rPr lang="en-US" b="1" dirty="0"/>
              <a:t> to Measure Efficiency: The Stopwatch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A naive approach: "Let's just time the code!"</a:t>
            </a:r>
          </a:p>
          <a:p>
            <a:pPr lvl="1" fontAlgn="base"/>
            <a:r>
              <a:rPr lang="en-US" dirty="0" err="1"/>
              <a:t>start_time</a:t>
            </a:r>
            <a:r>
              <a:rPr lang="en-US" dirty="0"/>
              <a:t> = clock()</a:t>
            </a:r>
          </a:p>
          <a:p>
            <a:pPr lvl="1" fontAlgn="base"/>
            <a:r>
              <a:rPr lang="en-US" dirty="0" err="1"/>
              <a:t>run_my_function</a:t>
            </a:r>
            <a:r>
              <a:rPr lang="en-US" dirty="0"/>
              <a:t>()</a:t>
            </a:r>
          </a:p>
          <a:p>
            <a:pPr lvl="1" fontAlgn="base"/>
            <a:r>
              <a:rPr lang="en-US" dirty="0" err="1"/>
              <a:t>end_time</a:t>
            </a:r>
            <a:r>
              <a:rPr lang="en-US" dirty="0"/>
              <a:t> = clock()</a:t>
            </a:r>
          </a:p>
          <a:p>
            <a:pPr lvl="1" fontAlgn="base"/>
            <a:r>
              <a:rPr lang="en-US" dirty="0"/>
              <a:t>duration = </a:t>
            </a:r>
            <a:r>
              <a:rPr lang="en-US" dirty="0" err="1"/>
              <a:t>end_time</a:t>
            </a:r>
            <a:r>
              <a:rPr lang="en-US" dirty="0"/>
              <a:t> - </a:t>
            </a:r>
            <a:r>
              <a:rPr lang="en-US" dirty="0" err="1"/>
              <a:t>start_time</a:t>
            </a:r>
            <a:endParaRPr lang="en-US" dirty="0"/>
          </a:p>
          <a:p>
            <a:pPr lvl="0" fontAlgn="base"/>
            <a:r>
              <a:rPr lang="en-US" b="1" dirty="0"/>
              <a:t>Why is this a terrible idea?</a:t>
            </a:r>
            <a:r>
              <a:rPr lang="en-US" dirty="0"/>
              <a:t> </a:t>
            </a:r>
          </a:p>
          <a:p>
            <a:pPr lvl="1" fontAlgn="base"/>
            <a:r>
              <a:rPr lang="en-US" b="1" dirty="0"/>
              <a:t>Machine Dependent:</a:t>
            </a:r>
            <a:r>
              <a:rPr lang="en-US" dirty="0"/>
              <a:t> The code will run faster on a supercomputer than on your laptop.</a:t>
            </a:r>
          </a:p>
          <a:p>
            <a:pPr lvl="1" fontAlgn="base"/>
            <a:r>
              <a:rPr lang="en-US" b="1" dirty="0"/>
              <a:t>Language/Compiler Dependent:</a:t>
            </a:r>
            <a:r>
              <a:rPr lang="en-US" dirty="0"/>
              <a:t> The same algorithm written in C++ will likely run faster than in Python.</a:t>
            </a:r>
          </a:p>
          <a:p>
            <a:pPr lvl="1" fontAlgn="base"/>
            <a:r>
              <a:rPr lang="en-US" b="1" dirty="0"/>
              <a:t>Input Dependent:</a:t>
            </a:r>
            <a:r>
              <a:rPr lang="en-US" dirty="0"/>
              <a:t> Searching for the first item in a list is faster than searching for the last. Which input do you test?</a:t>
            </a:r>
          </a:p>
          <a:p>
            <a:pPr lvl="1"/>
            <a:r>
              <a:rPr lang="en-US" b="1" dirty="0"/>
              <a:t>It tells you the speed for </a:t>
            </a:r>
            <a:r>
              <a:rPr lang="en-US" b="1" i="1" dirty="0"/>
              <a:t>one specific run</a:t>
            </a:r>
            <a:r>
              <a:rPr lang="en-US" b="1" dirty="0"/>
              <a:t>, not the general behavior of the algorithm.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5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Better Way: Count the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Let's be scientific! We can analyze the algorithm itself, independent of hardware or language.</a:t>
            </a:r>
          </a:p>
          <a:p>
            <a:pPr lvl="0" fontAlgn="base"/>
            <a:r>
              <a:rPr lang="en-US" dirty="0"/>
              <a:t>The idea is to count the number of fundamental steps (operations) the algorithm performs.</a:t>
            </a:r>
          </a:p>
          <a:p>
            <a:pPr lvl="0" fontAlgn="base"/>
            <a:r>
              <a:rPr lang="en-US" b="1" dirty="0"/>
              <a:t>Operations:</a:t>
            </a:r>
            <a:endParaRPr lang="en-US" dirty="0"/>
          </a:p>
          <a:p>
            <a:pPr lvl="1" fontAlgn="base"/>
            <a:r>
              <a:rPr lang="en-US" dirty="0"/>
              <a:t>Assignments (x = 5)</a:t>
            </a:r>
          </a:p>
          <a:p>
            <a:pPr lvl="1" fontAlgn="base"/>
            <a:r>
              <a:rPr lang="en-US" dirty="0"/>
              <a:t>Comparisons (x &lt; y)</a:t>
            </a:r>
          </a:p>
          <a:p>
            <a:pPr lvl="1" fontAlgn="base"/>
            <a:r>
              <a:rPr lang="en-US" dirty="0"/>
              <a:t>Arithmetic operations (+, -, *, /)</a:t>
            </a:r>
          </a:p>
          <a:p>
            <a:pPr lvl="1" fontAlgn="base"/>
            <a:r>
              <a:rPr lang="en-US" dirty="0"/>
              <a:t>Accessing an array element 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r>
              <a:rPr lang="en-US" dirty="0"/>
              <a:t>Our goal is to express the number of operations as a </a:t>
            </a:r>
            <a:r>
              <a:rPr lang="en-US" b="1" dirty="0"/>
              <a:t>function of the input size, n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9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Finding the Maximum Value in an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fontAlgn="base"/>
            <a:r>
              <a:rPr lang="en-US" dirty="0"/>
              <a:t>Let's analyze this simple function. Let n be the size of the array data.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findMax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[] data)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max = data[0]; // 1 assignment</a:t>
            </a:r>
            <a:br>
              <a:rPr lang="en-US" dirty="0"/>
            </a:br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data.length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 // 1 assignment, n comparisons, n-1 increments</a:t>
            </a:r>
            <a:br>
              <a:rPr lang="en-US" dirty="0"/>
            </a:br>
            <a:r>
              <a:rPr lang="en-US" dirty="0"/>
              <a:t>        if (data[</a:t>
            </a:r>
            <a:r>
              <a:rPr lang="en-US" dirty="0" err="1"/>
              <a:t>i</a:t>
            </a:r>
            <a:r>
              <a:rPr lang="en-US" dirty="0"/>
              <a:t>] &gt; max) { // n-1 comparisons</a:t>
            </a:r>
            <a:br>
              <a:rPr lang="en-US" dirty="0"/>
            </a:br>
            <a:r>
              <a:rPr lang="en-US" dirty="0"/>
              <a:t>            max = data[</a:t>
            </a:r>
            <a:r>
              <a:rPr lang="en-US" dirty="0" err="1"/>
              <a:t>i</a:t>
            </a:r>
            <a:r>
              <a:rPr lang="en-US" dirty="0"/>
              <a:t>]; // ??? assignments</a:t>
            </a:r>
            <a:br>
              <a:rPr lang="en-US" dirty="0"/>
            </a:br>
            <a:r>
              <a:rPr lang="en-US" dirty="0"/>
              <a:t>        }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    return max; // 1 return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pPr lvl="0" fontAlgn="base"/>
            <a:r>
              <a:rPr lang="en-US" b="1" dirty="0"/>
              <a:t>Counting is complicated!</a:t>
            </a:r>
            <a:r>
              <a:rPr lang="en-US" dirty="0"/>
              <a:t> The number of assignments in the if block depends on the data.</a:t>
            </a:r>
          </a:p>
          <a:p>
            <a:pPr lvl="0" fontAlgn="base"/>
            <a:r>
              <a:rPr lang="en-US" dirty="0"/>
              <a:t>This is too detailed and messy. We need a way to see the "big picture."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4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Asymptotic Analysis &amp; Big O Notation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We don't care about the exact number of operations. We care about how the number of operations </a:t>
            </a:r>
            <a:r>
              <a:rPr lang="en-US" b="1" dirty="0"/>
              <a:t>grows</a:t>
            </a:r>
            <a:r>
              <a:rPr lang="en-US" dirty="0"/>
              <a:t> as the input size (n) gets very large.</a:t>
            </a:r>
          </a:p>
          <a:p>
            <a:pPr lvl="0" fontAlgn="base"/>
            <a:r>
              <a:rPr lang="en-US" b="1" dirty="0"/>
              <a:t>Analogy: Planning a Cross-Country Road Trip</a:t>
            </a:r>
            <a:r>
              <a:rPr lang="en-US" dirty="0"/>
              <a:t> 🚗</a:t>
            </a:r>
          </a:p>
          <a:p>
            <a:pPr lvl="1" fontAlgn="base"/>
            <a:r>
              <a:rPr lang="en-US" b="1" dirty="0"/>
              <a:t>Total Cost = (Cost of Gas * Kilometers) + Cost of Snacks</a:t>
            </a:r>
            <a:endParaRPr lang="en-US" dirty="0"/>
          </a:p>
          <a:p>
            <a:pPr lvl="1" fontAlgn="base"/>
            <a:r>
              <a:rPr lang="en-US" dirty="0"/>
              <a:t>For a short trip to the next town, the cost of snacks might be a big part of the total.</a:t>
            </a:r>
          </a:p>
          <a:p>
            <a:pPr lvl="1" fontAlgn="base"/>
            <a:r>
              <a:rPr lang="en-US" dirty="0"/>
              <a:t>For a 5,000 km trip, the cost of snacks is insignificant. The cost is dominated by the per-kilometer gas price.</a:t>
            </a:r>
          </a:p>
          <a:p>
            <a:r>
              <a:rPr lang="en-US" dirty="0"/>
              <a:t>In algorithm analysis, n is the distance. We want to find the term that dominates the cost when n is huge.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89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Introducing Big O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Big O notation</a:t>
            </a:r>
            <a:r>
              <a:rPr lang="en-US" dirty="0"/>
              <a:t> is the language we use to describe the </a:t>
            </a:r>
            <a:r>
              <a:rPr lang="en-US" b="1" dirty="0"/>
              <a:t>long-term growth rate</a:t>
            </a:r>
            <a:r>
              <a:rPr lang="en-US" dirty="0"/>
              <a:t> of an algorithm.</a:t>
            </a:r>
          </a:p>
          <a:p>
            <a:pPr lvl="0" fontAlgn="base"/>
            <a:r>
              <a:rPr lang="en-US" dirty="0"/>
              <a:t>It describes the </a:t>
            </a:r>
            <a:r>
              <a:rPr lang="en-US" b="1" dirty="0"/>
              <a:t>worst-case scenario</a:t>
            </a:r>
            <a:r>
              <a:rPr lang="en-US" dirty="0"/>
              <a:t>.</a:t>
            </a:r>
          </a:p>
          <a:p>
            <a:pPr lvl="0" fontAlgn="base"/>
            <a:r>
              <a:rPr lang="en-US" dirty="0"/>
              <a:t>Formally, if we say a function is O(f(n)), it means its growth rate is </a:t>
            </a:r>
            <a:r>
              <a:rPr lang="en-US" b="1" dirty="0"/>
              <a:t>less than or equal to</a:t>
            </a:r>
            <a:r>
              <a:rPr lang="en-US" dirty="0"/>
              <a:t> the growth rate of f(n).</a:t>
            </a:r>
          </a:p>
          <a:p>
            <a:pPr lvl="0" fontAlgn="base"/>
            <a:r>
              <a:rPr lang="en-US" dirty="0"/>
              <a:t>Think of it as an </a:t>
            </a:r>
            <a:r>
              <a:rPr lang="en-US" b="1" dirty="0"/>
              <a:t>upper bound</a:t>
            </a:r>
            <a:r>
              <a:rPr lang="en-US" dirty="0"/>
              <a:t>, or a guarantee: "My algorithm will never be slower than this growth rate."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04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Rules of the Game: Simplifying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To find the Big O complexity, we simplify our operation-counting function using two key rules.</a:t>
            </a:r>
            <a:br>
              <a:rPr lang="en-US" dirty="0"/>
            </a:br>
            <a:r>
              <a:rPr lang="en-US" b="1" dirty="0"/>
              <a:t>Rule 1: Keep the Fastest-Growing Term.</a:t>
            </a:r>
            <a:endParaRPr lang="en-US" dirty="0"/>
          </a:p>
          <a:p>
            <a:pPr lvl="1" fontAlgn="base"/>
            <a:r>
              <a:rPr lang="en-US" dirty="0"/>
              <a:t>As n gets large, the term with the highest exponent dominates.</a:t>
            </a:r>
          </a:p>
          <a:p>
            <a:pPr lvl="1" fontAlgn="base"/>
            <a:r>
              <a:rPr lang="en-US" dirty="0"/>
              <a:t>f(n)=n2+5n+100</a:t>
            </a:r>
          </a:p>
          <a:p>
            <a:pPr lvl="1" fontAlgn="base"/>
            <a:r>
              <a:rPr lang="en-US" dirty="0"/>
              <a:t>When n=1,000, n2=1,000,000, while 5n=5,000. The n2 term is what matters.</a:t>
            </a:r>
          </a:p>
          <a:p>
            <a:pPr lvl="1" fontAlgn="base"/>
            <a:r>
              <a:rPr lang="en-US" dirty="0"/>
              <a:t>So, this function has a growth rate of n2.</a:t>
            </a:r>
          </a:p>
          <a:p>
            <a:r>
              <a:rPr lang="en-US" b="1" dirty="0"/>
              <a:t>Rule 2: Drop the Constants.</a:t>
            </a:r>
            <a:endParaRPr lang="en-US" dirty="0"/>
          </a:p>
          <a:p>
            <a:pPr lvl="1" fontAlgn="base"/>
            <a:r>
              <a:rPr lang="en-US" dirty="0"/>
              <a:t>We don't care if an algorithm takes 2n steps or 100n steps. The growth rate is still </a:t>
            </a:r>
            <a:r>
              <a:rPr lang="en-US" b="1" dirty="0"/>
              <a:t>linear</a:t>
            </a:r>
            <a:r>
              <a:rPr lang="en-US" dirty="0"/>
              <a:t>. It scales in direct proportion to n.</a:t>
            </a:r>
          </a:p>
          <a:p>
            <a:pPr lvl="1" fontAlgn="base"/>
            <a:r>
              <a:rPr lang="en-US" dirty="0"/>
              <a:t>f(n)=2n2 becomes n2.</a:t>
            </a:r>
          </a:p>
          <a:p>
            <a:pPr lvl="1"/>
            <a:r>
              <a:rPr lang="en-US" dirty="0"/>
              <a:t>f(n)=50n becomes 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66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Applying the Rules: An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Let's say our detailed analysis of an algorithm gives us this cost function:</a:t>
            </a:r>
            <a:br>
              <a:rPr lang="en-US" dirty="0"/>
            </a:br>
            <a:r>
              <a:rPr lang="en-US" dirty="0"/>
              <a:t>T(n)=4n2+100n+500</a:t>
            </a:r>
          </a:p>
          <a:p>
            <a:pPr lvl="0" fontAlgn="base"/>
            <a:r>
              <a:rPr lang="en-US" b="1" dirty="0"/>
              <a:t>Step 1: Find the fastest-growing term.</a:t>
            </a:r>
            <a:endParaRPr lang="en-US" dirty="0"/>
          </a:p>
          <a:p>
            <a:pPr lvl="1" fontAlgn="base"/>
            <a:r>
              <a:rPr lang="en-US" dirty="0"/>
              <a:t>The terms are 4n2, 100n, and 500.</a:t>
            </a:r>
          </a:p>
          <a:p>
            <a:pPr lvl="1" fontAlgn="base"/>
            <a:r>
              <a:rPr lang="en-US" dirty="0"/>
              <a:t>n2 grows much faster than n. So, we keep 4n2.</a:t>
            </a:r>
          </a:p>
          <a:p>
            <a:pPr lvl="0" fontAlgn="base"/>
            <a:r>
              <a:rPr lang="en-US" b="1" dirty="0"/>
              <a:t>Step 2: Drop the constant.</a:t>
            </a:r>
            <a:endParaRPr lang="en-US" dirty="0"/>
          </a:p>
          <a:p>
            <a:pPr lvl="1" fontAlgn="base"/>
            <a:r>
              <a:rPr lang="en-US" dirty="0"/>
              <a:t>The constant is 4. We drop it.</a:t>
            </a:r>
          </a:p>
          <a:p>
            <a:pPr lvl="0" fontAlgn="base"/>
            <a:r>
              <a:rPr lang="en-US" b="1" dirty="0"/>
              <a:t>Result:</a:t>
            </a:r>
            <a:r>
              <a:rPr lang="en-US" dirty="0"/>
              <a:t> The Big O complexity is O(n2).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45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Visualizing Growth Rates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A picture is worth a thousand words. This graph shows how quickly the number of operations grows for different complexity classes.</a:t>
            </a:r>
          </a:p>
          <a:p>
            <a:pPr lvl="0" fontAlgn="base"/>
            <a:r>
              <a:rPr lang="en-US" dirty="0"/>
              <a:t>Notice how dramatically O(n2) and O(2n) curve upwards. This is why we care!</a:t>
            </a:r>
          </a:p>
          <a:p>
            <a:pPr lvl="0" fontAlgn="base"/>
            <a:r>
              <a:rPr lang="en-US" b="1" dirty="0"/>
              <a:t>X-axis:</a:t>
            </a:r>
            <a:r>
              <a:rPr lang="en-US" dirty="0"/>
              <a:t> Input Size (n)</a:t>
            </a:r>
          </a:p>
          <a:p>
            <a:pPr lvl="0" fontAlgn="base"/>
            <a:r>
              <a:rPr lang="en-US" b="1" dirty="0"/>
              <a:t>Y-axis:</a:t>
            </a:r>
            <a:r>
              <a:rPr lang="en-US" dirty="0"/>
              <a:t> Number of Operations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31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Let's Practice!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What is the Big O of the following cost functions?</a:t>
            </a:r>
          </a:p>
          <a:p>
            <a:pPr lvl="1" fontAlgn="base"/>
            <a:r>
              <a:rPr lang="en-US" dirty="0"/>
              <a:t>T(n)=n+20</a:t>
            </a:r>
          </a:p>
          <a:p>
            <a:pPr lvl="2" fontAlgn="base"/>
            <a:r>
              <a:rPr lang="en-US" b="1" dirty="0"/>
              <a:t>Answer:</a:t>
            </a:r>
            <a:r>
              <a:rPr lang="en-US" dirty="0"/>
              <a:t> O(n)</a:t>
            </a:r>
          </a:p>
          <a:p>
            <a:pPr lvl="1" fontAlgn="base"/>
            <a:r>
              <a:rPr lang="en-US" dirty="0"/>
              <a:t>T(n)=150n+n2+5000</a:t>
            </a:r>
          </a:p>
          <a:p>
            <a:pPr lvl="2" fontAlgn="base"/>
            <a:r>
              <a:rPr lang="en-US" b="1" dirty="0"/>
              <a:t>Answer:</a:t>
            </a:r>
            <a:r>
              <a:rPr lang="en-US" dirty="0"/>
              <a:t> O(n2)</a:t>
            </a:r>
          </a:p>
          <a:p>
            <a:pPr lvl="1" fontAlgn="base"/>
            <a:r>
              <a:rPr lang="en-US" dirty="0"/>
              <a:t>T(n)=5logn+10n</a:t>
            </a:r>
          </a:p>
          <a:p>
            <a:pPr lvl="2" fontAlgn="base"/>
            <a:r>
              <a:rPr lang="en-US" b="1" dirty="0"/>
              <a:t>Answer:</a:t>
            </a:r>
            <a:r>
              <a:rPr lang="en-US" dirty="0"/>
              <a:t> O(n) (because n grows faster than log n)</a:t>
            </a:r>
          </a:p>
          <a:p>
            <a:pPr lvl="1" fontAlgn="base"/>
            <a:r>
              <a:rPr lang="en-US" dirty="0"/>
              <a:t>T(n)=2n+n3</a:t>
            </a:r>
          </a:p>
          <a:p>
            <a:pPr lvl="2" fontAlgn="base"/>
            <a:r>
              <a:rPr lang="en-US" b="1" dirty="0"/>
              <a:t>Answer:</a:t>
            </a:r>
            <a:r>
              <a:rPr lang="en-US" dirty="0"/>
              <a:t> O(2n) (exponential growth is the ultimate dominator)</a:t>
            </a:r>
          </a:p>
          <a:p>
            <a:pPr lvl="1" fontAlgn="base"/>
            <a:r>
              <a:rPr lang="en-US" dirty="0"/>
              <a:t>T(n)=500</a:t>
            </a:r>
          </a:p>
          <a:p>
            <a:pPr lvl="2"/>
            <a:r>
              <a:rPr lang="en-US" b="1" dirty="0"/>
              <a:t>Answer:</a:t>
            </a:r>
            <a:r>
              <a:rPr lang="en-US" dirty="0"/>
              <a:t> O(1)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0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083" y="1746126"/>
            <a:ext cx="10058400" cy="1450757"/>
          </a:xfrm>
        </p:spPr>
        <p:txBody>
          <a:bodyPr/>
          <a:lstStyle/>
          <a:p>
            <a:r>
              <a:rPr lang="en-US" b="1" dirty="0"/>
              <a:t>The Rogues' Gallery of Common Complexities 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81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O(1) - Constant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● </a:t>
            </a:r>
            <a:r>
              <a:rPr lang="en-US" b="1" dirty="0"/>
              <a:t>Meaning: </a:t>
            </a:r>
            <a:r>
              <a:rPr lang="en-US" dirty="0"/>
              <a:t>The algorithm takes the same amount of time regardless of the input size n.</a:t>
            </a:r>
          </a:p>
          <a:p>
            <a:pPr marL="0" indent="0">
              <a:buNone/>
            </a:pPr>
            <a:r>
              <a:rPr lang="en-US" dirty="0"/>
              <a:t>● It doesn't mean it's just one operation, it means the number of operations doesn't depend on </a:t>
            </a:r>
            <a:r>
              <a:rPr lang="en-US" b="1" dirty="0"/>
              <a:t>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● </a:t>
            </a:r>
            <a:r>
              <a:rPr lang="en-US" b="1" dirty="0"/>
              <a:t>Examples:</a:t>
            </a:r>
          </a:p>
          <a:p>
            <a:pPr lvl="1"/>
            <a:r>
              <a:rPr lang="en-US" dirty="0"/>
              <a:t>Accessing an element in an array by its index: </a:t>
            </a:r>
            <a:r>
              <a:rPr lang="en-US" dirty="0" err="1"/>
              <a:t>myArray</a:t>
            </a:r>
            <a:r>
              <a:rPr lang="en-US" dirty="0"/>
              <a:t>[5].</a:t>
            </a:r>
          </a:p>
          <a:p>
            <a:pPr lvl="1"/>
            <a:r>
              <a:rPr lang="en-US" dirty="0"/>
              <a:t>Pushing or popping from an array-based Stack.</a:t>
            </a:r>
          </a:p>
          <a:p>
            <a:pPr lvl="1"/>
            <a:r>
              <a:rPr lang="en-US" dirty="0"/>
              <a:t>Looking up a value in a Hash Table (on average).</a:t>
            </a:r>
          </a:p>
          <a:p>
            <a:r>
              <a:rPr lang="en-US" dirty="0"/>
              <a:t>void </a:t>
            </a:r>
            <a:r>
              <a:rPr lang="en-US" dirty="0" err="1"/>
              <a:t>printFirstElement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[] </a:t>
            </a:r>
            <a:r>
              <a:rPr lang="en-US" dirty="0" err="1"/>
              <a:t>arr</a:t>
            </a:r>
            <a:r>
              <a:rPr lang="en-US" dirty="0"/>
              <a:t>) {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[0]); // Always 1 operation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4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O(n) - Linear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fontAlgn="base"/>
            <a:r>
              <a:rPr lang="en-US" b="1" dirty="0"/>
              <a:t>The Workhorse.</a:t>
            </a:r>
            <a:r>
              <a:rPr lang="en-US" dirty="0"/>
              <a:t> Dependable and predictable.</a:t>
            </a:r>
          </a:p>
          <a:p>
            <a:pPr lvl="0" fontAlgn="base"/>
            <a:r>
              <a:rPr lang="en-US" b="1" dirty="0"/>
              <a:t>Meaning:</a:t>
            </a:r>
            <a:r>
              <a:rPr lang="en-US" dirty="0"/>
              <a:t> The runtime grows in direct proportion to the input size n. If you double n, you roughly double the time.</a:t>
            </a:r>
          </a:p>
          <a:p>
            <a:pPr lvl="0" fontAlgn="base"/>
            <a:r>
              <a:rPr lang="en-US" b="1" dirty="0"/>
              <a:t>Examples:</a:t>
            </a:r>
            <a:endParaRPr lang="en-US" dirty="0"/>
          </a:p>
          <a:p>
            <a:pPr lvl="1" fontAlgn="base"/>
            <a:r>
              <a:rPr lang="en-US" dirty="0"/>
              <a:t>Iterating through all elements in a list.</a:t>
            </a:r>
          </a:p>
          <a:p>
            <a:pPr lvl="1" fontAlgn="base"/>
            <a:r>
              <a:rPr lang="en-US" dirty="0"/>
              <a:t>Finding an item in an </a:t>
            </a:r>
            <a:r>
              <a:rPr lang="en-US" i="1" dirty="0"/>
              <a:t>unsorted</a:t>
            </a:r>
            <a:r>
              <a:rPr lang="en-US" dirty="0"/>
              <a:t> array.</a:t>
            </a:r>
          </a:p>
          <a:p>
            <a:pPr lvl="1" fontAlgn="base"/>
            <a:r>
              <a:rPr lang="en-US" dirty="0"/>
              <a:t>Finding the maximum or minimum value.</a:t>
            </a:r>
          </a:p>
          <a:p>
            <a:r>
              <a:rPr lang="en-US" sz="1600" dirty="0"/>
              <a:t>void</a:t>
            </a:r>
            <a:r>
              <a:rPr lang="en-US" dirty="0"/>
              <a:t> </a:t>
            </a:r>
            <a:r>
              <a:rPr lang="en-US" sz="1600" dirty="0" err="1"/>
              <a:t>printAllElements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[] </a:t>
            </a:r>
            <a:r>
              <a:rPr lang="en-US" sz="1600" dirty="0" err="1"/>
              <a:t>arr</a:t>
            </a:r>
            <a:r>
              <a:rPr lang="en-US" sz="1600" dirty="0"/>
              <a:t>)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</a:t>
            </a:r>
            <a:r>
              <a:rPr lang="en-US" sz="1600" dirty="0"/>
              <a:t>for</a:t>
            </a:r>
            <a:r>
              <a:rPr lang="en-US" dirty="0"/>
              <a:t> (</a:t>
            </a:r>
            <a:r>
              <a:rPr lang="en-US" sz="1600" dirty="0" err="1"/>
              <a:t>int</a:t>
            </a:r>
            <a:r>
              <a:rPr lang="en-US" dirty="0"/>
              <a:t> item : </a:t>
            </a:r>
            <a:r>
              <a:rPr lang="en-US" dirty="0" err="1"/>
              <a:t>arr</a:t>
            </a:r>
            <a:r>
              <a:rPr lang="en-US" dirty="0"/>
              <a:t>) { </a:t>
            </a:r>
            <a:r>
              <a:rPr lang="en-US" sz="1600" dirty="0"/>
              <a:t>// This loop runs n times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(item);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4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O(n²) - Quadratic Time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 fontAlgn="base"/>
                <a:r>
                  <a:rPr lang="en-US" b="1" dirty="0"/>
                  <a:t>The Performance Bottleneck.</a:t>
                </a:r>
                <a:r>
                  <a:rPr lang="en-US" dirty="0"/>
                  <a:t> Gets slow, fast.</a:t>
                </a:r>
              </a:p>
              <a:p>
                <a:pPr lvl="0" fontAlgn="base"/>
                <a:r>
                  <a:rPr lang="en-US" b="1" dirty="0"/>
                  <a:t>Meaning:</a:t>
                </a:r>
                <a:r>
                  <a:rPr lang="en-US" dirty="0"/>
                  <a:t> The runtime is proportional to the square of the input size. If you double n, the time roughly quadruples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=4).</a:t>
                </a:r>
              </a:p>
              <a:p>
                <a:pPr lvl="0" fontAlgn="base"/>
                <a:r>
                  <a:rPr lang="en-US" b="1" dirty="0"/>
                  <a:t>Hallmark Sign:</a:t>
                </a:r>
                <a:r>
                  <a:rPr lang="en-US" dirty="0"/>
                  <a:t> A nested loop where both loops iterate up to n.</a:t>
                </a:r>
              </a:p>
              <a:p>
                <a:pPr lvl="0" fontAlgn="base"/>
                <a:r>
                  <a:rPr lang="en-US" b="1" dirty="0"/>
                  <a:t>Examples:</a:t>
                </a:r>
                <a:endParaRPr lang="en-US" dirty="0"/>
              </a:p>
              <a:p>
                <a:pPr lvl="1" fontAlgn="base"/>
                <a:r>
                  <a:rPr lang="en-US" dirty="0"/>
                  <a:t>Comparing every element in a list to every other element.</a:t>
                </a:r>
              </a:p>
              <a:p>
                <a:pPr lvl="1" fontAlgn="base"/>
                <a:r>
                  <a:rPr lang="en-US" dirty="0"/>
                  <a:t>Simple sorting algorithms like Bubble Sort, Selection Sort, Insertion Sort</a:t>
                </a:r>
              </a:p>
              <a:p>
                <a:r>
                  <a:rPr lang="en-US" sz="1600" dirty="0"/>
                  <a:t>void</a:t>
                </a:r>
                <a:r>
                  <a:rPr lang="en-US" dirty="0"/>
                  <a:t> </a:t>
                </a:r>
                <a:r>
                  <a:rPr lang="en-US" sz="1600" dirty="0" err="1"/>
                  <a:t>printAllPairs</a:t>
                </a:r>
                <a:r>
                  <a:rPr lang="en-US" sz="1600" dirty="0"/>
                  <a:t>(</a:t>
                </a:r>
                <a:r>
                  <a:rPr lang="en-US" sz="1600" dirty="0" err="1"/>
                  <a:t>int</a:t>
                </a:r>
                <a:r>
                  <a:rPr lang="en-US" sz="1600" dirty="0"/>
                  <a:t>[] </a:t>
                </a:r>
                <a:r>
                  <a:rPr lang="en-US" sz="1600" dirty="0" err="1"/>
                  <a:t>arr</a:t>
                </a:r>
                <a:r>
                  <a:rPr lang="en-US" sz="1600" dirty="0"/>
                  <a:t>)</a:t>
                </a:r>
                <a:r>
                  <a:rPr lang="en-US" dirty="0"/>
                  <a:t> {</a:t>
                </a:r>
                <a:br>
                  <a:rPr lang="en-US" dirty="0"/>
                </a:br>
                <a:r>
                  <a:rPr lang="en-US" dirty="0"/>
                  <a:t>    </a:t>
                </a:r>
                <a:r>
                  <a:rPr lang="en-US" sz="1600" dirty="0"/>
                  <a:t>for</a:t>
                </a:r>
                <a:r>
                  <a:rPr lang="en-US" dirty="0"/>
                  <a:t> (</a:t>
                </a:r>
                <a:r>
                  <a:rPr lang="en-US" sz="1600" dirty="0" err="1"/>
                  <a:t>int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 = </a:t>
                </a:r>
                <a:r>
                  <a:rPr lang="en-US" sz="1600" dirty="0"/>
                  <a:t>0</a:t>
                </a:r>
                <a:r>
                  <a:rPr lang="en-US" dirty="0"/>
                  <a:t>; </a:t>
                </a:r>
                <a:r>
                  <a:rPr lang="en-US" dirty="0" err="1"/>
                  <a:t>i</a:t>
                </a:r>
                <a:r>
                  <a:rPr lang="en-US" dirty="0"/>
                  <a:t> &lt; </a:t>
                </a:r>
                <a:r>
                  <a:rPr lang="en-US" dirty="0" err="1"/>
                  <a:t>arr.length</a:t>
                </a:r>
                <a:r>
                  <a:rPr lang="en-US" dirty="0"/>
                  <a:t>; </a:t>
                </a:r>
                <a:r>
                  <a:rPr lang="en-US" dirty="0" err="1"/>
                  <a:t>i</a:t>
                </a:r>
                <a:r>
                  <a:rPr lang="en-US" dirty="0"/>
                  <a:t>++) { </a:t>
                </a:r>
                <a:r>
                  <a:rPr lang="en-US" sz="1600" dirty="0"/>
                  <a:t>// Outer loop runs n times</a:t>
                </a:r>
                <a:br>
                  <a:rPr lang="en-US" dirty="0"/>
                </a:br>
                <a:r>
                  <a:rPr lang="en-US" dirty="0"/>
                  <a:t>        </a:t>
                </a:r>
                <a:r>
                  <a:rPr lang="en-US" sz="1600" dirty="0"/>
                  <a:t>for</a:t>
                </a:r>
                <a:r>
                  <a:rPr lang="en-US" dirty="0"/>
                  <a:t> (</a:t>
                </a:r>
                <a:r>
                  <a:rPr lang="en-US" sz="1600" dirty="0" err="1"/>
                  <a:t>int</a:t>
                </a:r>
                <a:r>
                  <a:rPr lang="en-US" dirty="0"/>
                  <a:t> j = </a:t>
                </a:r>
                <a:r>
                  <a:rPr lang="en-US" sz="1600" dirty="0"/>
                  <a:t>0</a:t>
                </a:r>
                <a:r>
                  <a:rPr lang="en-US" dirty="0"/>
                  <a:t>; j &lt; </a:t>
                </a:r>
                <a:r>
                  <a:rPr lang="en-US" dirty="0" err="1"/>
                  <a:t>arr.length</a:t>
                </a:r>
                <a:r>
                  <a:rPr lang="en-US" dirty="0"/>
                  <a:t>; </a:t>
                </a:r>
                <a:r>
                  <a:rPr lang="en-US" dirty="0" err="1"/>
                  <a:t>j++</a:t>
                </a:r>
                <a:r>
                  <a:rPr lang="en-US" dirty="0"/>
                  <a:t>) { </a:t>
                </a:r>
                <a:r>
                  <a:rPr lang="en-US" sz="1600" dirty="0"/>
                  <a:t>// Inner loop runs n times</a:t>
                </a:r>
                <a:br>
                  <a:rPr lang="en-US" dirty="0"/>
                </a:br>
                <a:r>
                  <a:rPr lang="en-US" dirty="0"/>
                  <a:t>            </a:t>
                </a:r>
                <a:r>
                  <a:rPr lang="en-US" dirty="0" err="1"/>
                  <a:t>System.out.println</a:t>
                </a:r>
                <a:r>
                  <a:rPr lang="en-US" dirty="0"/>
                  <a:t>(</a:t>
                </a:r>
                <a:r>
                  <a:rPr lang="en-US" dirty="0" err="1"/>
                  <a:t>arr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 + </a:t>
                </a:r>
                <a:r>
                  <a:rPr lang="en-US" sz="1600" dirty="0"/>
                  <a:t>", "</a:t>
                </a:r>
                <a:r>
                  <a:rPr lang="en-US" dirty="0"/>
                  <a:t> + </a:t>
                </a:r>
                <a:r>
                  <a:rPr lang="en-US" dirty="0" err="1"/>
                  <a:t>arr</a:t>
                </a:r>
                <a:r>
                  <a:rPr lang="en-US" dirty="0"/>
                  <a:t>[j]); </a:t>
                </a:r>
                <a:r>
                  <a:rPr lang="en-US" sz="1600" dirty="0"/>
                  <a:t>// This line runs n * n = n^2 times</a:t>
                </a:r>
                <a:br>
                  <a:rPr lang="en-US" dirty="0"/>
                </a:br>
                <a:r>
                  <a:rPr lang="en-US" dirty="0"/>
                  <a:t>        }</a:t>
                </a:r>
                <a:br>
                  <a:rPr lang="en-US" dirty="0"/>
                </a:br>
                <a:r>
                  <a:rPr lang="en-US" dirty="0"/>
                  <a:t>    }</a:t>
                </a:r>
                <a:br>
                  <a:rPr lang="en-US" dirty="0"/>
                </a:b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5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43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(log n) - Logarithmic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b="1" dirty="0"/>
              <a:t>The Superstar.</a:t>
            </a:r>
            <a:r>
              <a:rPr lang="en-US" dirty="0"/>
              <a:t> Incredibly efficient and scalable. </a:t>
            </a:r>
          </a:p>
          <a:p>
            <a:pPr lvl="0" fontAlgn="base"/>
            <a:r>
              <a:rPr lang="en-US" b="1" dirty="0"/>
              <a:t>Meaning:</a:t>
            </a:r>
            <a:r>
              <a:rPr lang="en-US" dirty="0"/>
              <a:t> The runtime grows very slowly. Every time you </a:t>
            </a:r>
            <a:r>
              <a:rPr lang="en-US" b="1" dirty="0"/>
              <a:t>double</a:t>
            </a:r>
            <a:r>
              <a:rPr lang="en-US" dirty="0"/>
              <a:t> the input size n, the work only increases by one extra step.</a:t>
            </a:r>
          </a:p>
          <a:p>
            <a:pPr lvl="0" fontAlgn="base"/>
            <a:r>
              <a:rPr lang="en-US" b="1" dirty="0"/>
              <a:t>Hallmark Sign:</a:t>
            </a:r>
            <a:r>
              <a:rPr lang="en-US" dirty="0"/>
              <a:t> The algorithm repeatedly cuts the size of the problem in half.</a:t>
            </a:r>
          </a:p>
          <a:p>
            <a:pPr lvl="0" fontAlgn="base"/>
            <a:r>
              <a:rPr lang="en-US" b="1" dirty="0"/>
              <a:t>Analogy: Guess the Number Game (1-100)</a:t>
            </a:r>
            <a:endParaRPr lang="en-US" dirty="0"/>
          </a:p>
          <a:p>
            <a:pPr lvl="1" fontAlgn="base"/>
            <a:r>
              <a:rPr lang="en-US" dirty="0"/>
              <a:t>You don't guess 1, 2, 3... (That's O(n)).</a:t>
            </a:r>
          </a:p>
          <a:p>
            <a:pPr lvl="1" fontAlgn="base"/>
            <a:r>
              <a:rPr lang="en-US" dirty="0"/>
              <a:t>You guess 50. "Too high." Now you only search 1-49.</a:t>
            </a:r>
          </a:p>
          <a:p>
            <a:pPr lvl="1" fontAlgn="base"/>
            <a:r>
              <a:rPr lang="en-US" dirty="0"/>
              <a:t>You guess 25. "Too low." Now you only search 26-49.</a:t>
            </a:r>
          </a:p>
          <a:p>
            <a:pPr lvl="1" fontAlgn="base"/>
            <a:r>
              <a:rPr lang="en-US" dirty="0"/>
              <a:t>You are halving the search space with each guess.</a:t>
            </a:r>
          </a:p>
          <a:p>
            <a:r>
              <a:rPr lang="en-US" b="1" dirty="0"/>
              <a:t>Prime Example: Binary Search</a:t>
            </a:r>
            <a:r>
              <a:rPr lang="en-US" dirty="0"/>
              <a:t> in a sorted array.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85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O(n log n) - Log-Linear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Slide 18: O(n log n) - Log-Linear Time</a:t>
            </a:r>
            <a:endParaRPr lang="en-US" dirty="0"/>
          </a:p>
          <a:p>
            <a:pPr lvl="0" fontAlgn="base"/>
            <a:r>
              <a:rPr lang="en-US" b="1" dirty="0"/>
              <a:t>The Sorting Champion.</a:t>
            </a:r>
            <a:r>
              <a:rPr lang="en-US" dirty="0"/>
              <a:t> A very common and efficient complexity for complex problems.</a:t>
            </a:r>
          </a:p>
          <a:p>
            <a:pPr lvl="0" fontAlgn="base"/>
            <a:r>
              <a:rPr lang="en-US" b="1" dirty="0"/>
              <a:t>Meaning:</a:t>
            </a:r>
            <a:r>
              <a:rPr lang="en-US" dirty="0"/>
              <a:t> A combination of linear and logarithmic behavior. For each of the n items, you are doing roughly log n work.</a:t>
            </a:r>
          </a:p>
          <a:p>
            <a:pPr lvl="0" fontAlgn="base"/>
            <a:r>
              <a:rPr lang="en-US" b="1" dirty="0"/>
              <a:t>Hallmark Sign:</a:t>
            </a:r>
            <a:r>
              <a:rPr lang="en-US" dirty="0"/>
              <a:t> An algorithm that divides a problem into smaller pieces, solves them independently, and then combines the results. (Divide and Conquer).</a:t>
            </a:r>
          </a:p>
          <a:p>
            <a:pPr lvl="0" fontAlgn="base"/>
            <a:r>
              <a:rPr lang="en-US" b="1" dirty="0"/>
              <a:t>Examples:</a:t>
            </a:r>
            <a:endParaRPr lang="en-US" dirty="0"/>
          </a:p>
          <a:p>
            <a:pPr lvl="1" fontAlgn="base"/>
            <a:r>
              <a:rPr lang="en-US" dirty="0"/>
              <a:t>Efficient sorting algorithms: </a:t>
            </a:r>
            <a:r>
              <a:rPr lang="en-US" b="1" dirty="0"/>
              <a:t>Merge Sort</a:t>
            </a:r>
            <a:r>
              <a:rPr lang="en-US" dirty="0"/>
              <a:t>, </a:t>
            </a:r>
            <a:r>
              <a:rPr lang="en-US" b="1" dirty="0"/>
              <a:t>Quick Sort</a:t>
            </a:r>
            <a:r>
              <a:rPr lang="en-US" dirty="0"/>
              <a:t> (average case).</a:t>
            </a:r>
          </a:p>
          <a:p>
            <a:pPr lvl="1"/>
            <a:r>
              <a:rPr lang="en-US" dirty="0"/>
              <a:t>Many algorithms in computational geometry.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46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O(2ⁿ) - Exponential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The Villain.</a:t>
            </a:r>
            <a:r>
              <a:rPr lang="en-US" dirty="0"/>
              <a:t> Avoid at all costs if n can be large.</a:t>
            </a:r>
          </a:p>
          <a:p>
            <a:pPr lvl="0" fontAlgn="base"/>
            <a:r>
              <a:rPr lang="en-US" b="1" dirty="0"/>
              <a:t>Meaning:</a:t>
            </a:r>
            <a:r>
              <a:rPr lang="en-US" dirty="0"/>
              <a:t> The runtime doubles with every single addition to the input size.</a:t>
            </a:r>
          </a:p>
          <a:p>
            <a:pPr lvl="0" fontAlgn="base"/>
            <a:r>
              <a:rPr lang="en-US" dirty="0"/>
              <a:t>Becomes computationally infeasible extremely quickly.</a:t>
            </a:r>
          </a:p>
          <a:p>
            <a:pPr lvl="1" fontAlgn="base"/>
            <a:r>
              <a:rPr lang="en-US" dirty="0"/>
              <a:t>For n=10, 210≈1,000</a:t>
            </a:r>
          </a:p>
          <a:p>
            <a:pPr lvl="1" fontAlgn="base"/>
            <a:r>
              <a:rPr lang="en-US" dirty="0"/>
              <a:t>For n=20, 220≈1,000,000</a:t>
            </a:r>
          </a:p>
          <a:p>
            <a:pPr lvl="1" fontAlgn="base"/>
            <a:r>
              <a:rPr lang="en-US" dirty="0"/>
              <a:t>For n=40, 240≈1,000,000,000,000 (a trillion!)</a:t>
            </a:r>
          </a:p>
          <a:p>
            <a:pPr lvl="0" fontAlgn="base"/>
            <a:r>
              <a:rPr lang="en-US" b="1" dirty="0"/>
              <a:t>Example:</a:t>
            </a:r>
            <a:endParaRPr lang="en-US" dirty="0"/>
          </a:p>
          <a:p>
            <a:pPr lvl="1" fontAlgn="base"/>
            <a:r>
              <a:rPr lang="en-US" dirty="0"/>
              <a:t>The naive recursive solution for Fibonacci numbers.</a:t>
            </a:r>
          </a:p>
          <a:p>
            <a:r>
              <a:rPr lang="en-US" dirty="0"/>
              <a:t>Trying every possible subset of a set of items (The Power Set).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2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Complexity Class Cheat Sheet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766148"/>
              </p:ext>
            </p:extLst>
          </p:nvPr>
        </p:nvGraphicFramePr>
        <p:xfrm>
          <a:off x="1097279" y="1899136"/>
          <a:ext cx="8803180" cy="4415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795">
                  <a:extLst>
                    <a:ext uri="{9D8B030D-6E8A-4147-A177-3AD203B41FA5}">
                      <a16:colId xmlns:a16="http://schemas.microsoft.com/office/drawing/2014/main" val="3512800103"/>
                    </a:ext>
                  </a:extLst>
                </a:gridCol>
                <a:gridCol w="2200795">
                  <a:extLst>
                    <a:ext uri="{9D8B030D-6E8A-4147-A177-3AD203B41FA5}">
                      <a16:colId xmlns:a16="http://schemas.microsoft.com/office/drawing/2014/main" val="2613870550"/>
                    </a:ext>
                  </a:extLst>
                </a:gridCol>
                <a:gridCol w="2200795">
                  <a:extLst>
                    <a:ext uri="{9D8B030D-6E8A-4147-A177-3AD203B41FA5}">
                      <a16:colId xmlns:a16="http://schemas.microsoft.com/office/drawing/2014/main" val="1559623167"/>
                    </a:ext>
                  </a:extLst>
                </a:gridCol>
                <a:gridCol w="2200795">
                  <a:extLst>
                    <a:ext uri="{9D8B030D-6E8A-4147-A177-3AD203B41FA5}">
                      <a16:colId xmlns:a16="http://schemas.microsoft.com/office/drawing/2014/main" val="3768116152"/>
                    </a:ext>
                  </a:extLst>
                </a:gridCol>
              </a:tblGrid>
              <a:tr h="395505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Big O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Name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Example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Scalability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502941204"/>
                  </a:ext>
                </a:extLst>
              </a:tr>
              <a:tr h="395505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O(1)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Constant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Array lookup arr[i]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Excellent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4028857985"/>
                  </a:ext>
                </a:extLst>
              </a:tr>
              <a:tr h="395505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O(log n)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Logarithmic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Binary Search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Excellent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933890914"/>
                  </a:ext>
                </a:extLst>
              </a:tr>
              <a:tr h="66177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O(n)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Linear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Finding max value in an array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Good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41818524"/>
                  </a:ext>
                </a:extLst>
              </a:tr>
              <a:tr h="395505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O(n log n)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Log-Linear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Merge Sort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Good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309141966"/>
                  </a:ext>
                </a:extLst>
              </a:tr>
              <a:tr h="66177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O(n²)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Quadratic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Bubble Sort, nested loops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Poor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4156701507"/>
                  </a:ext>
                </a:extLst>
              </a:tr>
              <a:tr h="66177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O(2ⁿ)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Exponential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Recursive Fibonacci, Power Set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Awful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666982699"/>
                  </a:ext>
                </a:extLst>
              </a:tr>
              <a:tr h="66177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O(n!)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Factorial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Traveling Salesman (brute force)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Don't even.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914249486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87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Best, Average, and Worst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Sometimes an algorithm's performance depends on the input data itself.</a:t>
            </a:r>
          </a:p>
          <a:p>
            <a:pPr lvl="0" fontAlgn="base"/>
            <a:r>
              <a:rPr lang="en-US" dirty="0"/>
              <a:t>Let's consider searching for an item in an array:</a:t>
            </a:r>
          </a:p>
          <a:p>
            <a:pPr lvl="1" fontAlgn="base"/>
            <a:r>
              <a:rPr lang="en-US" b="1" dirty="0"/>
              <a:t>Best Case:</a:t>
            </a:r>
            <a:r>
              <a:rPr lang="en-US" dirty="0"/>
              <a:t> The item is the very first element. This is </a:t>
            </a:r>
            <a:r>
              <a:rPr lang="en-US" b="1" dirty="0"/>
              <a:t>O(1)</a:t>
            </a:r>
            <a:r>
              <a:rPr lang="en-US" dirty="0"/>
              <a:t>. We use </a:t>
            </a:r>
            <a:r>
              <a:rPr lang="en-US" b="1" dirty="0"/>
              <a:t>Big Omega (Ω)</a:t>
            </a:r>
            <a:r>
              <a:rPr lang="en-US" dirty="0"/>
              <a:t> to denote the best-case lower bound.</a:t>
            </a:r>
          </a:p>
          <a:p>
            <a:pPr lvl="1" fontAlgn="base"/>
            <a:r>
              <a:rPr lang="en-US" b="1" dirty="0"/>
              <a:t>Worst Case:</a:t>
            </a:r>
            <a:r>
              <a:rPr lang="en-US" dirty="0"/>
              <a:t> The item is the very last element, or not in the array at all. We have to check all n elements. This is </a:t>
            </a:r>
            <a:r>
              <a:rPr lang="en-US" b="1" dirty="0"/>
              <a:t>O(n)</a:t>
            </a:r>
            <a:r>
              <a:rPr lang="en-US" dirty="0"/>
              <a:t>. We use </a:t>
            </a:r>
            <a:r>
              <a:rPr lang="en-US" b="1" dirty="0"/>
              <a:t>Big O (O)</a:t>
            </a:r>
            <a:r>
              <a:rPr lang="en-US" dirty="0"/>
              <a:t> for the worst-case upper bound.</a:t>
            </a:r>
          </a:p>
          <a:p>
            <a:pPr lvl="1" fontAlgn="base"/>
            <a:r>
              <a:rPr lang="en-US" b="1" dirty="0"/>
              <a:t>Average Case:</a:t>
            </a:r>
            <a:r>
              <a:rPr lang="en-US" dirty="0"/>
              <a:t> The item is somewhere in the middle. This is also </a:t>
            </a:r>
            <a:r>
              <a:rPr lang="en-US" b="1" dirty="0"/>
              <a:t>O(n)</a:t>
            </a:r>
            <a:r>
              <a:rPr lang="en-US" dirty="0"/>
              <a:t>. We use </a:t>
            </a:r>
            <a:r>
              <a:rPr lang="en-US" b="1" dirty="0"/>
              <a:t>Big Theta (Θ)</a:t>
            </a:r>
            <a:r>
              <a:rPr lang="en-US" dirty="0"/>
              <a:t> to describe the average or tight bound.</a:t>
            </a:r>
          </a:p>
          <a:p>
            <a:pPr lvl="0" fontAlgn="base"/>
            <a:r>
              <a:rPr lang="en-US" b="1" dirty="0"/>
              <a:t>Why do we usually care most about the Worst Case (Big O)?</a:t>
            </a:r>
            <a:endParaRPr lang="en-US" dirty="0"/>
          </a:p>
          <a:p>
            <a:r>
              <a:rPr lang="en-US" dirty="0"/>
              <a:t>It gives us a </a:t>
            </a:r>
            <a:r>
              <a:rPr lang="en-US" b="1" dirty="0"/>
              <a:t>guarantee</a:t>
            </a:r>
            <a:r>
              <a:rPr lang="en-US" dirty="0"/>
              <a:t>. We know our program will never perform worse than our Big O analysis suggests. It's crucial for mission-critical systems.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06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Let's Analyze Some Code!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b="1" dirty="0"/>
              <a:t>What's the Big O of this function?</a:t>
            </a:r>
            <a:endParaRPr lang="en-US" dirty="0"/>
          </a:p>
          <a:p>
            <a:r>
              <a:rPr lang="en-US" dirty="0"/>
              <a:t>void mysteryFunction1(</a:t>
            </a:r>
            <a:r>
              <a:rPr lang="en-US" dirty="0" err="1"/>
              <a:t>int</a:t>
            </a:r>
            <a:r>
              <a:rPr lang="en-US" dirty="0"/>
              <a:t> n)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a = 5;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b = 10;</a:t>
            </a:r>
            <a:br>
              <a:rPr lang="en-US" dirty="0"/>
            </a:br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x = </a:t>
            </a:r>
            <a:r>
              <a:rPr lang="en-US" dirty="0" err="1"/>
              <a:t>i</a:t>
            </a:r>
            <a:r>
              <a:rPr lang="en-US" dirty="0"/>
              <a:t> * 2;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y = x + a;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Answer:</a:t>
            </a:r>
            <a:r>
              <a:rPr lang="en-US" dirty="0"/>
              <a:t> Since the loop runs </a:t>
            </a:r>
            <a:r>
              <a:rPr lang="en-US" b="1" dirty="0"/>
              <a:t>n</a:t>
            </a:r>
            <a:r>
              <a:rPr lang="en-US" dirty="0"/>
              <a:t> times, and the work inside it is a </a:t>
            </a:r>
            <a:r>
              <a:rPr lang="en-US" b="1" dirty="0"/>
              <a:t>constant</a:t>
            </a:r>
            <a:r>
              <a:rPr lang="en-US" dirty="0"/>
              <a:t> amount, the total complexity is </a:t>
            </a:r>
            <a:r>
              <a:rPr lang="en-US" b="1" dirty="0"/>
              <a:t>linear</a:t>
            </a:r>
            <a:r>
              <a:rPr lang="en-US" dirty="0"/>
              <a:t>, or </a:t>
            </a:r>
            <a:r>
              <a:rPr lang="en-US" b="1" dirty="0"/>
              <a:t>O(n)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83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Analysis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b="1" dirty="0"/>
              <a:t>What about this one?</a:t>
            </a:r>
            <a:endParaRPr lang="en-US" dirty="0"/>
          </a:p>
          <a:p>
            <a:r>
              <a:rPr lang="en-US" dirty="0"/>
              <a:t>void mysteryFunction2(</a:t>
            </a:r>
            <a:r>
              <a:rPr lang="en-US" dirty="0" err="1"/>
              <a:t>int</a:t>
            </a:r>
            <a:r>
              <a:rPr lang="en-US" dirty="0"/>
              <a:t> n) {</a:t>
            </a:r>
            <a:br>
              <a:rPr lang="en-US" dirty="0"/>
            </a:br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 += 2)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Answer:</a:t>
            </a:r>
            <a:r>
              <a:rPr lang="en-US" dirty="0"/>
              <a:t> The loop runs n/2 times. We drop the constant (1/2), so the complexity is still O(n).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15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Analysis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b="1" dirty="0"/>
              <a:t>And this one?</a:t>
            </a:r>
            <a:endParaRPr lang="en-US" dirty="0"/>
          </a:p>
          <a:p>
            <a:r>
              <a:rPr lang="en-US" dirty="0"/>
              <a:t>void mysteryFunction3(</a:t>
            </a:r>
            <a:r>
              <a:rPr lang="en-US" dirty="0" err="1"/>
              <a:t>int</a:t>
            </a:r>
            <a:r>
              <a:rPr lang="en-US" dirty="0"/>
              <a:t> n) {</a:t>
            </a:r>
            <a:br>
              <a:rPr lang="en-US" dirty="0"/>
            </a:br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 * 2)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Answer:</a:t>
            </a:r>
            <a:r>
              <a:rPr lang="en-US" dirty="0"/>
              <a:t> Tricky! </a:t>
            </a:r>
            <a:r>
              <a:rPr lang="en-US" dirty="0" err="1"/>
              <a:t>i</a:t>
            </a:r>
            <a:r>
              <a:rPr lang="en-US" dirty="0"/>
              <a:t> goes 1, 2, 4, 8, 16... it doubles each time. This is the hallmark of a logarithmic pattern. The complexity is O(</a:t>
            </a:r>
            <a:r>
              <a:rPr lang="en-US" dirty="0" err="1"/>
              <a:t>logn</a:t>
            </a:r>
            <a:r>
              <a:rPr lang="en-US" dirty="0"/>
              <a:t>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65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We measure algorithm efficiency by </a:t>
            </a:r>
            <a:r>
              <a:rPr lang="en-US" b="1" dirty="0"/>
              <a:t>counting operations</a:t>
            </a:r>
            <a:r>
              <a:rPr lang="en-US" dirty="0"/>
              <a:t> as a function of input size n, not by timing it.</a:t>
            </a:r>
          </a:p>
          <a:p>
            <a:pPr lvl="0" fontAlgn="base"/>
            <a:r>
              <a:rPr lang="en-US" b="1" dirty="0"/>
              <a:t>Asymptotic analysis</a:t>
            </a:r>
            <a:r>
              <a:rPr lang="en-US" dirty="0"/>
              <a:t> focuses on the </a:t>
            </a:r>
            <a:r>
              <a:rPr lang="en-US" b="1" dirty="0"/>
              <a:t>growth rate</a:t>
            </a:r>
            <a:r>
              <a:rPr lang="en-US" dirty="0"/>
              <a:t> for large n.</a:t>
            </a:r>
          </a:p>
          <a:p>
            <a:pPr lvl="0" fontAlgn="base"/>
            <a:r>
              <a:rPr lang="en-US" b="1" dirty="0"/>
              <a:t>Big O notation</a:t>
            </a:r>
            <a:r>
              <a:rPr lang="en-US" dirty="0"/>
              <a:t> gives us a formal language to describe the </a:t>
            </a:r>
            <a:r>
              <a:rPr lang="en-US" b="1" dirty="0"/>
              <a:t>worst-case</a:t>
            </a:r>
            <a:r>
              <a:rPr lang="en-US" dirty="0"/>
              <a:t> performance of an algorithm.</a:t>
            </a:r>
          </a:p>
          <a:p>
            <a:pPr lvl="0" fontAlgn="base"/>
            <a:r>
              <a:rPr lang="en-US" dirty="0"/>
              <a:t>We can analyze code (especially loops) to determine its Big O complexity.</a:t>
            </a:r>
          </a:p>
          <a:p>
            <a:pPr lvl="0" fontAlgn="base"/>
            <a:r>
              <a:rPr lang="en-US" dirty="0"/>
              <a:t>This knowledge is </a:t>
            </a:r>
            <a:r>
              <a:rPr lang="en-US" b="1" dirty="0"/>
              <a:t>essential</a:t>
            </a:r>
            <a:r>
              <a:rPr lang="en-US" dirty="0"/>
              <a:t> for choosing the right data structures and building scalable, high-performance software.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963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143</TotalTime>
  <Words>2736</Words>
  <Application>Microsoft Office PowerPoint</Application>
  <PresentationFormat>Widescreen</PresentationFormat>
  <Paragraphs>265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Retrospect</vt:lpstr>
      <vt:lpstr>Data Structures</vt:lpstr>
      <vt:lpstr>Topics to be covered…</vt:lpstr>
      <vt:lpstr>Recap: ADTs vs. Data Structures</vt:lpstr>
      <vt:lpstr>Why Does Efficiency Matter? </vt:lpstr>
      <vt:lpstr>How Not to Measure Efficiency: The Stopwatch Method</vt:lpstr>
      <vt:lpstr>A Better Way: Count the Operations</vt:lpstr>
      <vt:lpstr>Example: Finding the Maximum Value in an Array</vt:lpstr>
      <vt:lpstr>Asymptotic Analysis &amp; Big O Notation </vt:lpstr>
      <vt:lpstr>Introducing Big O Notation</vt:lpstr>
      <vt:lpstr>The Rules of the Game: Simplifying</vt:lpstr>
      <vt:lpstr>Applying the Rules: An Example</vt:lpstr>
      <vt:lpstr>Visualizing Growth Rates</vt:lpstr>
      <vt:lpstr>Let's Practice!</vt:lpstr>
      <vt:lpstr>The Rogues' Gallery of Common Complexities </vt:lpstr>
      <vt:lpstr>O(1) - Constant Time</vt:lpstr>
      <vt:lpstr>O(n) - Linear Time</vt:lpstr>
      <vt:lpstr>O(n²) - Quadratic Time</vt:lpstr>
      <vt:lpstr>(log n) - Logarithmic Time</vt:lpstr>
      <vt:lpstr>O(n log n) - Log-Linear Time</vt:lpstr>
      <vt:lpstr>O(2ⁿ) - Exponential Time</vt:lpstr>
      <vt:lpstr>Complexity Class Cheat Sheet</vt:lpstr>
      <vt:lpstr>Best, Average, and Worst Case</vt:lpstr>
      <vt:lpstr>Let's Analyze Some Code!</vt:lpstr>
      <vt:lpstr>Code Analysis 2</vt:lpstr>
      <vt:lpstr>Code Analysis 3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Administrator</dc:creator>
  <cp:lastModifiedBy>Mehran Yousaf</cp:lastModifiedBy>
  <cp:revision>15</cp:revision>
  <dcterms:created xsi:type="dcterms:W3CDTF">2025-09-15T09:02:56Z</dcterms:created>
  <dcterms:modified xsi:type="dcterms:W3CDTF">2025-09-22T05:46:26Z</dcterms:modified>
</cp:coreProperties>
</file>